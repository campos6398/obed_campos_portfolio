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7" r:id="rId2"/>
    <p:sldId id="1159" r:id="rId3"/>
    <p:sldId id="259" r:id="rId4"/>
    <p:sldId id="309" r:id="rId5"/>
    <p:sldId id="267" r:id="rId6"/>
    <p:sldId id="289" r:id="rId7"/>
    <p:sldId id="1149" r:id="rId8"/>
    <p:sldId id="280" r:id="rId9"/>
    <p:sldId id="292" r:id="rId10"/>
    <p:sldId id="1147" r:id="rId11"/>
    <p:sldId id="1112" r:id="rId12"/>
    <p:sldId id="303" r:id="rId13"/>
    <p:sldId id="297" r:id="rId14"/>
    <p:sldId id="307" r:id="rId15"/>
    <p:sldId id="298" r:id="rId16"/>
    <p:sldId id="302" r:id="rId17"/>
    <p:sldId id="301" r:id="rId18"/>
    <p:sldId id="304" r:id="rId19"/>
    <p:sldId id="270" r:id="rId20"/>
    <p:sldId id="1162" r:id="rId21"/>
    <p:sldId id="351" r:id="rId22"/>
    <p:sldId id="357" r:id="rId23"/>
    <p:sldId id="344" r:id="rId24"/>
    <p:sldId id="345" r:id="rId25"/>
    <p:sldId id="343" r:id="rId26"/>
    <p:sldId id="356" r:id="rId27"/>
    <p:sldId id="1130" r:id="rId28"/>
    <p:sldId id="275" r:id="rId29"/>
    <p:sldId id="271" r:id="rId30"/>
    <p:sldId id="293" r:id="rId31"/>
    <p:sldId id="295" r:id="rId32"/>
    <p:sldId id="319" r:id="rId33"/>
    <p:sldId id="281" r:id="rId34"/>
    <p:sldId id="317" r:id="rId35"/>
    <p:sldId id="276" r:id="rId36"/>
    <p:sldId id="337" r:id="rId37"/>
    <p:sldId id="1158" r:id="rId38"/>
    <p:sldId id="1153" r:id="rId39"/>
    <p:sldId id="1155" r:id="rId40"/>
    <p:sldId id="1156" r:id="rId41"/>
    <p:sldId id="1161" r:id="rId42"/>
    <p:sldId id="113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0"/>
    <p:restoredTop sz="79053"/>
  </p:normalViewPr>
  <p:slideViewPr>
    <p:cSldViewPr snapToGrid="0">
      <p:cViewPr>
        <p:scale>
          <a:sx n="119" d="100"/>
          <a:sy n="119" d="100"/>
        </p:scale>
        <p:origin x="-1080" y="112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8T22:33:16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8T22:33:16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24575,'11'-5'0,"-2"0"0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8T22:33:1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8191,'0'5'0,"0"-1"0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8T22:33:17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24575,'11'5'0,"-2"0"0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82099-1F5F-2E4C-8A8B-E01071642877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702C5-F54E-E24B-876F-FDECDA905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76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89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78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B01A5-BA6B-4698-93C5-FE68ECE71D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73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42F57-C095-DE34-A99A-E9AB68E5D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8FF8A-C086-DCAD-B0C1-46E66AD75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9ADFF-8FE4-CE64-FE8C-593121BBD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09AA1-B9EA-2FF7-548D-31F587D2A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51770-766C-47AD-985A-08C980E6F4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98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BC76-9533-E8E0-CF37-97F384F1E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78133-C2B3-5B93-FD26-8C9CD73A5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8094B-1CCE-CE36-3877-FF066ACA8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Talk about cells being in the bottom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AEF81-BAF7-456D-3BB4-C884FD7A5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F3214-0B37-4215-A010-35DB3EA0E5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77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8F79D-047F-5633-323B-4FE99EFE3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4D960-485B-2C10-9BD6-52B24595A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B83D8-9B2E-8805-3926-D9BC559C1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26319-B19B-B47C-4109-55529B510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F3214-0B37-4215-A010-35DB3EA0E5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8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5E799-3345-C341-2C8F-EEC191C9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8563B8-ADFD-5D90-6624-4EAB1CFB5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79F6A-EB71-3CB8-A453-2C5C75E87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then dimensionless the problem using these dimensionless variables shown here. </a:t>
            </a:r>
          </a:p>
          <a:p>
            <a:endParaRPr lang="en-US" dirty="0"/>
          </a:p>
          <a:p>
            <a:r>
              <a:rPr lang="en-US" dirty="0"/>
              <a:t>Which lead us to our 2D unsteady lubrication governing </a:t>
            </a:r>
            <a:r>
              <a:rPr lang="en-US" dirty="0" err="1"/>
              <a:t>eqautions</a:t>
            </a:r>
            <a:r>
              <a:rPr lang="en-US" dirty="0"/>
              <a:t>, with the boundary conditions coming from no slip on the top and bottom plates. As well, as our dimensionless wall shear stress</a:t>
            </a:r>
          </a:p>
          <a:p>
            <a:endParaRPr lang="en-US" dirty="0"/>
          </a:p>
          <a:p>
            <a:r>
              <a:rPr lang="en-US" dirty="0"/>
              <a:t>Two important dimensionless parameters arise here, the </a:t>
            </a:r>
            <a:r>
              <a:rPr lang="en-US" dirty="0" err="1"/>
              <a:t>womersely</a:t>
            </a:r>
            <a:r>
              <a:rPr lang="en-US" dirty="0"/>
              <a:t> number M, </a:t>
            </a:r>
            <a:r>
              <a:rPr lang="en-US" dirty="0" err="1"/>
              <a:t>wich</a:t>
            </a:r>
            <a:r>
              <a:rPr lang="en-US" dirty="0"/>
              <a:t> describes the pulsating frequency in relation to the viscous effects and the aspect ratio lambda which I will become relevant later. </a:t>
            </a:r>
          </a:p>
          <a:p>
            <a:endParaRPr lang="en-US" dirty="0"/>
          </a:p>
          <a:p>
            <a:r>
              <a:rPr lang="en-US" dirty="0"/>
              <a:t>Further we only looking at half of the planform of the chamber due to symmetry. </a:t>
            </a:r>
          </a:p>
          <a:p>
            <a:endParaRPr lang="en-US" dirty="0"/>
          </a:p>
          <a:p>
            <a:r>
              <a:rPr lang="en-US" dirty="0"/>
              <a:t>As well, the inlets and outlets are described as point and sink sources that are placed at their respective lengthwise end corners.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A1070-B20D-024A-3675-42E0307E0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F3214-0B37-4215-A010-35DB3EA0E5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70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9C5B1-2027-33AE-0BFB-E8208722E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CBC88-21C0-B96C-E3D9-8FE8BF260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398F9-264C-97DE-1333-2191B6507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F1ED9-E8C6-3ED7-D9AB-0648E6BEA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DCE7-6502-9F46-BD91-5F8B4C6BCD8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52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4A972-39A5-6CD6-6D8E-172B01DB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4289C-0CFC-2663-750A-1B8432CAD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1FEA2-E2D5-F3BD-0983-4FFD17BFE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axis and the plot contents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A68C8-6B4E-6FB9-A3A1-7BDDE87CC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B5077-5549-4E7E-9AB8-6910CEED71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0CB75-5388-AE1B-0850-9ACDD591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2AFB5-D50E-8B5F-B7E9-F8C356CF8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3662D1-84A7-679E-83B5-0629AB978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normalize anomaly showing here for the shear stress metric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6279A-8A35-F01C-D1A8-FFB6A353E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B5077-5549-4E7E-9AB8-6910CEED71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80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scaling here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66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F0F01-D740-A285-E832-66F1C68A4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72B25-6FCF-448E-BDAD-63BDCEC49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FF3FD-9B27-66B0-A82A-247A1011F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100B0-AEC2-B81F-F2AD-1D4B47818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F3214-0B37-4215-A010-35DB3EA0E53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44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it run at least twice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22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this carefully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372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AAF1-96C6-7AC8-6FAD-AFB81088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ACD9B-241D-029F-08A6-BCC5907E7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24C8B-EA57-5F82-803F-61E11C094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Transition, take the pause, introduce how we are missing stretching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1D921-183A-F1EE-F5D2-A7B391737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29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0CE8-7DCD-4148-58EE-0EE1794B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53CF3-BDED-BBFB-931E-3D69D6D26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05E84C-D70B-F4A0-F3B6-7E3CA13D6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469AF-2EF1-F45B-77FF-212892F7C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51770-766C-47AD-985A-08C980E6F43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7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5DF04-9075-8684-F234-B9F9517A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19BAE-8C93-96F6-7EB6-20CC877E7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D6EA6-2F37-B29E-3B1F-A2ABD2C69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EDC7B-6345-883D-4C1D-0D14CE43B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38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Longitudinal flow is unchanged, if it was infinitely long channel they are uncoupled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133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26B0A-69EE-0D74-56B0-4E6B372A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CB4DF-6E18-7AB1-E7FB-720969597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5790E-060C-8BA2-1C71-37B3854A1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61470-4B9A-8832-789B-B3F82B4FE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DB251-1C45-0645-B890-8C2C1C51AEB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02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46DFD-AB25-CF60-2B15-194FCC851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CD2E6-C6B9-D201-DF48-D88946428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730C8-0E15-705C-AC60-9A38FA852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9C8D3-68D6-C3D5-22E3-C098D6E46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542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D6A7B-E523-959E-4349-BAC58F8D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8A88C-D5FE-0975-B13D-8E3BC57D9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825EB-EAC0-C8C6-3F94-02AEEF6C5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27259-B435-F080-F679-4DEB406F8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579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C8898-4C74-3424-D42A-362D75DF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FD582-3012-2705-40BE-96E6FC543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AF8DE-BFF7-10C0-0FF8-3F540859C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summary of the results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DC534-D96C-1317-789D-DA95CB451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DB251-1C45-0645-B890-8C2C1C51AEB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281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Shock Absorber that protects brain tissue.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Regulates distribution of substances, removes metabolic waste, and maintains Intracranial Pressure (ICP).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9E9AB0-1B85-D846-BC19-83B2A51EE1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0250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957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77A19-73E3-40EC-B877-81AC3B54FD8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102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Diffusivity is so small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1C395-0A1A-CC4D-A4EB-AD1BBC5CA75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401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to develop methodology,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77A19-73E3-40EC-B877-81AC3B54FD8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022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theory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1C395-0A1A-CC4D-A4EB-AD1BBC5CA75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814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77A19-73E3-40EC-B877-81AC3B54FD8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518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 gives us mean </a:t>
            </a:r>
            <a:r>
              <a:rPr lang="en-US" dirty="0" err="1"/>
              <a:t>eulerian</a:t>
            </a:r>
            <a:r>
              <a:rPr lang="en-US" dirty="0"/>
              <a:t> velocity </a:t>
            </a:r>
          </a:p>
          <a:p>
            <a:endParaRPr lang="en-US" dirty="0"/>
          </a:p>
          <a:p>
            <a:r>
              <a:rPr lang="en-US" dirty="0"/>
              <a:t>Spatial and temporal accuracy is not enough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77A19-73E3-40EC-B877-81AC3B54FD8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589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would wait longer,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5809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33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circle to highlight the discrepancies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048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742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702C5-F54E-E24B-876F-FDECDA9050E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78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329D5-A2D2-D17C-81BE-25E075DD1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87EEF-72F1-ECE9-9991-C25033BAF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55C27-5FE8-4411-97EE-E7F388864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FDF43-658F-1F4C-BDF8-65F58FF44280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76749-A7A0-0B34-C941-3F7F7E6B7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E4D38-6376-90C8-E00D-1F25E9CCA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1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251A-9981-F14F-EF1F-A28E033A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74BDE-6910-1512-E9AF-7D72ADD7A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94C07-CF68-85A7-2D15-84379ED7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C179-067A-7F47-ABF5-53DF8C8FC6A3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67D07-B3AA-39DE-CA3D-BD0F5ED8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4AC5B-6888-5C7A-1D99-F0CCF3FB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3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29A56-0B62-054D-ED99-A526398A8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D02D3-34E8-1CCB-8FFE-297CDAEB8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1769D-CBDE-DF02-5828-B0FA22204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B178-15A9-F748-966C-F330B8C18DAE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A3749-BF65-0D18-A5C3-B67A69D05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194A1-2F99-BD27-5C7A-DFEAEA255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46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7701-5B2C-48F4-0306-E5103A3B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B037E-6E3A-B01F-5C5E-BEBF68EDA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216F3-9C6B-8D4F-48D5-023F3C1E5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87E10-356D-E2AE-ECE9-4F936D7B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01E8-521C-ED4F-ACDB-7BE8653520DE}" type="datetime1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826EC-DAAF-3E3C-F320-213D6DBA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52B42-D7EE-2F95-D550-3225C812D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8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D81C-64A4-796A-4640-C5E23D1B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8FC01-9422-D626-56A5-E16606B85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17B782-28FD-EFBD-332A-EF97561CD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574205-9FBA-9C3F-999D-1CBD286DC2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E5F11-4907-D03C-697B-A88C49C17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868D6-B7AF-3D5D-92CE-35AE5429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1EF8-C6FA-8A47-A4B0-210730F4FA73}" type="datetime1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AD3AE7-CC48-C35F-ACAB-FD8AC4E3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0BEEF-916F-17BB-F560-0590DE96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3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A9E4A-FA95-FA94-817B-6BDB086C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80CD3-28DD-AAB3-0DFF-023AD71A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7F020-5434-A047-886F-334D8E8412D1}" type="datetime1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AADF0-4F7A-06A8-B3C4-961A65E7C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7A8C21-EDC9-C688-9AB8-F640CC1F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0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FCCDA-BA27-244E-1D0E-4E7DFBC33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2D69-3CE3-2E47-B214-D3B94E85FB66}" type="datetime1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390D71-2CF3-8347-2632-F97A8F39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A0115-09D6-B7EF-7D71-6EE2E2D4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42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F31A4-0EF3-71CA-9149-C084A943F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6CDF8-F678-21D9-CB4D-43A5EE9D0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A5685-9B5F-525B-AA82-81862EB88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771B5-2DE8-CFF5-98CD-46E3D6DB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38483-4ED7-AD4A-AB4C-002A1764E4B9}" type="datetime1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D311D-FECD-B5A4-5C6C-3BAB3194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784DD-1F23-AF8E-5B34-3F61FF9F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8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1587-E1C9-4820-D602-DBF268CBF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F19B5-BDF9-AF14-5500-95E92D24F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A0036-D207-BBED-B5DB-6DF6486B9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6D03B-13A4-764E-6AC7-A10450391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8714-EEB3-4C45-A887-4E3F034DEFD5}" type="datetime1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6BE15-0178-F64E-192F-E480DD99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BFB9A-21FF-72E0-A859-F73B3A0F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32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C932-671F-0291-CB69-471124D2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2FB47-253F-531B-6810-A16DBA665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888E5-FB18-BBEB-2990-F044B289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5970-4897-A741-A254-53DABB9707C2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0C466-76A3-8C3F-90C5-F51CB4F4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1356A-D8AA-9155-9867-FFBE7913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B8423-CE5C-5308-5BF9-0CE9C037F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DFE87-8472-9BFB-A6E1-6DD17844C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94C2F-B790-917D-C0ED-BB268B8B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5E4C-B84C-F64E-A4E4-214227967BDF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F5F7F-D5AD-7EE7-9C38-47636FB5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2D49B-1755-8A8C-FF6F-6CD2D14A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6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2E1D86-C43A-7DE2-BAC5-2014523E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CB08D-23BC-7EAD-E78D-E7B73210A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C799E-6E59-FB6D-2512-64D701576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EB555-3882-BB4C-BB5B-4D7FD854D86F}" type="datetime1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9FCD3-5625-4B8A-3541-2BD9D15B3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C3ED1-C568-9AC1-E74E-99D08A5C6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33A77-1BF1-3447-88D4-D53BC97B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1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2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10" Type="http://schemas.openxmlformats.org/officeDocument/2006/relationships/image" Target="../media/image1.png"/><Relationship Id="rId9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1.png"/><Relationship Id="rId11" Type="http://schemas.openxmlformats.org/officeDocument/2006/relationships/image" Target="../media/image26.png"/><Relationship Id="rId5" Type="http://schemas.openxmlformats.org/officeDocument/2006/relationships/image" Target="../media/image141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30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18" Type="http://schemas.openxmlformats.org/officeDocument/2006/relationships/image" Target="../media/image31.png"/><Relationship Id="rId8" Type="http://schemas.openxmlformats.org/officeDocument/2006/relationships/image" Target="../media/image300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8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33.png"/><Relationship Id="rId15" Type="http://schemas.openxmlformats.org/officeDocument/2006/relationships/image" Target="../media/image37.png"/><Relationship Id="rId23" Type="http://schemas.openxmlformats.org/officeDocument/2006/relationships/image" Target="../media/image43.png"/><Relationship Id="rId19" Type="http://schemas.openxmlformats.org/officeDocument/2006/relationships/image" Target="../media/image32.png"/><Relationship Id="rId10" Type="http://schemas.openxmlformats.org/officeDocument/2006/relationships/image" Target="../media/image320.png"/><Relationship Id="rId14" Type="http://schemas.openxmlformats.org/officeDocument/2006/relationships/image" Target="../media/image36.png"/><Relationship Id="rId4" Type="http://schemas.openxmlformats.org/officeDocument/2006/relationships/image" Target="../media/image260.png"/><Relationship Id="rId9" Type="http://schemas.openxmlformats.org/officeDocument/2006/relationships/image" Target="../media/image310.png"/><Relationship Id="rId22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ideo" Target="NUL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customXml" Target="../ink/ink2.xml"/><Relationship Id="rId10" Type="http://schemas.openxmlformats.org/officeDocument/2006/relationships/image" Target="../media/image59.png"/><Relationship Id="rId4" Type="http://schemas.openxmlformats.org/officeDocument/2006/relationships/image" Target="../media/image56.png"/><Relationship Id="rId9" Type="http://schemas.openxmlformats.org/officeDocument/2006/relationships/customXml" Target="../ink/ink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ideo" Target="NUL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video" Target="NUL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0.PNG"/><Relationship Id="rId1" Type="http://schemas.openxmlformats.org/officeDocument/2006/relationships/video" Target="NULL"/><Relationship Id="rId24" Type="http://schemas.openxmlformats.org/officeDocument/2006/relationships/image" Target="../media/image261.png"/><Relationship Id="rId23" Type="http://schemas.openxmlformats.org/officeDocument/2006/relationships/image" Target="../media/image250.png"/><Relationship Id="rId14" Type="http://schemas.openxmlformats.org/officeDocument/2006/relationships/image" Target="../media/image160.png"/><Relationship Id="rId22" Type="http://schemas.openxmlformats.org/officeDocument/2006/relationships/image" Target="../media/image241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0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301.png"/><Relationship Id="rId14" Type="http://schemas.openxmlformats.org/officeDocument/2006/relationships/image" Target="../media/image291.png"/></Relationships>
</file>

<file path=ppt/slides/_rels/slide3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30.png"/><Relationship Id="rId26" Type="http://schemas.openxmlformats.org/officeDocument/2006/relationships/image" Target="../media/image460.png"/><Relationship Id="rId3" Type="http://schemas.openxmlformats.org/officeDocument/2006/relationships/notesSlide" Target="../notesSlides/notesSlide28.xml"/><Relationship Id="rId17" Type="http://schemas.openxmlformats.org/officeDocument/2006/relationships/image" Target="../media/image420.png"/><Relationship Id="rId25" Type="http://schemas.openxmlformats.org/officeDocument/2006/relationships/image" Target="../media/image49.png"/><Relationship Id="rId12" Type="http://schemas.openxmlformats.org/officeDocument/2006/relationships/image" Target="../media/image37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10.PNG"/><Relationship Id="rId29" Type="http://schemas.openxmlformats.org/officeDocument/2006/relationships/image" Target="../media/image350.png"/><Relationship Id="rId1" Type="http://schemas.openxmlformats.org/officeDocument/2006/relationships/video" Target="NULL"/><Relationship Id="rId24" Type="http://schemas.openxmlformats.org/officeDocument/2006/relationships/image" Target="../media/image450.PNG"/><Relationship Id="rId23" Type="http://schemas.openxmlformats.org/officeDocument/2006/relationships/image" Target="../media/image400.png"/><Relationship Id="rId28" Type="http://schemas.openxmlformats.org/officeDocument/2006/relationships/image" Target="../media/image330.PNG"/><Relationship Id="rId19" Type="http://schemas.openxmlformats.org/officeDocument/2006/relationships/image" Target="../media/image440.png"/><Relationship Id="rId31" Type="http://schemas.openxmlformats.org/officeDocument/2006/relationships/image" Target="../media/image480.png"/><Relationship Id="rId9" Type="http://schemas.openxmlformats.org/officeDocument/2006/relationships/image" Target="../media/image351.png"/><Relationship Id="rId27" Type="http://schemas.openxmlformats.org/officeDocument/2006/relationships/image" Target="../media/image470.png"/><Relationship Id="rId30" Type="http://schemas.openxmlformats.org/officeDocument/2006/relationships/image" Target="../media/image36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0.png"/><Relationship Id="rId5" Type="http://schemas.openxmlformats.org/officeDocument/2006/relationships/image" Target="../media/image9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ideo" Target="NUL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5D9A621-CB8A-D77D-4F1E-4C6D7A747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856" y="622030"/>
            <a:ext cx="11132288" cy="206401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 Antiqua" panose="02040602050305030304" pitchFamily="18" charset="0"/>
              </a:rPr>
              <a:t>Theoretical Modeling and Experimental Validation of Physiologically Relevant Flows and Their Applications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543633A-9E9A-153B-94B9-9B05A1555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66940"/>
            <a:ext cx="9144000" cy="3273196"/>
          </a:xfrm>
        </p:spPr>
        <p:txBody>
          <a:bodyPr>
            <a:normAutofit/>
          </a:bodyPr>
          <a:lstStyle/>
          <a:p>
            <a:pPr algn="l"/>
            <a:r>
              <a:rPr lang="en-US" sz="1400" b="1" dirty="0">
                <a:latin typeface="Book Antiqua" panose="02040602050305030304" pitchFamily="18" charset="0"/>
                <a:ea typeface="Roboto" panose="02000000000000000000" pitchFamily="2" charset="0"/>
              </a:rPr>
              <a:t>Committee Members:</a:t>
            </a:r>
          </a:p>
          <a:p>
            <a:pPr algn="l"/>
            <a:r>
              <a:rPr lang="en-US" sz="1400" dirty="0">
                <a:latin typeface="Book Antiqua" panose="02040602050305030304" pitchFamily="18" charset="0"/>
                <a:ea typeface="Roboto" panose="02000000000000000000" pitchFamily="2" charset="0"/>
              </a:rPr>
              <a:t>Eugene R. Pawlak, Mechanical and Aerospace Engineering, co-chair</a:t>
            </a:r>
          </a:p>
          <a:p>
            <a:pPr algn="l"/>
            <a:r>
              <a:rPr lang="en-US" sz="1400" dirty="0">
                <a:latin typeface="Book Antiqua" panose="02040602050305030304" pitchFamily="18" charset="0"/>
                <a:ea typeface="Roboto" panose="02000000000000000000" pitchFamily="2" charset="0"/>
              </a:rPr>
              <a:t>Antonio L. Sánchez, Mechanical and Aerospace Engineering, co-chair</a:t>
            </a:r>
          </a:p>
          <a:p>
            <a:pPr algn="l"/>
            <a:r>
              <a:rPr lang="en-US" sz="1400" dirty="0">
                <a:latin typeface="Book Antiqua" panose="02040602050305030304" pitchFamily="18" charset="0"/>
                <a:ea typeface="Roboto" panose="02000000000000000000" pitchFamily="2" charset="0"/>
              </a:rPr>
              <a:t>Stephanie Lindsey, Mechanical and Aerospace Engineering</a:t>
            </a:r>
          </a:p>
          <a:p>
            <a:pPr algn="l"/>
            <a:r>
              <a:rPr lang="en-US" sz="1400" dirty="0">
                <a:latin typeface="Book Antiqua" panose="02040602050305030304" pitchFamily="18" charset="0"/>
                <a:ea typeface="Roboto" panose="02000000000000000000" pitchFamily="2" charset="0"/>
              </a:rPr>
              <a:t>Mitsue Miyazaki, Radiology</a:t>
            </a:r>
          </a:p>
          <a:p>
            <a:pPr algn="l"/>
            <a:r>
              <a:rPr lang="en-US" sz="1400" dirty="0">
                <a:latin typeface="Book Antiqua" panose="02040602050305030304" pitchFamily="18" charset="0"/>
                <a:ea typeface="Roboto" panose="02000000000000000000" pitchFamily="2" charset="0"/>
              </a:rPr>
              <a:t>David </a:t>
            </a:r>
            <a:r>
              <a:rPr lang="en-US" sz="1400" dirty="0" err="1">
                <a:latin typeface="Book Antiqua" panose="02040602050305030304" pitchFamily="18" charset="0"/>
                <a:ea typeface="Roboto" panose="02000000000000000000" pitchFamily="2" charset="0"/>
              </a:rPr>
              <a:t>Saintillian</a:t>
            </a:r>
            <a:r>
              <a:rPr lang="en-US" sz="1400" dirty="0">
                <a:latin typeface="Book Antiqua" panose="02040602050305030304" pitchFamily="18" charset="0"/>
                <a:ea typeface="Roboto" panose="02000000000000000000" pitchFamily="2" charset="0"/>
              </a:rPr>
              <a:t>, Mechanical and Aerospace Engineering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7B79505-10D8-364F-8D04-19ACA6656A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341" y="5816010"/>
            <a:ext cx="3052543" cy="9115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173488-D634-8D59-888D-BB2139B1E4AE}"/>
              </a:ext>
            </a:extLst>
          </p:cNvPr>
          <p:cNvSpPr txBox="1"/>
          <p:nvPr/>
        </p:nvSpPr>
        <p:spPr>
          <a:xfrm>
            <a:off x="3408482" y="3001848"/>
            <a:ext cx="61296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ook Antiqua" panose="02040602050305030304" pitchFamily="18" charset="0"/>
                <a:ea typeface="Roboto" panose="02000000000000000000" pitchFamily="2" charset="0"/>
              </a:rPr>
              <a:t>By </a:t>
            </a:r>
            <a:r>
              <a:rPr lang="en-US" sz="2800" b="1" dirty="0">
                <a:latin typeface="Book Antiqua" panose="02040602050305030304" pitchFamily="18" charset="0"/>
                <a:ea typeface="Roboto" panose="02000000000000000000" pitchFamily="2" charset="0"/>
              </a:rPr>
              <a:t>Obed Armando Campos</a:t>
            </a:r>
          </a:p>
          <a:p>
            <a:endParaRPr lang="en-US" dirty="0"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832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59217-6928-8D64-C282-5623AAE7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2B4D6-97CF-46E9-CBC4-CD9CD2395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877"/>
            <a:ext cx="10515600" cy="542740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Introduction </a:t>
            </a:r>
            <a:br>
              <a:rPr lang="en-US" dirty="0">
                <a:latin typeface="Book Antiqua" panose="02040602050305030304" pitchFamily="18" charset="0"/>
              </a:rPr>
            </a:br>
            <a:endParaRPr lang="en-US" dirty="0">
              <a:latin typeface="Book Antiqua" panose="02040602050305030304" pitchFamily="18" charset="0"/>
            </a:endParaRPr>
          </a:p>
          <a:p>
            <a:r>
              <a:rPr lang="en-US" b="1" dirty="0">
                <a:latin typeface="Book Antiqua" panose="02040602050305030304" pitchFamily="18" charset="0"/>
              </a:rPr>
              <a:t>Part 1: </a:t>
            </a:r>
            <a:r>
              <a:rPr lang="en-US" dirty="0">
                <a:latin typeface="Book Antiqua" panose="02040602050305030304" pitchFamily="18" charset="0"/>
              </a:rPr>
              <a:t>Engineering Physiologically Relevant Flow Environments for Pulmonary Arterial Endothelial Studies</a:t>
            </a:r>
            <a:br>
              <a:rPr lang="en-US" dirty="0">
                <a:latin typeface="Book Antiqua" panose="02040602050305030304" pitchFamily="18" charset="0"/>
              </a:rPr>
            </a:br>
            <a:endParaRPr lang="en-US" dirty="0">
              <a:latin typeface="Book Antiqua" panose="02040602050305030304" pitchFamily="18" charset="0"/>
            </a:endParaRPr>
          </a:p>
          <a:p>
            <a:pPr lvl="1"/>
            <a:r>
              <a:rPr lang="en-US" b="1" dirty="0">
                <a:latin typeface="Book Antiqua" panose="02040602050305030304" pitchFamily="18" charset="0"/>
              </a:rPr>
              <a:t>Chapter 1:  </a:t>
            </a:r>
            <a:r>
              <a:rPr lang="en-US" dirty="0">
                <a:latin typeface="Book Antiqua" panose="02040602050305030304" pitchFamily="18" charset="0"/>
              </a:rPr>
              <a:t>A Multi-Chamber Pulsating-Flow Device with Optimized Spatial Shear Stress and Pressure for Endothelial-Cell Testing</a:t>
            </a:r>
          </a:p>
          <a:p>
            <a:pPr lvl="1"/>
            <a:endParaRPr lang="en-US" dirty="0">
              <a:latin typeface="Book Antiqua" panose="02040602050305030304" pitchFamily="18" charset="0"/>
            </a:endParaRPr>
          </a:p>
          <a:p>
            <a:pPr lvl="1"/>
            <a:r>
              <a:rPr lang="en-US" b="1" dirty="0">
                <a:latin typeface="Book Antiqua" panose="02040602050305030304" pitchFamily="18" charset="0"/>
              </a:rPr>
              <a:t>Chapter 2: </a:t>
            </a:r>
            <a:r>
              <a:rPr lang="en-US" dirty="0">
                <a:latin typeface="Book Antiqua" panose="02040602050305030304" pitchFamily="18" charset="0"/>
              </a:rPr>
              <a:t>Poiseuille Flow with a Stretching Bottom Wall </a:t>
            </a:r>
            <a:br>
              <a:rPr lang="en-US" dirty="0">
                <a:latin typeface="Book Antiqua" panose="02040602050305030304" pitchFamily="18" charset="0"/>
              </a:rPr>
            </a:br>
            <a:endParaRPr lang="en-US" dirty="0">
              <a:latin typeface="Book Antiqua" panose="02040602050305030304" pitchFamily="18" charset="0"/>
            </a:endParaRPr>
          </a:p>
          <a:p>
            <a:r>
              <a:rPr lang="en-US" b="1" dirty="0">
                <a:latin typeface="Book Antiqua" panose="02040602050305030304" pitchFamily="18" charset="0"/>
              </a:rPr>
              <a:t>Part 2: </a:t>
            </a:r>
            <a:r>
              <a:rPr lang="en-US" dirty="0">
                <a:latin typeface="Book Antiqua" panose="02040602050305030304" pitchFamily="18" charset="0"/>
              </a:rPr>
              <a:t>Cerebrospinal Fluid (CSF) Transport and Noninvasive Flow Quantification </a:t>
            </a:r>
            <a:br>
              <a:rPr lang="en-US" dirty="0">
                <a:latin typeface="Book Antiqua" panose="02040602050305030304" pitchFamily="18" charset="0"/>
              </a:rPr>
            </a:br>
            <a:endParaRPr lang="en-US" dirty="0">
              <a:latin typeface="Book Antiqua" panose="02040602050305030304" pitchFamily="18" charset="0"/>
            </a:endParaRPr>
          </a:p>
          <a:p>
            <a:pPr lvl="1"/>
            <a:r>
              <a:rPr lang="en-US" b="1" dirty="0">
                <a:latin typeface="Book Antiqua" panose="02040602050305030304" pitchFamily="18" charset="0"/>
              </a:rPr>
              <a:t>Chapter 3: </a:t>
            </a:r>
            <a:r>
              <a:rPr lang="en-US" dirty="0">
                <a:latin typeface="Book Antiqua" panose="02040602050305030304" pitchFamily="18" charset="0"/>
              </a:rPr>
              <a:t>Phantom Based Evaluation of Time-SLIP MRI for Measuring Spinal-Canal </a:t>
            </a:r>
            <a:r>
              <a:rPr lang="en-US" dirty="0" err="1">
                <a:latin typeface="Book Antiqua" panose="02040602050305030304" pitchFamily="18" charset="0"/>
              </a:rPr>
              <a:t>Lagrangian</a:t>
            </a:r>
            <a:r>
              <a:rPr lang="en-US" dirty="0">
                <a:latin typeface="Book Antiqua" panose="02040602050305030304" pitchFamily="18" charset="0"/>
              </a:rPr>
              <a:t> Drift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B4A1BC-74F4-BF92-46CD-90E9472B9096}"/>
              </a:ext>
            </a:extLst>
          </p:cNvPr>
          <p:cNvSpPr txBox="1"/>
          <p:nvPr/>
        </p:nvSpPr>
        <p:spPr>
          <a:xfrm>
            <a:off x="11558493" y="652833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1/40</a:t>
            </a:r>
          </a:p>
        </p:txBody>
      </p:sp>
    </p:spTree>
    <p:extLst>
      <p:ext uri="{BB962C8B-B14F-4D97-AF65-F5344CB8AC3E}">
        <p14:creationId xmlns:p14="http://schemas.microsoft.com/office/powerpoint/2010/main" val="53945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FFF943E-BEE5-C1C8-8584-84E60A7B3D0E}"/>
              </a:ext>
            </a:extLst>
          </p:cNvPr>
          <p:cNvGrpSpPr/>
          <p:nvPr/>
        </p:nvGrpSpPr>
        <p:grpSpPr>
          <a:xfrm>
            <a:off x="7785871" y="1074280"/>
            <a:ext cx="2314575" cy="5486400"/>
            <a:chOff x="7614577" y="822960"/>
            <a:chExt cx="2314575" cy="548640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09E510D-7441-FF9D-7FF9-D88144D16D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4577" y="822960"/>
              <a:ext cx="2314575" cy="548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EB3DE3B-65B4-5A0F-5978-221BFC0A0BF5}"/>
                </a:ext>
              </a:extLst>
            </p:cNvPr>
            <p:cNvSpPr/>
            <p:nvPr/>
          </p:nvSpPr>
          <p:spPr>
            <a:xfrm>
              <a:off x="8230233" y="3428999"/>
              <a:ext cx="157034" cy="1073183"/>
            </a:xfrm>
            <a:prstGeom prst="rect">
              <a:avLst/>
            </a:prstGeom>
            <a:solidFill>
              <a:srgbClr val="EFDFD8"/>
            </a:solidFill>
            <a:ln>
              <a:solidFill>
                <a:srgbClr val="EFDF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8FCA1B-165D-ECCB-99C7-DFCBDF2FC143}"/>
                </a:ext>
              </a:extLst>
            </p:cNvPr>
            <p:cNvSpPr/>
            <p:nvPr/>
          </p:nvSpPr>
          <p:spPr>
            <a:xfrm>
              <a:off x="7983015" y="3471294"/>
              <a:ext cx="486187" cy="820270"/>
            </a:xfrm>
            <a:prstGeom prst="rect">
              <a:avLst/>
            </a:prstGeom>
            <a:solidFill>
              <a:srgbClr val="EFDFD8"/>
            </a:solidFill>
            <a:ln>
              <a:solidFill>
                <a:srgbClr val="EFDF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59E17F-3170-9511-7998-EA471D03D52B}"/>
                </a:ext>
              </a:extLst>
            </p:cNvPr>
            <p:cNvSpPr/>
            <p:nvPr/>
          </p:nvSpPr>
          <p:spPr>
            <a:xfrm>
              <a:off x="8188247" y="3225149"/>
              <a:ext cx="382693" cy="820270"/>
            </a:xfrm>
            <a:prstGeom prst="rect">
              <a:avLst/>
            </a:prstGeom>
            <a:solidFill>
              <a:srgbClr val="EFDFD8"/>
            </a:solidFill>
            <a:ln>
              <a:solidFill>
                <a:srgbClr val="EFDF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CAE62EF5-761A-577B-79E1-BAD5F459729A}"/>
              </a:ext>
            </a:extLst>
          </p:cNvPr>
          <p:cNvGrpSpPr/>
          <p:nvPr/>
        </p:nvGrpSpPr>
        <p:grpSpPr>
          <a:xfrm>
            <a:off x="6705343" y="349598"/>
            <a:ext cx="4864615" cy="1972261"/>
            <a:chOff x="6705343" y="349598"/>
            <a:chExt cx="4864615" cy="197226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532AB87-F238-B537-7866-B784C69F902F}"/>
                </a:ext>
              </a:extLst>
            </p:cNvPr>
            <p:cNvSpPr/>
            <p:nvPr/>
          </p:nvSpPr>
          <p:spPr>
            <a:xfrm>
              <a:off x="6705343" y="349598"/>
              <a:ext cx="4864615" cy="6436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Cerebrospinal Fluid Flow in the Spinal Canal</a:t>
              </a:r>
            </a:p>
          </p:txBody>
        </p:sp>
        <p:cxnSp>
          <p:nvCxnSpPr>
            <p:cNvPr id="1028" name="Straight Arrow Connector 1027">
              <a:extLst>
                <a:ext uri="{FF2B5EF4-FFF2-40B4-BE49-F238E27FC236}">
                  <a16:creationId xmlns:a16="http://schemas.microsoft.com/office/drawing/2014/main" id="{DE8126D0-67DC-1A4B-CA93-A8F0F235E7B3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8742234" y="993264"/>
              <a:ext cx="395417" cy="1328595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2C746C24-29A2-CE57-51C3-9A240AFCF098}"/>
              </a:ext>
            </a:extLst>
          </p:cNvPr>
          <p:cNvGrpSpPr/>
          <p:nvPr/>
        </p:nvGrpSpPr>
        <p:grpSpPr>
          <a:xfrm>
            <a:off x="725167" y="367329"/>
            <a:ext cx="8017067" cy="6288369"/>
            <a:chOff x="725167" y="367329"/>
            <a:chExt cx="8017067" cy="6288369"/>
          </a:xfrm>
        </p:grpSpPr>
        <p:grpSp>
          <p:nvGrpSpPr>
            <p:cNvPr id="1042" name="Group 1041">
              <a:extLst>
                <a:ext uri="{FF2B5EF4-FFF2-40B4-BE49-F238E27FC236}">
                  <a16:creationId xmlns:a16="http://schemas.microsoft.com/office/drawing/2014/main" id="{A12E2219-6CD9-FF22-1065-46F072A95701}"/>
                </a:ext>
              </a:extLst>
            </p:cNvPr>
            <p:cNvGrpSpPr/>
            <p:nvPr/>
          </p:nvGrpSpPr>
          <p:grpSpPr>
            <a:xfrm>
              <a:off x="725167" y="367329"/>
              <a:ext cx="8017067" cy="6288369"/>
              <a:chOff x="725167" y="367329"/>
              <a:chExt cx="8017067" cy="6288369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D4B259-6EDC-A81C-0156-33B666B612F5}"/>
                  </a:ext>
                </a:extLst>
              </p:cNvPr>
              <p:cNvSpPr/>
              <p:nvPr/>
            </p:nvSpPr>
            <p:spPr>
              <a:xfrm>
                <a:off x="725167" y="367329"/>
                <a:ext cx="5451565" cy="8184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Book Antiqua" panose="02040602050305030304" pitchFamily="18" charset="0"/>
                  </a:rPr>
                  <a:t>Blood Flow in Main Pulmonary Artery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27" name="Group 1026">
                <a:extLst>
                  <a:ext uri="{FF2B5EF4-FFF2-40B4-BE49-F238E27FC236}">
                    <a16:creationId xmlns:a16="http://schemas.microsoft.com/office/drawing/2014/main" id="{20A0BF70-2AAA-9D11-8EAA-D93AE7C036DA}"/>
                  </a:ext>
                </a:extLst>
              </p:cNvPr>
              <p:cNvGrpSpPr/>
              <p:nvPr/>
            </p:nvGrpSpPr>
            <p:grpSpPr>
              <a:xfrm>
                <a:off x="1590163" y="1778281"/>
                <a:ext cx="7152071" cy="4877417"/>
                <a:chOff x="1619794" y="1445867"/>
                <a:chExt cx="7152071" cy="4877417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060AC9E-65D2-2303-5C26-31C2DA603362}"/>
                    </a:ext>
                  </a:extLst>
                </p:cNvPr>
                <p:cNvSpPr txBox="1"/>
                <p:nvPr/>
              </p:nvSpPr>
              <p:spPr>
                <a:xfrm>
                  <a:off x="3480581" y="5953952"/>
                  <a:ext cx="12089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openart.ai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10506D99-8BC9-03A9-8678-CE1830558CFD}"/>
                    </a:ext>
                  </a:extLst>
                </p:cNvPr>
                <p:cNvSpPr/>
                <p:nvPr/>
              </p:nvSpPr>
              <p:spPr>
                <a:xfrm>
                  <a:off x="8126166" y="3429000"/>
                  <a:ext cx="645699" cy="692331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F54A316D-7990-13A2-5189-B635480463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78" r="17206"/>
                <a:stretch/>
              </p:blipFill>
              <p:spPr>
                <a:xfrm>
                  <a:off x="1619794" y="1445867"/>
                  <a:ext cx="3069772" cy="4553494"/>
                </a:xfrm>
                <a:prstGeom prst="rect">
                  <a:avLst/>
                </a:prstGeom>
              </p:spPr>
            </p:pic>
            <p:sp>
              <p:nvSpPr>
                <p:cNvPr id="31" name="Right Brace 30">
                  <a:extLst>
                    <a:ext uri="{FF2B5EF4-FFF2-40B4-BE49-F238E27FC236}">
                      <a16:creationId xmlns:a16="http://schemas.microsoft.com/office/drawing/2014/main" id="{91511C9D-EAC4-8F90-D840-8D552A9F3874}"/>
                    </a:ext>
                  </a:extLst>
                </p:cNvPr>
                <p:cNvSpPr/>
                <p:nvPr/>
              </p:nvSpPr>
              <p:spPr>
                <a:xfrm>
                  <a:off x="4962796" y="1571351"/>
                  <a:ext cx="622957" cy="4340679"/>
                </a:xfrm>
                <a:prstGeom prst="rightBrac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24" name="Straight Connector 1023">
                  <a:extLst>
                    <a:ext uri="{FF2B5EF4-FFF2-40B4-BE49-F238E27FC236}">
                      <a16:creationId xmlns:a16="http://schemas.microsoft.com/office/drawing/2014/main" id="{CA87D681-82AD-0486-4459-6B5C0DBF2839}"/>
                    </a:ext>
                  </a:extLst>
                </p:cNvPr>
                <p:cNvCxnSpPr>
                  <a:cxnSpLocks/>
                  <a:endCxn id="31" idx="1"/>
                </p:cNvCxnSpPr>
                <p:nvPr/>
              </p:nvCxnSpPr>
              <p:spPr>
                <a:xfrm flipH="1" flipV="1">
                  <a:off x="5585753" y="3741691"/>
                  <a:ext cx="2542379" cy="337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25" name="Picture 1024">
                  <a:extLst>
                    <a:ext uri="{FF2B5EF4-FFF2-40B4-BE49-F238E27FC236}">
                      <a16:creationId xmlns:a16="http://schemas.microsoft.com/office/drawing/2014/main" id="{4A523758-5623-5B0C-7AAC-EBCEB248A0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78" r="17206"/>
                <a:stretch/>
              </p:blipFill>
              <p:spPr>
                <a:xfrm>
                  <a:off x="8230232" y="3474990"/>
                  <a:ext cx="404729" cy="600349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A40B41B1-79F3-E155-3006-653F13B9A1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7206" y="1185770"/>
              <a:ext cx="195686" cy="2344519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8089BB-E229-D7AC-71EB-A5C6EEB8CC58}"/>
              </a:ext>
            </a:extLst>
          </p:cNvPr>
          <p:cNvSpPr txBox="1"/>
          <p:nvPr/>
        </p:nvSpPr>
        <p:spPr>
          <a:xfrm>
            <a:off x="11558493" y="652833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2/40</a:t>
            </a:r>
          </a:p>
        </p:txBody>
      </p:sp>
    </p:spTree>
    <p:extLst>
      <p:ext uri="{BB962C8B-B14F-4D97-AF65-F5344CB8AC3E}">
        <p14:creationId xmlns:p14="http://schemas.microsoft.com/office/powerpoint/2010/main" val="305654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ABD82-7603-DF32-F447-8E3F3F7C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5742392-F88C-8293-91AB-0D974343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588" y="1553048"/>
            <a:ext cx="11190693" cy="324534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 </a:t>
            </a:r>
            <a:r>
              <a:rPr lang="en-US" b="1" dirty="0">
                <a:latin typeface="Book Antiqua" panose="02040602050305030304" pitchFamily="18" charset="0"/>
              </a:rPr>
              <a:t>Part 1</a:t>
            </a:r>
            <a:r>
              <a:rPr lang="en-US" dirty="0">
                <a:latin typeface="Book Antiqua" panose="02040602050305030304" pitchFamily="18" charset="0"/>
              </a:rPr>
              <a:t>: Engineering Physiologically Relevant Flow Environments for Pulmonary Arterial Endothelial Studies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DC561-CAB5-F191-5929-744892856412}"/>
              </a:ext>
            </a:extLst>
          </p:cNvPr>
          <p:cNvSpPr txBox="1"/>
          <p:nvPr/>
        </p:nvSpPr>
        <p:spPr>
          <a:xfrm>
            <a:off x="11558493" y="652833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3/40</a:t>
            </a:r>
          </a:p>
        </p:txBody>
      </p:sp>
    </p:spTree>
    <p:extLst>
      <p:ext uri="{BB962C8B-B14F-4D97-AF65-F5344CB8AC3E}">
        <p14:creationId xmlns:p14="http://schemas.microsoft.com/office/powerpoint/2010/main" val="46908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61EB0-C01A-0610-48E2-65B0AB03F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E86C506-B0BB-8546-F031-6504E8F1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881" y="-780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Book Antiqua" panose="02040602050305030304" pitchFamily="18" charset="0"/>
              </a:rPr>
              <a:t>Background</a:t>
            </a:r>
            <a:r>
              <a:rPr lang="en-US" sz="3200" dirty="0"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54A05A-9F72-B35A-6459-EDDE15C68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466" y="1522031"/>
            <a:ext cx="5080607" cy="4448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Heart pumps blood through the body </a:t>
            </a:r>
          </a:p>
          <a:p>
            <a:pPr lvl="1"/>
            <a:r>
              <a:rPr lang="en-US" sz="2800" dirty="0"/>
              <a:t>Contraction and relaxation of the heart leads to periodic fluctuations in the blood flow.</a:t>
            </a:r>
            <a:br>
              <a:rPr lang="en-US" sz="2800" dirty="0"/>
            </a:br>
            <a:r>
              <a:rPr lang="en-US" sz="2800" dirty="0"/>
              <a:t> </a:t>
            </a:r>
          </a:p>
          <a:p>
            <a:r>
              <a:rPr lang="en-US" dirty="0"/>
              <a:t>Endothelial cells that line the blood vessels can sense changes in flow through mechanical loads.</a:t>
            </a:r>
            <a:endParaRPr lang="en-US" sz="3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65FE4A-BF33-EF00-E0CC-8674C437E430}"/>
              </a:ext>
            </a:extLst>
          </p:cNvPr>
          <p:cNvGrpSpPr/>
          <p:nvPr/>
        </p:nvGrpSpPr>
        <p:grpSpPr>
          <a:xfrm>
            <a:off x="5217158" y="1484886"/>
            <a:ext cx="6839485" cy="4167408"/>
            <a:chOff x="3435632" y="2719951"/>
            <a:chExt cx="8060792" cy="482113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C2375E5-9913-3461-38C1-0F9ED882D9EC}"/>
                </a:ext>
              </a:extLst>
            </p:cNvPr>
            <p:cNvGrpSpPr/>
            <p:nvPr/>
          </p:nvGrpSpPr>
          <p:grpSpPr>
            <a:xfrm>
              <a:off x="3435632" y="2806695"/>
              <a:ext cx="7173223" cy="4734389"/>
              <a:chOff x="3435632" y="2806695"/>
              <a:chExt cx="7173223" cy="4734389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1A91D99-C63A-28D1-7F6E-7F878DD51B38}"/>
                  </a:ext>
                </a:extLst>
              </p:cNvPr>
              <p:cNvSpPr txBox="1"/>
              <p:nvPr/>
            </p:nvSpPr>
            <p:spPr>
              <a:xfrm>
                <a:off x="3524654" y="2861341"/>
                <a:ext cx="3768169" cy="4628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i="1" dirty="0">
                    <a:cs typeface="Adobe Hebrew" panose="02040503050201020203" pitchFamily="18" charset="-79"/>
                  </a:rPr>
                  <a:t>Section of Blood Vessel</a:t>
                </a:r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D5A008C6-EFE9-FFDE-482C-107BA95F14A9}"/>
                  </a:ext>
                </a:extLst>
              </p:cNvPr>
              <p:cNvGrpSpPr/>
              <p:nvPr/>
            </p:nvGrpSpPr>
            <p:grpSpPr>
              <a:xfrm>
                <a:off x="4011152" y="4425941"/>
                <a:ext cx="2186756" cy="1558053"/>
                <a:chOff x="3868712" y="4406460"/>
                <a:chExt cx="2706317" cy="1975191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AF708F13-8E84-6439-6F86-22878739DFD4}"/>
                    </a:ext>
                  </a:extLst>
                </p:cNvPr>
                <p:cNvGrpSpPr/>
                <p:nvPr/>
              </p:nvGrpSpPr>
              <p:grpSpPr>
                <a:xfrm>
                  <a:off x="3868712" y="4406460"/>
                  <a:ext cx="2706317" cy="1975191"/>
                  <a:chOff x="3230795" y="4516963"/>
                  <a:chExt cx="2543044" cy="1809439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17" name="Cylinder 116">
                    <a:extLst>
                      <a:ext uri="{FF2B5EF4-FFF2-40B4-BE49-F238E27FC236}">
                        <a16:creationId xmlns:a16="http://schemas.microsoft.com/office/drawing/2014/main" id="{B40A8FB2-050B-9FAC-0CFC-71DB47128815}"/>
                      </a:ext>
                    </a:extLst>
                  </p:cNvPr>
                  <p:cNvSpPr/>
                  <p:nvPr/>
                </p:nvSpPr>
                <p:spPr>
                  <a:xfrm rot="7248844">
                    <a:off x="3719430" y="4028328"/>
                    <a:ext cx="1565773" cy="2543044"/>
                  </a:xfrm>
                  <a:prstGeom prst="can">
                    <a:avLst>
                      <a:gd name="adj" fmla="val 75351"/>
                    </a:avLst>
                  </a:prstGeom>
                  <a:ln>
                    <a:solidFill>
                      <a:schemeClr val="tx1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18" name="Oval 117">
                    <a:extLst>
                      <a:ext uri="{FF2B5EF4-FFF2-40B4-BE49-F238E27FC236}">
                        <a16:creationId xmlns:a16="http://schemas.microsoft.com/office/drawing/2014/main" id="{2A16FAC0-08B3-2FC5-DB5A-173687437AE3}"/>
                      </a:ext>
                    </a:extLst>
                  </p:cNvPr>
                  <p:cNvSpPr/>
                  <p:nvPr/>
                </p:nvSpPr>
                <p:spPr>
                  <a:xfrm rot="1754795">
                    <a:off x="4589976" y="4967841"/>
                    <a:ext cx="987693" cy="1358561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scene3d>
                    <a:camera prst="orthographicFront"/>
                    <a:lightRig rig="threePt" dir="t"/>
                  </a:scene3d>
                  <a:sp3d>
                    <a:bevelT w="152400" h="50800" prst="softRound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A7117F68-6D6D-DC1B-00BF-F855672C6E6B}"/>
                    </a:ext>
                  </a:extLst>
                </p:cNvPr>
                <p:cNvSpPr/>
                <p:nvPr/>
              </p:nvSpPr>
              <p:spPr>
                <a:xfrm rot="1754795">
                  <a:off x="5389897" y="4995490"/>
                  <a:ext cx="901627" cy="1313281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scene3d>
                  <a:camera prst="orthographicFront"/>
                  <a:lightRig rig="threePt" dir="t"/>
                </a:scene3d>
                <a:sp3d>
                  <a:bevelT w="152400" h="50800" prst="softRound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61D4CEF3-C271-1DA4-ADAF-AB603AF0477A}"/>
                    </a:ext>
                  </a:extLst>
                </p:cNvPr>
                <p:cNvSpPr/>
                <p:nvPr/>
              </p:nvSpPr>
              <p:spPr>
                <a:xfrm rot="1754795">
                  <a:off x="5516524" y="5169541"/>
                  <a:ext cx="687228" cy="99586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scene3d>
                  <a:camera prst="orthographicFront"/>
                  <a:lightRig rig="threePt" dir="t"/>
                </a:scene3d>
                <a:sp3d>
                  <a:bevelT w="152400" h="50800" prst="softRound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C0430E72-0880-55ED-BF38-58551890DFB7}"/>
                    </a:ext>
                  </a:extLst>
                </p:cNvPr>
                <p:cNvSpPr/>
                <p:nvPr/>
              </p:nvSpPr>
              <p:spPr>
                <a:xfrm rot="1754795">
                  <a:off x="5611393" y="5298122"/>
                  <a:ext cx="514306" cy="761686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w="152400" h="50800" prst="softRound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DD24AFFE-E016-5E5D-685F-9B26FF09E065}"/>
                    </a:ext>
                  </a:extLst>
                </p:cNvPr>
                <p:cNvSpPr/>
                <p:nvPr/>
              </p:nvSpPr>
              <p:spPr>
                <a:xfrm>
                  <a:off x="5784581" y="5256975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4A2DFD2A-4A1E-CE92-0C76-D7DD55C2E979}"/>
                    </a:ext>
                  </a:extLst>
                </p:cNvPr>
                <p:cNvSpPr/>
                <p:nvPr/>
              </p:nvSpPr>
              <p:spPr>
                <a:xfrm>
                  <a:off x="5855631" y="5242329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B1CCD5E5-A848-9720-A5CA-1A32454B2BF0}"/>
                    </a:ext>
                  </a:extLst>
                </p:cNvPr>
                <p:cNvSpPr/>
                <p:nvPr/>
              </p:nvSpPr>
              <p:spPr>
                <a:xfrm rot="1780318">
                  <a:off x="5936372" y="5242457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D73DA10B-13FE-F3E2-E087-7B016CE2E692}"/>
                    </a:ext>
                  </a:extLst>
                </p:cNvPr>
                <p:cNvSpPr/>
                <p:nvPr/>
              </p:nvSpPr>
              <p:spPr>
                <a:xfrm rot="2170756">
                  <a:off x="6018797" y="5263884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2576A5A7-86ED-62A2-7D12-92790AE0E8C3}"/>
                    </a:ext>
                  </a:extLst>
                </p:cNvPr>
                <p:cNvSpPr/>
                <p:nvPr/>
              </p:nvSpPr>
              <p:spPr>
                <a:xfrm rot="4177595">
                  <a:off x="6080732" y="5325362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126BDFAA-3790-7A52-EF2D-39A7E73EDF2D}"/>
                    </a:ext>
                  </a:extLst>
                </p:cNvPr>
                <p:cNvSpPr/>
                <p:nvPr/>
              </p:nvSpPr>
              <p:spPr>
                <a:xfrm rot="16566885">
                  <a:off x="6113150" y="5415363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85C6B520-7C85-7E17-DE6C-E4C9B68203F7}"/>
                    </a:ext>
                  </a:extLst>
                </p:cNvPr>
                <p:cNvSpPr/>
                <p:nvPr/>
              </p:nvSpPr>
              <p:spPr>
                <a:xfrm rot="18951371">
                  <a:off x="6128078" y="5508597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E7908168-DC2D-D1C7-5400-62D7D2699EA8}"/>
                    </a:ext>
                  </a:extLst>
                </p:cNvPr>
                <p:cNvSpPr/>
                <p:nvPr/>
              </p:nvSpPr>
              <p:spPr>
                <a:xfrm rot="18562826">
                  <a:off x="6110738" y="5621142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484CEB73-F57B-6BCD-3456-9A11E340E4CD}"/>
                    </a:ext>
                  </a:extLst>
                </p:cNvPr>
                <p:cNvSpPr/>
                <p:nvPr/>
              </p:nvSpPr>
              <p:spPr>
                <a:xfrm rot="18562826">
                  <a:off x="6075151" y="5703906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1D7783F1-85A5-1AF8-71EC-99A33253A4BF}"/>
                    </a:ext>
                  </a:extLst>
                </p:cNvPr>
                <p:cNvSpPr/>
                <p:nvPr/>
              </p:nvSpPr>
              <p:spPr>
                <a:xfrm rot="18562826">
                  <a:off x="6015720" y="5785378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533F3C9C-E062-0AB2-8350-740F14844434}"/>
                    </a:ext>
                  </a:extLst>
                </p:cNvPr>
                <p:cNvSpPr/>
                <p:nvPr/>
              </p:nvSpPr>
              <p:spPr>
                <a:xfrm rot="20015710">
                  <a:off x="5982175" y="5851200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D9EEA0B6-EC84-2EC5-3D6B-2BD44BF6E69C}"/>
                    </a:ext>
                  </a:extLst>
                </p:cNvPr>
                <p:cNvSpPr/>
                <p:nvPr/>
              </p:nvSpPr>
              <p:spPr>
                <a:xfrm rot="19523177">
                  <a:off x="5936695" y="5899475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E51C2D9C-5A67-2549-C630-C6EE20089FC6}"/>
                    </a:ext>
                  </a:extLst>
                </p:cNvPr>
                <p:cNvSpPr/>
                <p:nvPr/>
              </p:nvSpPr>
              <p:spPr>
                <a:xfrm rot="1096365">
                  <a:off x="5862946" y="5956910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29DE8E89-2280-5048-AA99-5AA051644443}"/>
                    </a:ext>
                  </a:extLst>
                </p:cNvPr>
                <p:cNvSpPr/>
                <p:nvPr/>
              </p:nvSpPr>
              <p:spPr>
                <a:xfrm rot="421530">
                  <a:off x="5772942" y="5998309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37BAFC27-905F-23B1-12AC-239D20EE4057}"/>
                    </a:ext>
                  </a:extLst>
                </p:cNvPr>
                <p:cNvSpPr/>
                <p:nvPr/>
              </p:nvSpPr>
              <p:spPr>
                <a:xfrm rot="13055024">
                  <a:off x="5680413" y="5989364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DE0C05CF-96AB-7C8F-5D78-99087E64A515}"/>
                    </a:ext>
                  </a:extLst>
                </p:cNvPr>
                <p:cNvSpPr/>
                <p:nvPr/>
              </p:nvSpPr>
              <p:spPr>
                <a:xfrm rot="13196443">
                  <a:off x="5582659" y="5941551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C9B4D37A-05AE-6E92-2801-9003A1532D21}"/>
                    </a:ext>
                  </a:extLst>
                </p:cNvPr>
                <p:cNvSpPr/>
                <p:nvPr/>
              </p:nvSpPr>
              <p:spPr>
                <a:xfrm rot="18433116">
                  <a:off x="5518087" y="5858825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C7B525A6-5D9D-7B29-0DFA-A24266138042}"/>
                    </a:ext>
                  </a:extLst>
                </p:cNvPr>
                <p:cNvSpPr/>
                <p:nvPr/>
              </p:nvSpPr>
              <p:spPr>
                <a:xfrm rot="17777700">
                  <a:off x="5503548" y="5760253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09DA4995-9E3E-A41D-333F-B28F1308C9CA}"/>
                    </a:ext>
                  </a:extLst>
                </p:cNvPr>
                <p:cNvSpPr/>
                <p:nvPr/>
              </p:nvSpPr>
              <p:spPr>
                <a:xfrm rot="18562826">
                  <a:off x="5511722" y="5672385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8B144FEE-D9E8-6155-11EF-A793DE7DC02A}"/>
                    </a:ext>
                  </a:extLst>
                </p:cNvPr>
                <p:cNvSpPr/>
                <p:nvPr/>
              </p:nvSpPr>
              <p:spPr>
                <a:xfrm rot="18562826">
                  <a:off x="5520141" y="5575197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52ADDC46-0895-91B3-0AAF-22A5298A3334}"/>
                    </a:ext>
                  </a:extLst>
                </p:cNvPr>
                <p:cNvSpPr/>
                <p:nvPr/>
              </p:nvSpPr>
              <p:spPr>
                <a:xfrm rot="19267113">
                  <a:off x="5559761" y="5495729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54E5988A-C85E-D1D9-BDDC-B04BB5172956}"/>
                    </a:ext>
                  </a:extLst>
                </p:cNvPr>
                <p:cNvSpPr/>
                <p:nvPr/>
              </p:nvSpPr>
              <p:spPr>
                <a:xfrm rot="19626626">
                  <a:off x="5593245" y="5412033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25FBE8D0-2825-B521-ADA7-853F2E4689E2}"/>
                    </a:ext>
                  </a:extLst>
                </p:cNvPr>
                <p:cNvSpPr/>
                <p:nvPr/>
              </p:nvSpPr>
              <p:spPr>
                <a:xfrm rot="19749620">
                  <a:off x="5655394" y="5344943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D5EDA95F-392E-DF3B-3BC4-7AE59E084A20}"/>
                    </a:ext>
                  </a:extLst>
                </p:cNvPr>
                <p:cNvSpPr/>
                <p:nvPr/>
              </p:nvSpPr>
              <p:spPr>
                <a:xfrm rot="20385711">
                  <a:off x="5721544" y="5298198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7891181-B711-639B-C8E4-3A958DED30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56717" y="3414132"/>
                <a:ext cx="1880363" cy="1770206"/>
              </a:xfrm>
              <a:prstGeom prst="straightConnector1">
                <a:avLst/>
              </a:prstGeom>
              <a:ln w="127000">
                <a:solidFill>
                  <a:schemeClr val="accent4">
                    <a:lumMod val="75000"/>
                  </a:schemeClr>
                </a:solidFill>
                <a:tailEnd type="triangle"/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E5E8C4B-708F-0279-C1A9-94501035C806}"/>
                  </a:ext>
                </a:extLst>
              </p:cNvPr>
              <p:cNvSpPr txBox="1"/>
              <p:nvPr/>
            </p:nvSpPr>
            <p:spPr>
              <a:xfrm>
                <a:off x="7994651" y="2806695"/>
                <a:ext cx="2614204" cy="4628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i="1" dirty="0">
                    <a:cs typeface="Adobe Hebrew" panose="02040503050201020203" pitchFamily="18" charset="-79"/>
                  </a:rPr>
                  <a:t>Endothelium</a:t>
                </a:r>
                <a:r>
                  <a:rPr lang="en-US" sz="2000" dirty="0"/>
                  <a:t> </a:t>
                </a:r>
              </a:p>
            </p:txBody>
          </p:sp>
          <p:sp>
            <p:nvSpPr>
              <p:cNvPr id="87" name="Arrow: Right 86">
                <a:extLst>
                  <a:ext uri="{FF2B5EF4-FFF2-40B4-BE49-F238E27FC236}">
                    <a16:creationId xmlns:a16="http://schemas.microsoft.com/office/drawing/2014/main" id="{D93FD788-FACF-44B5-0BA7-12ADEC5B3B80}"/>
                  </a:ext>
                </a:extLst>
              </p:cNvPr>
              <p:cNvSpPr/>
              <p:nvPr/>
            </p:nvSpPr>
            <p:spPr>
              <a:xfrm rot="1871812">
                <a:off x="3435632" y="5544428"/>
                <a:ext cx="1824573" cy="928841"/>
              </a:xfrm>
              <a:prstGeom prst="rightArrow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i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dobe Hebrew" panose="02040503050201020203" pitchFamily="18" charset="-79"/>
                    <a:cs typeface="Adobe Hebrew" panose="02040503050201020203" pitchFamily="18" charset="-79"/>
                  </a:rPr>
                  <a:t>FLOW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00BF3C-43FF-8D6F-5AD0-E297915B7AAA}"/>
                  </a:ext>
                </a:extLst>
              </p:cNvPr>
              <p:cNvSpPr txBox="1"/>
              <p:nvPr/>
            </p:nvSpPr>
            <p:spPr>
              <a:xfrm>
                <a:off x="7275188" y="7078210"/>
                <a:ext cx="3132766" cy="4628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>
                    <a:cs typeface="Adobe Hebrew" panose="02040503050201020203" pitchFamily="18" charset="-79"/>
                  </a:rPr>
                  <a:t>Endothelial Cells </a:t>
                </a:r>
                <a:r>
                  <a:rPr lang="en-US" sz="2000" dirty="0"/>
                  <a:t> 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A23C164-76EC-EF7C-4220-2D6EAF05DD2D}"/>
                </a:ext>
              </a:extLst>
            </p:cNvPr>
            <p:cNvGrpSpPr/>
            <p:nvPr/>
          </p:nvGrpSpPr>
          <p:grpSpPr>
            <a:xfrm>
              <a:off x="6997862" y="2719951"/>
              <a:ext cx="4498562" cy="4244482"/>
              <a:chOff x="7384580" y="4772776"/>
              <a:chExt cx="2455141" cy="176575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9AE3178-A011-C524-8571-57C7D08732DA}"/>
                  </a:ext>
                </a:extLst>
              </p:cNvPr>
              <p:cNvGrpSpPr/>
              <p:nvPr/>
            </p:nvGrpSpPr>
            <p:grpSpPr>
              <a:xfrm>
                <a:off x="7384580" y="5545880"/>
                <a:ext cx="2236601" cy="650908"/>
                <a:chOff x="8460890" y="5550037"/>
                <a:chExt cx="1915074" cy="650908"/>
              </a:xfr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B1930D23-B64E-51E5-C30F-04E2BAEE70AE}"/>
                    </a:ext>
                  </a:extLst>
                </p:cNvPr>
                <p:cNvGrpSpPr/>
                <p:nvPr/>
              </p:nvGrpSpPr>
              <p:grpSpPr>
                <a:xfrm rot="21397435">
                  <a:off x="8460890" y="5550037"/>
                  <a:ext cx="1915074" cy="650908"/>
                  <a:chOff x="8767695" y="5772711"/>
                  <a:chExt cx="1915074" cy="650908"/>
                </a:xfrm>
                <a:grpFill/>
              </p:grpSpPr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CE39F9EA-13D9-C9C0-7B8E-587245736642}"/>
                      </a:ext>
                    </a:extLst>
                  </p:cNvPr>
                  <p:cNvGrpSpPr/>
                  <p:nvPr/>
                </p:nvGrpSpPr>
                <p:grpSpPr>
                  <a:xfrm>
                    <a:off x="8767695" y="5772711"/>
                    <a:ext cx="1766543" cy="639911"/>
                    <a:chOff x="8767695" y="5772711"/>
                    <a:chExt cx="1766543" cy="639911"/>
                  </a:xfrm>
                  <a:grpFill/>
                </p:grpSpPr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6E8E22FE-03ED-824A-E2E8-6160BAD2B2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67695" y="5772711"/>
                      <a:ext cx="1372155" cy="570353"/>
                      <a:chOff x="8621362" y="5775251"/>
                      <a:chExt cx="581823" cy="245428"/>
                    </a:xfrm>
                    <a:grpFill/>
                  </p:grpSpPr>
                  <p:sp>
                    <p:nvSpPr>
                      <p:cNvPr id="75" name="Freeform: Shape 74">
                        <a:extLst>
                          <a:ext uri="{FF2B5EF4-FFF2-40B4-BE49-F238E27FC236}">
                            <a16:creationId xmlns:a16="http://schemas.microsoft.com/office/drawing/2014/main" id="{47CA7235-96E1-5D35-E9A3-7AFDE734329A}"/>
                          </a:ext>
                        </a:extLst>
                      </p:cNvPr>
                      <p:cNvSpPr/>
                      <p:nvPr/>
                    </p:nvSpPr>
                    <p:spPr>
                      <a:xfrm rot="20015710">
                        <a:off x="9090928" y="580972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6" name="Freeform: Shape 75">
                        <a:extLst>
                          <a:ext uri="{FF2B5EF4-FFF2-40B4-BE49-F238E27FC236}">
                            <a16:creationId xmlns:a16="http://schemas.microsoft.com/office/drawing/2014/main" id="{E2706CAC-251E-9644-C57B-611DC429893D}"/>
                          </a:ext>
                        </a:extLst>
                      </p:cNvPr>
                      <p:cNvSpPr/>
                      <p:nvPr/>
                    </p:nvSpPr>
                    <p:spPr>
                      <a:xfrm rot="19523177">
                        <a:off x="9045448" y="585799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7" name="Freeform: Shape 76">
                        <a:extLst>
                          <a:ext uri="{FF2B5EF4-FFF2-40B4-BE49-F238E27FC236}">
                            <a16:creationId xmlns:a16="http://schemas.microsoft.com/office/drawing/2014/main" id="{9889603F-C189-B2AB-E465-6A5C873F2D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90544" y="589633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8" name="Freeform: Shape 77">
                        <a:extLst>
                          <a:ext uri="{FF2B5EF4-FFF2-40B4-BE49-F238E27FC236}">
                            <a16:creationId xmlns:a16="http://schemas.microsoft.com/office/drawing/2014/main" id="{4954E1FB-F193-725E-694D-202C0CF48C5E}"/>
                          </a:ext>
                        </a:extLst>
                      </p:cNvPr>
                      <p:cNvSpPr/>
                      <p:nvPr/>
                    </p:nvSpPr>
                    <p:spPr>
                      <a:xfrm rot="421530">
                        <a:off x="8893075" y="5923669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9" name="Freeform: Shape 78">
                        <a:extLst>
                          <a:ext uri="{FF2B5EF4-FFF2-40B4-BE49-F238E27FC236}">
                            <a16:creationId xmlns:a16="http://schemas.microsoft.com/office/drawing/2014/main" id="{F437D71F-F36B-E406-B4D4-D8434EB52AC0}"/>
                          </a:ext>
                        </a:extLst>
                      </p:cNvPr>
                      <p:cNvSpPr/>
                      <p:nvPr/>
                    </p:nvSpPr>
                    <p:spPr>
                      <a:xfrm rot="13055024">
                        <a:off x="8800546" y="591472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0" name="Freeform: Shape 79">
                        <a:extLst>
                          <a:ext uri="{FF2B5EF4-FFF2-40B4-BE49-F238E27FC236}">
                            <a16:creationId xmlns:a16="http://schemas.microsoft.com/office/drawing/2014/main" id="{085D687F-91C3-491D-6BE8-9874B190DBE2}"/>
                          </a:ext>
                        </a:extLst>
                      </p:cNvPr>
                      <p:cNvSpPr/>
                      <p:nvPr/>
                    </p:nvSpPr>
                    <p:spPr>
                      <a:xfrm rot="13196443">
                        <a:off x="8720746" y="5882280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1" name="Freeform: Shape 80">
                        <a:extLst>
                          <a:ext uri="{FF2B5EF4-FFF2-40B4-BE49-F238E27FC236}">
                            <a16:creationId xmlns:a16="http://schemas.microsoft.com/office/drawing/2014/main" id="{F4247832-50B4-1A00-92DB-2228C9B3D0A5}"/>
                          </a:ext>
                        </a:extLst>
                      </p:cNvPr>
                      <p:cNvSpPr/>
                      <p:nvPr/>
                    </p:nvSpPr>
                    <p:spPr>
                      <a:xfrm rot="14843661">
                        <a:off x="8648105" y="583470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2" name="Freeform: Shape 81">
                        <a:extLst>
                          <a:ext uri="{FF2B5EF4-FFF2-40B4-BE49-F238E27FC236}">
                            <a16:creationId xmlns:a16="http://schemas.microsoft.com/office/drawing/2014/main" id="{36DF4225-0425-261A-D05B-BED59D47F40D}"/>
                          </a:ext>
                        </a:extLst>
                      </p:cNvPr>
                      <p:cNvSpPr/>
                      <p:nvPr/>
                    </p:nvSpPr>
                    <p:spPr>
                      <a:xfrm rot="15857614">
                        <a:off x="8613738" y="578287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48" name="Group 47">
                      <a:extLst>
                        <a:ext uri="{FF2B5EF4-FFF2-40B4-BE49-F238E27FC236}">
                          <a16:creationId xmlns:a16="http://schemas.microsoft.com/office/drawing/2014/main" id="{CED45A22-EAA0-48F4-8ED1-2C89ACBF4A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882090" y="5805711"/>
                      <a:ext cx="1372160" cy="570353"/>
                      <a:chOff x="8621362" y="5775251"/>
                      <a:chExt cx="581825" cy="245428"/>
                    </a:xfrm>
                    <a:grpFill/>
                  </p:grpSpPr>
                  <p:sp>
                    <p:nvSpPr>
                      <p:cNvPr id="67" name="Freeform: Shape 66">
                        <a:extLst>
                          <a:ext uri="{FF2B5EF4-FFF2-40B4-BE49-F238E27FC236}">
                            <a16:creationId xmlns:a16="http://schemas.microsoft.com/office/drawing/2014/main" id="{F9A7FFA4-0A4B-B302-7CEC-0067F0A36F40}"/>
                          </a:ext>
                        </a:extLst>
                      </p:cNvPr>
                      <p:cNvSpPr/>
                      <p:nvPr/>
                    </p:nvSpPr>
                    <p:spPr>
                      <a:xfrm rot="20015710">
                        <a:off x="9090930" y="580972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8" name="Freeform: Shape 67">
                        <a:extLst>
                          <a:ext uri="{FF2B5EF4-FFF2-40B4-BE49-F238E27FC236}">
                            <a16:creationId xmlns:a16="http://schemas.microsoft.com/office/drawing/2014/main" id="{7B6BC154-1C64-103F-3BF7-997090EAF0A1}"/>
                          </a:ext>
                        </a:extLst>
                      </p:cNvPr>
                      <p:cNvSpPr/>
                      <p:nvPr/>
                    </p:nvSpPr>
                    <p:spPr>
                      <a:xfrm rot="19523177">
                        <a:off x="9045448" y="585799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9" name="Freeform: Shape 68">
                        <a:extLst>
                          <a:ext uri="{FF2B5EF4-FFF2-40B4-BE49-F238E27FC236}">
                            <a16:creationId xmlns:a16="http://schemas.microsoft.com/office/drawing/2014/main" id="{355D3121-B0C1-958B-3CE3-2B190341F8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90544" y="589633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0" name="Freeform: Shape 69">
                        <a:extLst>
                          <a:ext uri="{FF2B5EF4-FFF2-40B4-BE49-F238E27FC236}">
                            <a16:creationId xmlns:a16="http://schemas.microsoft.com/office/drawing/2014/main" id="{40FD3D30-B8BC-2B1C-9018-B0972EF31144}"/>
                          </a:ext>
                        </a:extLst>
                      </p:cNvPr>
                      <p:cNvSpPr/>
                      <p:nvPr/>
                    </p:nvSpPr>
                    <p:spPr>
                      <a:xfrm rot="421530">
                        <a:off x="8893075" y="5923669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1" name="Freeform: Shape 70">
                        <a:extLst>
                          <a:ext uri="{FF2B5EF4-FFF2-40B4-BE49-F238E27FC236}">
                            <a16:creationId xmlns:a16="http://schemas.microsoft.com/office/drawing/2014/main" id="{E9EB803F-5F99-650D-7394-3C2A96B788AC}"/>
                          </a:ext>
                        </a:extLst>
                      </p:cNvPr>
                      <p:cNvSpPr/>
                      <p:nvPr/>
                    </p:nvSpPr>
                    <p:spPr>
                      <a:xfrm rot="13055024">
                        <a:off x="8800546" y="591472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2" name="Freeform: Shape 71">
                        <a:extLst>
                          <a:ext uri="{FF2B5EF4-FFF2-40B4-BE49-F238E27FC236}">
                            <a16:creationId xmlns:a16="http://schemas.microsoft.com/office/drawing/2014/main" id="{FD30B701-FC6E-1B64-4D9F-EBB2742D2E59}"/>
                          </a:ext>
                        </a:extLst>
                      </p:cNvPr>
                      <p:cNvSpPr/>
                      <p:nvPr/>
                    </p:nvSpPr>
                    <p:spPr>
                      <a:xfrm rot="13196443">
                        <a:off x="8720746" y="5882280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3" name="Freeform: Shape 72">
                        <a:extLst>
                          <a:ext uri="{FF2B5EF4-FFF2-40B4-BE49-F238E27FC236}">
                            <a16:creationId xmlns:a16="http://schemas.microsoft.com/office/drawing/2014/main" id="{3CB58240-6C75-E95F-AB39-C93EB2178C22}"/>
                          </a:ext>
                        </a:extLst>
                      </p:cNvPr>
                      <p:cNvSpPr/>
                      <p:nvPr/>
                    </p:nvSpPr>
                    <p:spPr>
                      <a:xfrm rot="14843661">
                        <a:off x="8648105" y="583470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4" name="Freeform: Shape 73">
                        <a:extLst>
                          <a:ext uri="{FF2B5EF4-FFF2-40B4-BE49-F238E27FC236}">
                            <a16:creationId xmlns:a16="http://schemas.microsoft.com/office/drawing/2014/main" id="{3CE96FD8-F5AD-6800-E3E6-BCF76EE3D962}"/>
                          </a:ext>
                        </a:extLst>
                      </p:cNvPr>
                      <p:cNvSpPr/>
                      <p:nvPr/>
                    </p:nvSpPr>
                    <p:spPr>
                      <a:xfrm rot="15857614">
                        <a:off x="8613738" y="578287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57ABE5EF-EFC6-BB4F-0D91-15133B209B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008883" y="5828030"/>
                      <a:ext cx="1372155" cy="570353"/>
                      <a:chOff x="8621362" y="5775251"/>
                      <a:chExt cx="581823" cy="245428"/>
                    </a:xfrm>
                    <a:grpFill/>
                  </p:grpSpPr>
                  <p:sp>
                    <p:nvSpPr>
                      <p:cNvPr id="59" name="Freeform: Shape 58">
                        <a:extLst>
                          <a:ext uri="{FF2B5EF4-FFF2-40B4-BE49-F238E27FC236}">
                            <a16:creationId xmlns:a16="http://schemas.microsoft.com/office/drawing/2014/main" id="{8B41D018-E20C-D21C-C996-E96B3DAF8F73}"/>
                          </a:ext>
                        </a:extLst>
                      </p:cNvPr>
                      <p:cNvSpPr/>
                      <p:nvPr/>
                    </p:nvSpPr>
                    <p:spPr>
                      <a:xfrm rot="20015710">
                        <a:off x="9090928" y="580972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0" name="Freeform: Shape 59">
                        <a:extLst>
                          <a:ext uri="{FF2B5EF4-FFF2-40B4-BE49-F238E27FC236}">
                            <a16:creationId xmlns:a16="http://schemas.microsoft.com/office/drawing/2014/main" id="{567BB52A-F9F4-10C4-8F3C-68A9C648790E}"/>
                          </a:ext>
                        </a:extLst>
                      </p:cNvPr>
                      <p:cNvSpPr/>
                      <p:nvPr/>
                    </p:nvSpPr>
                    <p:spPr>
                      <a:xfrm rot="19523177">
                        <a:off x="9045448" y="585799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1" name="Freeform: Shape 60">
                        <a:extLst>
                          <a:ext uri="{FF2B5EF4-FFF2-40B4-BE49-F238E27FC236}">
                            <a16:creationId xmlns:a16="http://schemas.microsoft.com/office/drawing/2014/main" id="{482BC45D-B4DF-E238-CA7F-61B3CC065D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90544" y="589633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2" name="Freeform: Shape 61">
                        <a:extLst>
                          <a:ext uri="{FF2B5EF4-FFF2-40B4-BE49-F238E27FC236}">
                            <a16:creationId xmlns:a16="http://schemas.microsoft.com/office/drawing/2014/main" id="{F609C57B-DFC8-FD32-EFD5-F21CFB7736DB}"/>
                          </a:ext>
                        </a:extLst>
                      </p:cNvPr>
                      <p:cNvSpPr/>
                      <p:nvPr/>
                    </p:nvSpPr>
                    <p:spPr>
                      <a:xfrm rot="421530">
                        <a:off x="8893075" y="5923669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3" name="Freeform: Shape 62">
                        <a:extLst>
                          <a:ext uri="{FF2B5EF4-FFF2-40B4-BE49-F238E27FC236}">
                            <a16:creationId xmlns:a16="http://schemas.microsoft.com/office/drawing/2014/main" id="{15FC4A12-B330-3F37-EA6B-ADC00EC30FEB}"/>
                          </a:ext>
                        </a:extLst>
                      </p:cNvPr>
                      <p:cNvSpPr/>
                      <p:nvPr/>
                    </p:nvSpPr>
                    <p:spPr>
                      <a:xfrm rot="13055024">
                        <a:off x="8800546" y="591472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4" name="Freeform: Shape 63">
                        <a:extLst>
                          <a:ext uri="{FF2B5EF4-FFF2-40B4-BE49-F238E27FC236}">
                            <a16:creationId xmlns:a16="http://schemas.microsoft.com/office/drawing/2014/main" id="{4F3EE326-E377-FC4E-9158-86A24C44490F}"/>
                          </a:ext>
                        </a:extLst>
                      </p:cNvPr>
                      <p:cNvSpPr/>
                      <p:nvPr/>
                    </p:nvSpPr>
                    <p:spPr>
                      <a:xfrm rot="13196443">
                        <a:off x="8720746" y="5882280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5" name="Freeform: Shape 64">
                        <a:extLst>
                          <a:ext uri="{FF2B5EF4-FFF2-40B4-BE49-F238E27FC236}">
                            <a16:creationId xmlns:a16="http://schemas.microsoft.com/office/drawing/2014/main" id="{21486B23-1336-DCAD-59B0-1DCA51428B36}"/>
                          </a:ext>
                        </a:extLst>
                      </p:cNvPr>
                      <p:cNvSpPr/>
                      <p:nvPr/>
                    </p:nvSpPr>
                    <p:spPr>
                      <a:xfrm rot="14843661">
                        <a:off x="8648105" y="583470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6" name="Freeform: Shape 65">
                        <a:extLst>
                          <a:ext uri="{FF2B5EF4-FFF2-40B4-BE49-F238E27FC236}">
                            <a16:creationId xmlns:a16="http://schemas.microsoft.com/office/drawing/2014/main" id="{7C3A1331-40C7-7211-6336-EE9AB30DB15C}"/>
                          </a:ext>
                        </a:extLst>
                      </p:cNvPr>
                      <p:cNvSpPr/>
                      <p:nvPr/>
                    </p:nvSpPr>
                    <p:spPr>
                      <a:xfrm rot="15857614">
                        <a:off x="8613738" y="578287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50" name="Group 49">
                      <a:extLst>
                        <a:ext uri="{FF2B5EF4-FFF2-40B4-BE49-F238E27FC236}">
                          <a16:creationId xmlns:a16="http://schemas.microsoft.com/office/drawing/2014/main" id="{1F22065C-5DD0-33B7-A01D-91A10C4A4F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62083" y="5842269"/>
                      <a:ext cx="1372155" cy="570353"/>
                      <a:chOff x="8621362" y="5775251"/>
                      <a:chExt cx="581823" cy="245428"/>
                    </a:xfrm>
                    <a:grpFill/>
                  </p:grpSpPr>
                  <p:sp>
                    <p:nvSpPr>
                      <p:cNvPr id="51" name="Freeform: Shape 50">
                        <a:extLst>
                          <a:ext uri="{FF2B5EF4-FFF2-40B4-BE49-F238E27FC236}">
                            <a16:creationId xmlns:a16="http://schemas.microsoft.com/office/drawing/2014/main" id="{ACF96314-B164-B5BA-407B-839C467F3217}"/>
                          </a:ext>
                        </a:extLst>
                      </p:cNvPr>
                      <p:cNvSpPr/>
                      <p:nvPr/>
                    </p:nvSpPr>
                    <p:spPr>
                      <a:xfrm rot="20015710">
                        <a:off x="9090928" y="580972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2" name="Freeform: Shape 51">
                        <a:extLst>
                          <a:ext uri="{FF2B5EF4-FFF2-40B4-BE49-F238E27FC236}">
                            <a16:creationId xmlns:a16="http://schemas.microsoft.com/office/drawing/2014/main" id="{4E1E36D5-143B-F600-0FFA-38933C3F5978}"/>
                          </a:ext>
                        </a:extLst>
                      </p:cNvPr>
                      <p:cNvSpPr/>
                      <p:nvPr/>
                    </p:nvSpPr>
                    <p:spPr>
                      <a:xfrm rot="19523177">
                        <a:off x="9045448" y="585799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53" name="Freeform: Shape 52">
                        <a:extLst>
                          <a:ext uri="{FF2B5EF4-FFF2-40B4-BE49-F238E27FC236}">
                            <a16:creationId xmlns:a16="http://schemas.microsoft.com/office/drawing/2014/main" id="{AD904584-344A-5177-589E-84C9E38DBD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90544" y="589633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4" name="Freeform: Shape 53">
                        <a:extLst>
                          <a:ext uri="{FF2B5EF4-FFF2-40B4-BE49-F238E27FC236}">
                            <a16:creationId xmlns:a16="http://schemas.microsoft.com/office/drawing/2014/main" id="{8284394F-DF05-0449-2409-C529DACE99B8}"/>
                          </a:ext>
                        </a:extLst>
                      </p:cNvPr>
                      <p:cNvSpPr/>
                      <p:nvPr/>
                    </p:nvSpPr>
                    <p:spPr>
                      <a:xfrm rot="421530">
                        <a:off x="8893075" y="5923669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5" name="Freeform: Shape 54">
                        <a:extLst>
                          <a:ext uri="{FF2B5EF4-FFF2-40B4-BE49-F238E27FC236}">
                            <a16:creationId xmlns:a16="http://schemas.microsoft.com/office/drawing/2014/main" id="{BBB6A9AB-2A37-58E0-01AB-1F26F5C6F5E4}"/>
                          </a:ext>
                        </a:extLst>
                      </p:cNvPr>
                      <p:cNvSpPr/>
                      <p:nvPr/>
                    </p:nvSpPr>
                    <p:spPr>
                      <a:xfrm rot="13055024">
                        <a:off x="8800546" y="591472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6" name="Freeform: Shape 55">
                        <a:extLst>
                          <a:ext uri="{FF2B5EF4-FFF2-40B4-BE49-F238E27FC236}">
                            <a16:creationId xmlns:a16="http://schemas.microsoft.com/office/drawing/2014/main" id="{CBA319BE-92D3-312B-0408-A3A65A6622DC}"/>
                          </a:ext>
                        </a:extLst>
                      </p:cNvPr>
                      <p:cNvSpPr/>
                      <p:nvPr/>
                    </p:nvSpPr>
                    <p:spPr>
                      <a:xfrm rot="13196443">
                        <a:off x="8720746" y="5882280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7" name="Freeform: Shape 56">
                        <a:extLst>
                          <a:ext uri="{FF2B5EF4-FFF2-40B4-BE49-F238E27FC236}">
                            <a16:creationId xmlns:a16="http://schemas.microsoft.com/office/drawing/2014/main" id="{FE3F7A09-B3DD-2CA6-DDF0-5AE237573AD8}"/>
                          </a:ext>
                        </a:extLst>
                      </p:cNvPr>
                      <p:cNvSpPr/>
                      <p:nvPr/>
                    </p:nvSpPr>
                    <p:spPr>
                      <a:xfrm rot="14843661">
                        <a:off x="8648105" y="583470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8" name="Freeform: Shape 57">
                        <a:extLst>
                          <a:ext uri="{FF2B5EF4-FFF2-40B4-BE49-F238E27FC236}">
                            <a16:creationId xmlns:a16="http://schemas.microsoft.com/office/drawing/2014/main" id="{CAEC1611-D6DE-BD45-D6F1-D9955CA99DE5}"/>
                          </a:ext>
                        </a:extLst>
                      </p:cNvPr>
                      <p:cNvSpPr/>
                      <p:nvPr/>
                    </p:nvSpPr>
                    <p:spPr>
                      <a:xfrm rot="15857614">
                        <a:off x="8613738" y="578287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F63B7E93-D38D-B2A1-5D17-DE8C47BFB9E0}"/>
                      </a:ext>
                    </a:extLst>
                  </p:cNvPr>
                  <p:cNvGrpSpPr/>
                  <p:nvPr/>
                </p:nvGrpSpPr>
                <p:grpSpPr>
                  <a:xfrm>
                    <a:off x="9310614" y="5853266"/>
                    <a:ext cx="1372155" cy="570353"/>
                    <a:chOff x="8621362" y="5775251"/>
                    <a:chExt cx="581823" cy="245428"/>
                  </a:xfrm>
                  <a:grpFill/>
                </p:grpSpPr>
                <p:sp>
                  <p:nvSpPr>
                    <p:cNvPr id="39" name="Freeform: Shape 38">
                      <a:extLst>
                        <a:ext uri="{FF2B5EF4-FFF2-40B4-BE49-F238E27FC236}">
                          <a16:creationId xmlns:a16="http://schemas.microsoft.com/office/drawing/2014/main" id="{F30CD01B-C9C6-02FF-1324-5735D5677E8C}"/>
                        </a:ext>
                      </a:extLst>
                    </p:cNvPr>
                    <p:cNvSpPr/>
                    <p:nvPr/>
                  </p:nvSpPr>
                  <p:spPr>
                    <a:xfrm rot="20015710">
                      <a:off x="9090928" y="5809722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0" name="Freeform: Shape 39">
                      <a:extLst>
                        <a:ext uri="{FF2B5EF4-FFF2-40B4-BE49-F238E27FC236}">
                          <a16:creationId xmlns:a16="http://schemas.microsoft.com/office/drawing/2014/main" id="{FC55634D-BBEF-E52C-7840-4C875B26DF0C}"/>
                        </a:ext>
                      </a:extLst>
                    </p:cNvPr>
                    <p:cNvSpPr/>
                    <p:nvPr/>
                  </p:nvSpPr>
                  <p:spPr>
                    <a:xfrm rot="19523177">
                      <a:off x="9045448" y="5857997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1" name="Freeform: Shape 40">
                      <a:extLst>
                        <a:ext uri="{FF2B5EF4-FFF2-40B4-BE49-F238E27FC236}">
                          <a16:creationId xmlns:a16="http://schemas.microsoft.com/office/drawing/2014/main" id="{D7CB812F-6732-308D-511C-ECB195C43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0544" y="5896332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2" name="Freeform: Shape 41">
                      <a:extLst>
                        <a:ext uri="{FF2B5EF4-FFF2-40B4-BE49-F238E27FC236}">
                          <a16:creationId xmlns:a16="http://schemas.microsoft.com/office/drawing/2014/main" id="{A4A2612B-CA97-02A1-4581-6EDFF279E8EF}"/>
                        </a:ext>
                      </a:extLst>
                    </p:cNvPr>
                    <p:cNvSpPr/>
                    <p:nvPr/>
                  </p:nvSpPr>
                  <p:spPr>
                    <a:xfrm rot="421530">
                      <a:off x="8893075" y="5923669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3" name="Freeform: Shape 42">
                      <a:extLst>
                        <a:ext uri="{FF2B5EF4-FFF2-40B4-BE49-F238E27FC236}">
                          <a16:creationId xmlns:a16="http://schemas.microsoft.com/office/drawing/2014/main" id="{E1DEEAF9-C40C-8079-3A6E-CA220F15840C}"/>
                        </a:ext>
                      </a:extLst>
                    </p:cNvPr>
                    <p:cNvSpPr/>
                    <p:nvPr/>
                  </p:nvSpPr>
                  <p:spPr>
                    <a:xfrm rot="13055024">
                      <a:off x="8800546" y="5914725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4" name="Freeform: Shape 43">
                      <a:extLst>
                        <a:ext uri="{FF2B5EF4-FFF2-40B4-BE49-F238E27FC236}">
                          <a16:creationId xmlns:a16="http://schemas.microsoft.com/office/drawing/2014/main" id="{D2C9B6DB-39B2-5E66-36AA-54C067E0A03B}"/>
                        </a:ext>
                      </a:extLst>
                    </p:cNvPr>
                    <p:cNvSpPr/>
                    <p:nvPr/>
                  </p:nvSpPr>
                  <p:spPr>
                    <a:xfrm rot="13196443">
                      <a:off x="8720746" y="5882280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5" name="Freeform: Shape 44">
                      <a:extLst>
                        <a:ext uri="{FF2B5EF4-FFF2-40B4-BE49-F238E27FC236}">
                          <a16:creationId xmlns:a16="http://schemas.microsoft.com/office/drawing/2014/main" id="{DB4F449F-9C1C-E3D6-1366-BA36F475EC92}"/>
                        </a:ext>
                      </a:extLst>
                    </p:cNvPr>
                    <p:cNvSpPr/>
                    <p:nvPr/>
                  </p:nvSpPr>
                  <p:spPr>
                    <a:xfrm rot="14843661">
                      <a:off x="8648105" y="5834707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6" name="Freeform: Shape 45">
                      <a:extLst>
                        <a:ext uri="{FF2B5EF4-FFF2-40B4-BE49-F238E27FC236}">
                          <a16:creationId xmlns:a16="http://schemas.microsoft.com/office/drawing/2014/main" id="{C51634B5-5AD0-9B9D-3922-579F8A61A3E8}"/>
                        </a:ext>
                      </a:extLst>
                    </p:cNvPr>
                    <p:cNvSpPr/>
                    <p:nvPr/>
                  </p:nvSpPr>
                  <p:spPr>
                    <a:xfrm rot="15857614">
                      <a:off x="8613738" y="5782875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1129B25-1037-1C8F-B971-507A77BE7597}"/>
                    </a:ext>
                  </a:extLst>
                </p:cNvPr>
                <p:cNvSpPr/>
                <p:nvPr/>
              </p:nvSpPr>
              <p:spPr>
                <a:xfrm>
                  <a:off x="8502723" y="5673071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539F12F0-0027-23B0-9E9A-4EF8C7BB6447}"/>
                    </a:ext>
                  </a:extLst>
                </p:cNvPr>
                <p:cNvSpPr/>
                <p:nvPr/>
              </p:nvSpPr>
              <p:spPr>
                <a:xfrm>
                  <a:off x="8625389" y="5752875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6A85E046-5882-2678-B0F5-A721E2BF6E87}"/>
                    </a:ext>
                  </a:extLst>
                </p:cNvPr>
                <p:cNvSpPr/>
                <p:nvPr/>
              </p:nvSpPr>
              <p:spPr>
                <a:xfrm>
                  <a:off x="8763281" y="5729358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4082BBED-A198-01E0-9474-8E8EA36F09BD}"/>
                    </a:ext>
                  </a:extLst>
                </p:cNvPr>
                <p:cNvSpPr/>
                <p:nvPr/>
              </p:nvSpPr>
              <p:spPr>
                <a:xfrm>
                  <a:off x="8926694" y="5759605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D52D7E40-D0B6-5F51-62CF-2C4853F34258}"/>
                    </a:ext>
                  </a:extLst>
                </p:cNvPr>
                <p:cNvSpPr/>
                <p:nvPr/>
              </p:nvSpPr>
              <p:spPr>
                <a:xfrm>
                  <a:off x="9094802" y="5724171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E4A7A99-3211-420F-5292-42DFF8E6D3F1}"/>
                    </a:ext>
                  </a:extLst>
                </p:cNvPr>
                <p:cNvSpPr/>
                <p:nvPr/>
              </p:nvSpPr>
              <p:spPr>
                <a:xfrm>
                  <a:off x="8608122" y="5891807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06A6B57D-0099-3D71-B9AF-04368FD6EC52}"/>
                    </a:ext>
                  </a:extLst>
                </p:cNvPr>
                <p:cNvSpPr/>
                <p:nvPr/>
              </p:nvSpPr>
              <p:spPr>
                <a:xfrm>
                  <a:off x="9365675" y="5938765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F19C4C4B-58B4-C327-2579-0D16D59152A8}"/>
                    </a:ext>
                  </a:extLst>
                </p:cNvPr>
                <p:cNvSpPr/>
                <p:nvPr/>
              </p:nvSpPr>
              <p:spPr>
                <a:xfrm>
                  <a:off x="9184096" y="5916404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07F566CD-02E1-FB79-6061-BBA2191038B8}"/>
                    </a:ext>
                  </a:extLst>
                </p:cNvPr>
                <p:cNvSpPr/>
                <p:nvPr/>
              </p:nvSpPr>
              <p:spPr>
                <a:xfrm>
                  <a:off x="9557533" y="6023953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AD55854D-2FD3-E63B-7410-4F7916C688A6}"/>
                    </a:ext>
                  </a:extLst>
                </p:cNvPr>
                <p:cNvSpPr/>
                <p:nvPr/>
              </p:nvSpPr>
              <p:spPr>
                <a:xfrm>
                  <a:off x="9786240" y="6011977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D05665C5-7702-31D7-5477-59AB81BBBBED}"/>
                    </a:ext>
                  </a:extLst>
                </p:cNvPr>
                <p:cNvSpPr/>
                <p:nvPr/>
              </p:nvSpPr>
              <p:spPr>
                <a:xfrm>
                  <a:off x="10014348" y="5976083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0C060AAC-281C-6B90-C6B5-8A81A445818D}"/>
                    </a:ext>
                  </a:extLst>
                </p:cNvPr>
                <p:cNvSpPr/>
                <p:nvPr/>
              </p:nvSpPr>
              <p:spPr>
                <a:xfrm>
                  <a:off x="9659494" y="5656248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A85BD91D-E402-C2B2-8962-06997E856C01}"/>
                    </a:ext>
                  </a:extLst>
                </p:cNvPr>
                <p:cNvSpPr/>
                <p:nvPr/>
              </p:nvSpPr>
              <p:spPr>
                <a:xfrm rot="1951660">
                  <a:off x="9569621" y="5753991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0121172-E6FF-BC52-EC6A-45BDFCDCFA9A}"/>
                    </a:ext>
                  </a:extLst>
                </p:cNvPr>
                <p:cNvSpPr/>
                <p:nvPr/>
              </p:nvSpPr>
              <p:spPr>
                <a:xfrm>
                  <a:off x="9972186" y="5789395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0F5B62BD-8369-C2B0-AD6A-64C1C35F918A}"/>
                    </a:ext>
                  </a:extLst>
                </p:cNvPr>
                <p:cNvSpPr/>
                <p:nvPr/>
              </p:nvSpPr>
              <p:spPr>
                <a:xfrm>
                  <a:off x="9821435" y="5788386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ED83AA83-0849-B490-1499-C5373BFF9574}"/>
                    </a:ext>
                  </a:extLst>
                </p:cNvPr>
                <p:cNvSpPr/>
                <p:nvPr/>
              </p:nvSpPr>
              <p:spPr>
                <a:xfrm>
                  <a:off x="10207580" y="5711513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FB23EE4D-A26D-4F8A-2A09-0D7FB786A755}"/>
                    </a:ext>
                  </a:extLst>
                </p:cNvPr>
                <p:cNvSpPr/>
                <p:nvPr/>
              </p:nvSpPr>
              <p:spPr>
                <a:xfrm>
                  <a:off x="9017364" y="6024141"/>
                  <a:ext cx="64435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9A6D2BB0-BB9C-B0F1-6513-C68514A66D1B}"/>
                    </a:ext>
                  </a:extLst>
                </p:cNvPr>
                <p:cNvSpPr/>
                <p:nvPr/>
              </p:nvSpPr>
              <p:spPr>
                <a:xfrm>
                  <a:off x="8871492" y="5912559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91FB06AF-62C8-78AE-2678-4EA3F4C586B0}"/>
                  </a:ext>
                </a:extLst>
              </p:cNvPr>
              <p:cNvSpPr/>
              <p:nvPr/>
            </p:nvSpPr>
            <p:spPr>
              <a:xfrm rot="6203823">
                <a:off x="8251711" y="4791355"/>
                <a:ext cx="1361368" cy="1324209"/>
              </a:xfrm>
              <a:prstGeom prst="arc">
                <a:avLst>
                  <a:gd name="adj1" fmla="val 18391004"/>
                  <a:gd name="adj2" fmla="val 1162027"/>
                </a:avLst>
              </a:prstGeom>
              <a:ln w="19050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n w="38100">
                    <a:solidFill>
                      <a:schemeClr val="tx1"/>
                    </a:solidFill>
                  </a:ln>
                </a:endParaRP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12313BE-E31C-2B95-E672-0699558B83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68589" y="5684578"/>
                <a:ext cx="28823" cy="37953"/>
              </a:xfrm>
              <a:prstGeom prst="straightConnector1">
                <a:avLst/>
              </a:prstGeom>
              <a:ln w="190500">
                <a:solidFill>
                  <a:schemeClr val="tx1"/>
                </a:solidFill>
                <a:tailEnd type="triangle"/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4B690D16-618A-8C82-3EFB-64B10BAD9C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23969" y="5886773"/>
                <a:ext cx="61412" cy="42264"/>
              </a:xfrm>
              <a:prstGeom prst="straightConnector1">
                <a:avLst/>
              </a:prstGeom>
              <a:ln w="190500">
                <a:solidFill>
                  <a:schemeClr val="tx1"/>
                </a:solidFill>
                <a:tailEnd type="triangle"/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8295920A-8502-EC85-C123-7654B3D858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40522" y="6108835"/>
                <a:ext cx="188303" cy="429694"/>
              </a:xfrm>
              <a:prstGeom prst="straightConnector1">
                <a:avLst/>
              </a:prstGeom>
              <a:ln w="127000">
                <a:solidFill>
                  <a:schemeClr val="accent4">
                    <a:lumMod val="75000"/>
                  </a:schemeClr>
                </a:solidFill>
                <a:tailEnd type="triangle"/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0BB7005-EFE0-842D-09F1-3815B53B7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2153" y="5405586"/>
                <a:ext cx="12341" cy="448809"/>
              </a:xfrm>
              <a:prstGeom prst="straightConnector1">
                <a:avLst/>
              </a:prstGeom>
              <a:ln w="190500">
                <a:solidFill>
                  <a:schemeClr val="accent4">
                    <a:lumMod val="50000"/>
                  </a:schemeClr>
                </a:solidFill>
                <a:tailEnd type="triangle"/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E4743F-09C0-6ED7-2984-68B64C465032}"/>
                  </a:ext>
                </a:extLst>
              </p:cNvPr>
              <p:cNvSpPr txBox="1"/>
              <p:nvPr/>
            </p:nvSpPr>
            <p:spPr>
              <a:xfrm>
                <a:off x="8709899" y="5624877"/>
                <a:ext cx="914815" cy="340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4"/>
                    </a:solidFill>
                    <a:cs typeface="Adobe Arabic" panose="02040503050201020203" pitchFamily="18" charset="-78"/>
                  </a:rPr>
                  <a:t>Shear Stress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FF8FAF-CA23-FA60-6C96-0BFBE422A46D}"/>
                  </a:ext>
                </a:extLst>
              </p:cNvPr>
              <p:cNvSpPr txBox="1"/>
              <p:nvPr/>
            </p:nvSpPr>
            <p:spPr>
              <a:xfrm>
                <a:off x="8420323" y="5119363"/>
                <a:ext cx="1419398" cy="340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  <a:cs typeface="Adobe Arabic" panose="02040503050201020203" pitchFamily="18" charset="-78"/>
                  </a:rPr>
                  <a:t>Pressure </a:t>
                </a:r>
              </a:p>
              <a:p>
                <a:pPr algn="ctr"/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  <a:cs typeface="Adobe Arabic" panose="02040503050201020203" pitchFamily="18" charset="-78"/>
                  </a:rPr>
                  <a:t>(Normal Stress)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A73DE6-4AE9-41B0-9E9E-BCFCA4506CDA}"/>
                  </a:ext>
                </a:extLst>
              </p:cNvPr>
              <p:cNvSpPr txBox="1"/>
              <p:nvPr/>
            </p:nvSpPr>
            <p:spPr>
              <a:xfrm>
                <a:off x="8631033" y="6191193"/>
                <a:ext cx="846721" cy="1925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cs typeface="Adobe Arabic" panose="02040503050201020203" pitchFamily="18" charset="-78"/>
                  </a:rPr>
                  <a:t>Stretching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E595D175-8FB4-D602-EAD2-D0FB2AA469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7254" y="5852214"/>
                <a:ext cx="485816" cy="89526"/>
              </a:xfrm>
              <a:prstGeom prst="straightConnector1">
                <a:avLst/>
              </a:prstGeom>
              <a:ln w="190500">
                <a:solidFill>
                  <a:schemeClr val="accent4">
                    <a:lumMod val="60000"/>
                    <a:lumOff val="40000"/>
                  </a:schemeClr>
                </a:solidFill>
                <a:tailEnd type="triangle"/>
              </a:ln>
              <a:scene3d>
                <a:camera prst="isometricOffAxis2Top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45477794-F785-3271-27CC-3ADB615EE10C}"/>
              </a:ext>
            </a:extLst>
          </p:cNvPr>
          <p:cNvSpPr txBox="1"/>
          <p:nvPr/>
        </p:nvSpPr>
        <p:spPr>
          <a:xfrm>
            <a:off x="6612594" y="4273365"/>
            <a:ext cx="148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cs typeface="Adobe Hebrew" panose="02040503050201020203" pitchFamily="18" charset="-79"/>
              </a:rPr>
              <a:t>~2.5cm</a:t>
            </a:r>
            <a:endParaRPr lang="en-US" sz="1800" b="1" i="1" dirty="0">
              <a:cs typeface="Adobe Hebrew" panose="02040503050201020203" pitchFamily="18" charset="-79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34B410B-97D5-441F-5445-A66E0D6DE69F}"/>
              </a:ext>
            </a:extLst>
          </p:cNvPr>
          <p:cNvSpPr txBox="1"/>
          <p:nvPr/>
        </p:nvSpPr>
        <p:spPr>
          <a:xfrm>
            <a:off x="11558493" y="652833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4/40</a:t>
            </a:r>
          </a:p>
        </p:txBody>
      </p:sp>
    </p:spTree>
    <p:extLst>
      <p:ext uri="{BB962C8B-B14F-4D97-AF65-F5344CB8AC3E}">
        <p14:creationId xmlns:p14="http://schemas.microsoft.com/office/powerpoint/2010/main" val="45464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4B693-0AFB-0B9F-6394-01389A26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D8DCB42-2D48-382F-7180-8469FA94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54" y="-13216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Book Antiqua" panose="02040602050305030304" pitchFamily="18" charset="0"/>
              </a:rPr>
              <a:t>Why Do We Care About MPA and PAECs?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A91DDD6-3FF9-CDE4-9CEA-B1F5D5BEF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3" y="873335"/>
            <a:ext cx="11760158" cy="511132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Motivation: </a:t>
            </a:r>
          </a:p>
          <a:p>
            <a:pPr marL="0" indent="0">
              <a:buNone/>
            </a:pPr>
            <a:r>
              <a:rPr lang="en-US" sz="2000" dirty="0"/>
              <a:t>Children with congenital heart disease can develop pulmonary hypertension (PH). Current pharmaceuticals do not offer longer term alleviation for PH.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Goal:</a:t>
            </a:r>
          </a:p>
          <a:p>
            <a:pPr marL="0" indent="0">
              <a:buNone/>
            </a:pPr>
            <a:r>
              <a:rPr lang="en-US" sz="2000" dirty="0"/>
              <a:t>We can study pulmonary hypertension by looking at the genetic response of PAECS varying changes in flow shear stress, pressure and stretching. With hopes of developing better pharmaceuticals.</a:t>
            </a:r>
          </a:p>
          <a:p>
            <a:pPr lvl="1"/>
            <a:r>
              <a:rPr lang="en-US" sz="2000" dirty="0"/>
              <a:t>With flow apparatus that apply these loads uniformly to large testing sample using a flow rate that idealizes main pulmonary artery flow.</a:t>
            </a:r>
          </a:p>
          <a:p>
            <a:endParaRPr lang="en-US" sz="2400" dirty="0"/>
          </a:p>
          <a:p>
            <a:endParaRPr lang="en-US" dirty="0"/>
          </a:p>
        </p:txBody>
      </p:sp>
      <p:pic>
        <p:nvPicPr>
          <p:cNvPr id="3" name="Picture 2" descr="A graph of a function&#10;&#10;Description automatically generated">
            <a:extLst>
              <a:ext uri="{FF2B5EF4-FFF2-40B4-BE49-F238E27FC236}">
                <a16:creationId xmlns:a16="http://schemas.microsoft.com/office/drawing/2014/main" id="{45562EFD-2585-E87D-8F48-C944A3C298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022" y="3755923"/>
            <a:ext cx="6263453" cy="3102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036FDC-865D-3C3D-9199-1E3FC945897C}"/>
              </a:ext>
            </a:extLst>
          </p:cNvPr>
          <p:cNvSpPr txBox="1"/>
          <p:nvPr/>
        </p:nvSpPr>
        <p:spPr>
          <a:xfrm>
            <a:off x="11558493" y="652833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5/40</a:t>
            </a:r>
          </a:p>
        </p:txBody>
      </p:sp>
    </p:spTree>
    <p:extLst>
      <p:ext uri="{BB962C8B-B14F-4D97-AF65-F5344CB8AC3E}">
        <p14:creationId xmlns:p14="http://schemas.microsoft.com/office/powerpoint/2010/main" val="80681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E5FE-F477-9C9C-C66B-7ADEFD9F3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DD5CAC-854C-6D50-DFEB-9F70265C0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588" y="1553048"/>
            <a:ext cx="11190693" cy="324534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 </a:t>
            </a:r>
            <a:r>
              <a:rPr lang="en-US" b="1" dirty="0">
                <a:latin typeface="Book Antiqua" panose="02040602050305030304" pitchFamily="18" charset="0"/>
              </a:rPr>
              <a:t>Chapter 1</a:t>
            </a:r>
            <a:r>
              <a:rPr lang="en-US" dirty="0">
                <a:latin typeface="Book Antiqua" panose="02040602050305030304" pitchFamily="18" charset="0"/>
              </a:rPr>
              <a:t>: A Multi-Chamber Pulsating-Flow Device with Optimized Spatial</a:t>
            </a:r>
            <a:br>
              <a:rPr lang="en-US" dirty="0">
                <a:latin typeface="Book Antiqua" panose="02040602050305030304" pitchFamily="18" charset="0"/>
              </a:rPr>
            </a:br>
            <a:r>
              <a:rPr lang="en-US" dirty="0">
                <a:latin typeface="Book Antiqua" panose="02040602050305030304" pitchFamily="18" charset="0"/>
              </a:rPr>
              <a:t>Shear Stress and Pressure for Endothelial-Cell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17FEB-E0FF-C9D1-B2EB-910279F5CCD8}"/>
              </a:ext>
            </a:extLst>
          </p:cNvPr>
          <p:cNvSpPr txBox="1"/>
          <p:nvPr/>
        </p:nvSpPr>
        <p:spPr>
          <a:xfrm>
            <a:off x="11558493" y="652833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6/40</a:t>
            </a:r>
          </a:p>
        </p:txBody>
      </p:sp>
    </p:spTree>
    <p:extLst>
      <p:ext uri="{BB962C8B-B14F-4D97-AF65-F5344CB8AC3E}">
        <p14:creationId xmlns:p14="http://schemas.microsoft.com/office/powerpoint/2010/main" val="902639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271B2-7345-82FA-8184-E325E58B2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D6AF-080E-4D83-33C5-53816E4C8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9148" y="190886"/>
            <a:ext cx="2891114" cy="746209"/>
          </a:xfrm>
        </p:spPr>
        <p:txBody>
          <a:bodyPr>
            <a:normAutofit/>
          </a:bodyPr>
          <a:lstStyle/>
          <a:p>
            <a:r>
              <a:rPr lang="en-US" dirty="0">
                <a:latin typeface="Book Antiqua" panose="02040602050305030304" pitchFamily="18" charset="0"/>
                <a:cs typeface="Adobe Hebrew" panose="02040503050201020203" pitchFamily="18" charset="-79"/>
              </a:rPr>
              <a:t>Our Focus</a:t>
            </a:r>
          </a:p>
        </p:txBody>
      </p:sp>
      <p:pic>
        <p:nvPicPr>
          <p:cNvPr id="16" name="Picture 15" descr="A graph of a function&#10;&#10;Description automatically generated">
            <a:extLst>
              <a:ext uri="{FF2B5EF4-FFF2-40B4-BE49-F238E27FC236}">
                <a16:creationId xmlns:a16="http://schemas.microsoft.com/office/drawing/2014/main" id="{80BC04BA-EFF8-61BE-6312-3DCF056D63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" y="2761055"/>
            <a:ext cx="2661693" cy="1858540"/>
          </a:xfrm>
          <a:prstGeom prst="rect">
            <a:avLst/>
          </a:prstGeom>
        </p:spPr>
      </p:pic>
      <p:pic>
        <p:nvPicPr>
          <p:cNvPr id="23" name="Picture 22" descr="A diagram of a function&#10;&#10;Description automatically generated">
            <a:extLst>
              <a:ext uri="{FF2B5EF4-FFF2-40B4-BE49-F238E27FC236}">
                <a16:creationId xmlns:a16="http://schemas.microsoft.com/office/drawing/2014/main" id="{12B0D12D-7D5A-0CAB-9ABD-505EFFDA9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57" y="0"/>
            <a:ext cx="2651159" cy="1782310"/>
          </a:xfrm>
          <a:prstGeom prst="rect">
            <a:avLst/>
          </a:prstGeom>
        </p:spPr>
      </p:pic>
      <p:pic>
        <p:nvPicPr>
          <p:cNvPr id="667" name="Picture 666" descr="A diagram of a function&#10;&#10;Description automatically generated">
            <a:extLst>
              <a:ext uri="{FF2B5EF4-FFF2-40B4-BE49-F238E27FC236}">
                <a16:creationId xmlns:a16="http://schemas.microsoft.com/office/drawing/2014/main" id="{D95E2744-E372-D2D3-77E4-DFD51D5793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611" y="602684"/>
            <a:ext cx="2667282" cy="1791746"/>
          </a:xfrm>
          <a:prstGeom prst="rect">
            <a:avLst/>
          </a:prstGeom>
        </p:spPr>
      </p:pic>
      <p:pic>
        <p:nvPicPr>
          <p:cNvPr id="317" name="Picture 316" descr="A graph of a function&#10;&#10;Description automatically generated">
            <a:extLst>
              <a:ext uri="{FF2B5EF4-FFF2-40B4-BE49-F238E27FC236}">
                <a16:creationId xmlns:a16="http://schemas.microsoft.com/office/drawing/2014/main" id="{93E1F595-8057-DCD8-3143-73D3141A73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715" y="1098662"/>
            <a:ext cx="2651159" cy="1798697"/>
          </a:xfrm>
          <a:prstGeom prst="rect">
            <a:avLst/>
          </a:prstGeom>
        </p:spPr>
      </p:pic>
      <p:pic>
        <p:nvPicPr>
          <p:cNvPr id="330" name="Picture 329" descr="A diagram of a function&#10;&#10;Description automatically generated">
            <a:extLst>
              <a:ext uri="{FF2B5EF4-FFF2-40B4-BE49-F238E27FC236}">
                <a16:creationId xmlns:a16="http://schemas.microsoft.com/office/drawing/2014/main" id="{F54D2BD0-C9C2-E394-B838-48436BA937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143" y="1661173"/>
            <a:ext cx="2651159" cy="1798621"/>
          </a:xfrm>
          <a:prstGeom prst="rect">
            <a:avLst/>
          </a:prstGeom>
        </p:spPr>
      </p:pic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D585F7F4-3E2A-0AB5-80D1-DFF68B534C7E}"/>
              </a:ext>
            </a:extLst>
          </p:cNvPr>
          <p:cNvCxnSpPr/>
          <p:nvPr/>
        </p:nvCxnSpPr>
        <p:spPr>
          <a:xfrm flipH="1">
            <a:off x="4680784" y="2401015"/>
            <a:ext cx="381370" cy="37780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B47816A1-D0B6-C444-33EF-AC79A4924589}"/>
              </a:ext>
            </a:extLst>
          </p:cNvPr>
          <p:cNvCxnSpPr/>
          <p:nvPr/>
        </p:nvCxnSpPr>
        <p:spPr>
          <a:xfrm flipH="1">
            <a:off x="7253846" y="2986490"/>
            <a:ext cx="381370" cy="37780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E3EB3895-380A-E52C-D431-DD4B9C454AB3}"/>
              </a:ext>
            </a:extLst>
          </p:cNvPr>
          <p:cNvCxnSpPr/>
          <p:nvPr/>
        </p:nvCxnSpPr>
        <p:spPr>
          <a:xfrm flipH="1">
            <a:off x="9823049" y="3550163"/>
            <a:ext cx="381370" cy="37780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8F5FFD3-879C-EC6E-0C1E-32EAE59C4117}"/>
              </a:ext>
            </a:extLst>
          </p:cNvPr>
          <p:cNvSpPr txBox="1"/>
          <p:nvPr/>
        </p:nvSpPr>
        <p:spPr>
          <a:xfrm>
            <a:off x="-91408" y="1722951"/>
            <a:ext cx="769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Q(t) </a:t>
            </a:r>
            <a:endParaRPr lang="en-US" sz="24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7AE55E0-37B4-1429-42E6-E5E7CE4BD29F}"/>
              </a:ext>
            </a:extLst>
          </p:cNvPr>
          <p:cNvGrpSpPr/>
          <p:nvPr/>
        </p:nvGrpSpPr>
        <p:grpSpPr>
          <a:xfrm>
            <a:off x="419139" y="1777940"/>
            <a:ext cx="11534323" cy="3502084"/>
            <a:chOff x="387379" y="1992625"/>
            <a:chExt cx="11534323" cy="350208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031DBEC-5128-F330-4105-9573529070CF}"/>
                </a:ext>
              </a:extLst>
            </p:cNvPr>
            <p:cNvGrpSpPr/>
            <p:nvPr/>
          </p:nvGrpSpPr>
          <p:grpSpPr>
            <a:xfrm>
              <a:off x="387379" y="1992629"/>
              <a:ext cx="11534323" cy="3502080"/>
              <a:chOff x="-2" y="1915405"/>
              <a:chExt cx="11534323" cy="350208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E69B9A0B-220B-6F88-C559-C88622AF8643}"/>
                  </a:ext>
                </a:extLst>
              </p:cNvPr>
              <p:cNvGrpSpPr/>
              <p:nvPr/>
            </p:nvGrpSpPr>
            <p:grpSpPr>
              <a:xfrm>
                <a:off x="-2" y="1915405"/>
                <a:ext cx="11534322" cy="3502079"/>
                <a:chOff x="-3217" y="2171973"/>
                <a:chExt cx="11102476" cy="3319451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3D1FC3A-683E-C277-91ED-59CBF7B74D4C}"/>
                    </a:ext>
                  </a:extLst>
                </p:cNvPr>
                <p:cNvGrpSpPr/>
                <p:nvPr/>
              </p:nvGrpSpPr>
              <p:grpSpPr>
                <a:xfrm>
                  <a:off x="-3216" y="2352297"/>
                  <a:ext cx="2589561" cy="1172224"/>
                  <a:chOff x="3211165" y="5107011"/>
                  <a:chExt cx="2595490" cy="970671"/>
                </a:xfrm>
              </p:grpSpPr>
              <p:sp>
                <p:nvSpPr>
                  <p:cNvPr id="471" name="Flowchart: Preparation 470">
                    <a:extLst>
                      <a:ext uri="{FF2B5EF4-FFF2-40B4-BE49-F238E27FC236}">
                        <a16:creationId xmlns:a16="http://schemas.microsoft.com/office/drawing/2014/main" id="{164BA98D-0B3A-A228-2FD4-114B1900D9EC}"/>
                      </a:ext>
                    </a:extLst>
                  </p:cNvPr>
                  <p:cNvSpPr/>
                  <p:nvPr/>
                </p:nvSpPr>
                <p:spPr>
                  <a:xfrm>
                    <a:off x="3211165" y="5107011"/>
                    <a:ext cx="2595490" cy="970671"/>
                  </a:xfrm>
                  <a:prstGeom prst="flowChartPreparation">
                    <a:avLst/>
                  </a:prstGeom>
                  <a:solidFill>
                    <a:srgbClr val="00B0F0"/>
                  </a:solidFill>
                  <a:ln w="19050">
                    <a:solidFill>
                      <a:schemeClr val="tx1"/>
                    </a:solidFill>
                  </a:ln>
                  <a:scene3d>
                    <a:camera prst="isometricOffAxis2Top"/>
                    <a:lightRig rig="threePt" dir="t"/>
                  </a:scene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472" name="Straight Connector 471">
                    <a:extLst>
                      <a:ext uri="{FF2B5EF4-FFF2-40B4-BE49-F238E27FC236}">
                        <a16:creationId xmlns:a16="http://schemas.microsoft.com/office/drawing/2014/main" id="{4477173C-996B-98B9-025C-7483FEADB2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39446" y="5292052"/>
                    <a:ext cx="0" cy="14771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3" name="Straight Connector 472">
                    <a:extLst>
                      <a:ext uri="{FF2B5EF4-FFF2-40B4-BE49-F238E27FC236}">
                        <a16:creationId xmlns:a16="http://schemas.microsoft.com/office/drawing/2014/main" id="{BB15F484-F186-85C2-12EA-39048EA0AB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949866" y="5671025"/>
                    <a:ext cx="0" cy="14046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4" name="Straight Connector 473">
                    <a:extLst>
                      <a:ext uri="{FF2B5EF4-FFF2-40B4-BE49-F238E27FC236}">
                        <a16:creationId xmlns:a16="http://schemas.microsoft.com/office/drawing/2014/main" id="{C5024BED-FD71-5D31-7C1B-F0C63EF2B4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678797" y="5588465"/>
                    <a:ext cx="0" cy="15150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5" name="Straight Connector 474">
                    <a:extLst>
                      <a:ext uri="{FF2B5EF4-FFF2-40B4-BE49-F238E27FC236}">
                        <a16:creationId xmlns:a16="http://schemas.microsoft.com/office/drawing/2014/main" id="{EF3F73B5-9D3F-B3B4-0774-57A9EB53BA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064771" y="5220801"/>
                    <a:ext cx="0" cy="14510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6" name="Straight Connector 475">
                    <a:extLst>
                      <a:ext uri="{FF2B5EF4-FFF2-40B4-BE49-F238E27FC236}">
                        <a16:creationId xmlns:a16="http://schemas.microsoft.com/office/drawing/2014/main" id="{50B25E56-5BD3-FEF6-EAA6-D96ED51C2C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462377" y="5394072"/>
                    <a:ext cx="0" cy="14771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7" name="Straight Connector 476">
                    <a:extLst>
                      <a:ext uri="{FF2B5EF4-FFF2-40B4-BE49-F238E27FC236}">
                        <a16:creationId xmlns:a16="http://schemas.microsoft.com/office/drawing/2014/main" id="{D761EAB1-304F-945B-A638-75300A8FDE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47641" y="5491975"/>
                    <a:ext cx="0" cy="14771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" name="Cylinder 16">
                  <a:extLst>
                    <a:ext uri="{FF2B5EF4-FFF2-40B4-BE49-F238E27FC236}">
                      <a16:creationId xmlns:a16="http://schemas.microsoft.com/office/drawing/2014/main" id="{6D47337E-1062-529F-9796-775746D5426A}"/>
                    </a:ext>
                  </a:extLst>
                </p:cNvPr>
                <p:cNvSpPr/>
                <p:nvPr/>
              </p:nvSpPr>
              <p:spPr>
                <a:xfrm>
                  <a:off x="10075366" y="5080421"/>
                  <a:ext cx="1023893" cy="411003"/>
                </a:xfrm>
                <a:prstGeom prst="can">
                  <a:avLst>
                    <a:gd name="adj" fmla="val 50000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Cylinder 17">
                  <a:extLst>
                    <a:ext uri="{FF2B5EF4-FFF2-40B4-BE49-F238E27FC236}">
                      <a16:creationId xmlns:a16="http://schemas.microsoft.com/office/drawing/2014/main" id="{F93AF6CB-6446-E25E-DA6A-152A12FBDBAD}"/>
                    </a:ext>
                  </a:extLst>
                </p:cNvPr>
                <p:cNvSpPr/>
                <p:nvPr/>
              </p:nvSpPr>
              <p:spPr>
                <a:xfrm flipH="1">
                  <a:off x="10760076" y="3982495"/>
                  <a:ext cx="191344" cy="1230360"/>
                </a:xfrm>
                <a:prstGeom prst="can">
                  <a:avLst>
                    <a:gd name="adj" fmla="val 37285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20913EA8-BF92-E9CB-9D1E-598BA378B608}"/>
                    </a:ext>
                  </a:extLst>
                </p:cNvPr>
                <p:cNvGrpSpPr/>
                <p:nvPr/>
              </p:nvGrpSpPr>
              <p:grpSpPr>
                <a:xfrm>
                  <a:off x="965939" y="2558287"/>
                  <a:ext cx="692352" cy="719964"/>
                  <a:chOff x="465024" y="3542555"/>
                  <a:chExt cx="692352" cy="719964"/>
                </a:xfrm>
                <a:scene3d>
                  <a:camera prst="isometricOffAxis2Top"/>
                  <a:lightRig rig="threePt" dir="t"/>
                </a:scene3d>
              </p:grpSpPr>
              <p:sp>
                <p:nvSpPr>
                  <p:cNvPr id="469" name="Rectangle 468">
                    <a:extLst>
                      <a:ext uri="{FF2B5EF4-FFF2-40B4-BE49-F238E27FC236}">
                        <a16:creationId xmlns:a16="http://schemas.microsoft.com/office/drawing/2014/main" id="{15D5DF24-27DC-8742-6A93-AEF74F24F209}"/>
                      </a:ext>
                    </a:extLst>
                  </p:cNvPr>
                  <p:cNvSpPr/>
                  <p:nvPr/>
                </p:nvSpPr>
                <p:spPr>
                  <a:xfrm>
                    <a:off x="473569" y="3542555"/>
                    <a:ext cx="683807" cy="32700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  <a:latin typeface="Adobe Hebrew" panose="02040503050201020203" pitchFamily="18" charset="-79"/>
                      <a:cs typeface="Adobe Hebrew" panose="02040503050201020203" pitchFamily="18" charset="-79"/>
                    </a:endParaRPr>
                  </a:p>
                </p:txBody>
              </p:sp>
              <p:sp>
                <p:nvSpPr>
                  <p:cNvPr id="470" name="Rectangle 469">
                    <a:extLst>
                      <a:ext uri="{FF2B5EF4-FFF2-40B4-BE49-F238E27FC236}">
                        <a16:creationId xmlns:a16="http://schemas.microsoft.com/office/drawing/2014/main" id="{23764D0F-6C71-6134-7FB7-44442D3D96F2}"/>
                      </a:ext>
                    </a:extLst>
                  </p:cNvPr>
                  <p:cNvSpPr/>
                  <p:nvPr/>
                </p:nvSpPr>
                <p:spPr>
                  <a:xfrm>
                    <a:off x="465024" y="3935519"/>
                    <a:ext cx="683807" cy="32700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  <a:latin typeface="Adobe Hebrew" panose="02040503050201020203" pitchFamily="18" charset="-79"/>
                      <a:cs typeface="Adobe Hebrew" panose="02040503050201020203" pitchFamily="18" charset="-79"/>
                    </a:endParaRPr>
                  </a:p>
                </p:txBody>
              </p:sp>
            </p:grpSp>
            <p:sp>
              <p:nvSpPr>
                <p:cNvPr id="22" name="Flowchart: Preparation 21">
                  <a:extLst>
                    <a:ext uri="{FF2B5EF4-FFF2-40B4-BE49-F238E27FC236}">
                      <a16:creationId xmlns:a16="http://schemas.microsoft.com/office/drawing/2014/main" id="{57A4FD1D-8B0F-A019-734B-81A75830EF87}"/>
                    </a:ext>
                  </a:extLst>
                </p:cNvPr>
                <p:cNvSpPr/>
                <p:nvPr/>
              </p:nvSpPr>
              <p:spPr>
                <a:xfrm>
                  <a:off x="-3217" y="2171973"/>
                  <a:ext cx="2589561" cy="1172224"/>
                </a:xfrm>
                <a:prstGeom prst="flowChartPreparation">
                  <a:avLst/>
                </a:prstGeom>
                <a:noFill/>
                <a:ln w="19050">
                  <a:solidFill>
                    <a:schemeClr val="tx1"/>
                  </a:solidFill>
                </a:ln>
                <a:scene3d>
                  <a:camera prst="isometricOffAxis2Top"/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" name="Cylinder 23">
                  <a:extLst>
                    <a:ext uri="{FF2B5EF4-FFF2-40B4-BE49-F238E27FC236}">
                      <a16:creationId xmlns:a16="http://schemas.microsoft.com/office/drawing/2014/main" id="{13476053-BDDC-FF7A-70EF-335DD90175CF}"/>
                    </a:ext>
                  </a:extLst>
                </p:cNvPr>
                <p:cNvSpPr/>
                <p:nvPr/>
              </p:nvSpPr>
              <p:spPr>
                <a:xfrm flipH="1">
                  <a:off x="124772" y="2171974"/>
                  <a:ext cx="191344" cy="441933"/>
                </a:xfrm>
                <a:prstGeom prst="can">
                  <a:avLst>
                    <a:gd name="adj" fmla="val 37285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C2B90B18-9C71-094F-31BF-2CF873E4B6E4}"/>
                    </a:ext>
                  </a:extLst>
                </p:cNvPr>
                <p:cNvGrpSpPr/>
                <p:nvPr/>
              </p:nvGrpSpPr>
              <p:grpSpPr>
                <a:xfrm>
                  <a:off x="2493124" y="2760043"/>
                  <a:ext cx="2589561" cy="1352552"/>
                  <a:chOff x="2493124" y="2760042"/>
                  <a:chExt cx="2589561" cy="1352552"/>
                </a:xfrm>
              </p:grpSpPr>
              <p:grpSp>
                <p:nvGrpSpPr>
                  <p:cNvPr id="455" name="Group 454">
                    <a:extLst>
                      <a:ext uri="{FF2B5EF4-FFF2-40B4-BE49-F238E27FC236}">
                        <a16:creationId xmlns:a16="http://schemas.microsoft.com/office/drawing/2014/main" id="{ECAC631D-7627-3B7B-2D0A-E52CFE2043EA}"/>
                      </a:ext>
                    </a:extLst>
                  </p:cNvPr>
                  <p:cNvGrpSpPr/>
                  <p:nvPr/>
                </p:nvGrpSpPr>
                <p:grpSpPr>
                  <a:xfrm>
                    <a:off x="2493124" y="2940369"/>
                    <a:ext cx="2589561" cy="1172225"/>
                    <a:chOff x="2493124" y="2940369"/>
                    <a:chExt cx="2589561" cy="1172225"/>
                  </a:xfrm>
                </p:grpSpPr>
                <p:grpSp>
                  <p:nvGrpSpPr>
                    <p:cNvPr id="457" name="Group 456">
                      <a:extLst>
                        <a:ext uri="{FF2B5EF4-FFF2-40B4-BE49-F238E27FC236}">
                          <a16:creationId xmlns:a16="http://schemas.microsoft.com/office/drawing/2014/main" id="{44391AF4-EB28-D0C4-FD08-45610AD879B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93124" y="2940369"/>
                      <a:ext cx="2589561" cy="1172225"/>
                      <a:chOff x="3211164" y="5107010"/>
                      <a:chExt cx="2595490" cy="970671"/>
                    </a:xfrm>
                    <a:solidFill>
                      <a:srgbClr val="00B0F0"/>
                    </a:solidFill>
                  </p:grpSpPr>
                  <p:sp>
                    <p:nvSpPr>
                      <p:cNvPr id="461" name="Flowchart: Preparation 460">
                        <a:extLst>
                          <a:ext uri="{FF2B5EF4-FFF2-40B4-BE49-F238E27FC236}">
                            <a16:creationId xmlns:a16="http://schemas.microsoft.com/office/drawing/2014/main" id="{445AE990-01A9-8336-0CAC-E0FC4ED972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11164" y="5107010"/>
                        <a:ext cx="2595490" cy="970671"/>
                      </a:xfrm>
                      <a:prstGeom prst="flowChartPreparation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  <a:scene3d>
                        <a:camera prst="isometricOffAxis2Top"/>
                        <a:lightRig rig="threePt" dir="t"/>
                      </a:scene3d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cxnSp>
                    <p:nvCxnSpPr>
                      <p:cNvPr id="462" name="Straight Connector 461">
                        <a:extLst>
                          <a:ext uri="{FF2B5EF4-FFF2-40B4-BE49-F238E27FC236}">
                            <a16:creationId xmlns:a16="http://schemas.microsoft.com/office/drawing/2014/main" id="{029502B1-0AC1-466D-5F7C-E6235836C38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339446" y="5292052"/>
                        <a:ext cx="0" cy="147711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3" name="Straight Connector 462">
                        <a:extLst>
                          <a:ext uri="{FF2B5EF4-FFF2-40B4-BE49-F238E27FC236}">
                            <a16:creationId xmlns:a16="http://schemas.microsoft.com/office/drawing/2014/main" id="{CBCC0A66-A34D-BC03-879B-9DE3B49033C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49866" y="5671025"/>
                        <a:ext cx="0" cy="140461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5" name="Straight Connector 464">
                        <a:extLst>
                          <a:ext uri="{FF2B5EF4-FFF2-40B4-BE49-F238E27FC236}">
                            <a16:creationId xmlns:a16="http://schemas.microsoft.com/office/drawing/2014/main" id="{C0A29A05-1BC3-71D4-EAD0-3881526FE6B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5678797" y="5588465"/>
                        <a:ext cx="0" cy="15150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6" name="Straight Connector 465">
                        <a:extLst>
                          <a:ext uri="{FF2B5EF4-FFF2-40B4-BE49-F238E27FC236}">
                            <a16:creationId xmlns:a16="http://schemas.microsoft.com/office/drawing/2014/main" id="{5482753E-BA1E-4349-CFE1-70F0602B9FB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064771" y="5220801"/>
                        <a:ext cx="0" cy="145107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7" name="Straight Connector 466">
                        <a:extLst>
                          <a:ext uri="{FF2B5EF4-FFF2-40B4-BE49-F238E27FC236}">
                            <a16:creationId xmlns:a16="http://schemas.microsoft.com/office/drawing/2014/main" id="{3AEC72B0-1086-76E1-9C93-170EA61CECF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5462377" y="5394072"/>
                        <a:ext cx="0" cy="147711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8" name="Straight Connector 467">
                        <a:extLst>
                          <a:ext uri="{FF2B5EF4-FFF2-40B4-BE49-F238E27FC236}">
                            <a16:creationId xmlns:a16="http://schemas.microsoft.com/office/drawing/2014/main" id="{917B39AB-C821-C078-12C6-7DF0521BB75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547641" y="5491975"/>
                        <a:ext cx="0" cy="147711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458" name="Group 457">
                      <a:extLst>
                        <a:ext uri="{FF2B5EF4-FFF2-40B4-BE49-F238E27FC236}">
                          <a16:creationId xmlns:a16="http://schemas.microsoft.com/office/drawing/2014/main" id="{7C2A93A5-0DF9-C3D9-238F-122801672C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50157" y="3126418"/>
                      <a:ext cx="692352" cy="719964"/>
                      <a:chOff x="465024" y="3542555"/>
                      <a:chExt cx="692352" cy="719964"/>
                    </a:xfrm>
                    <a:scene3d>
                      <a:camera prst="isometricOffAxis2Top"/>
                      <a:lightRig rig="threePt" dir="t"/>
                    </a:scene3d>
                  </p:grpSpPr>
                  <p:sp>
                    <p:nvSpPr>
                      <p:cNvPr id="459" name="Rectangle 458">
                        <a:extLst>
                          <a:ext uri="{FF2B5EF4-FFF2-40B4-BE49-F238E27FC236}">
                            <a16:creationId xmlns:a16="http://schemas.microsoft.com/office/drawing/2014/main" id="{41912AD7-2724-B277-DA91-FD3E6EE76E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569" y="3542555"/>
                        <a:ext cx="683807" cy="32700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tx1"/>
                          </a:solidFill>
                          <a:latin typeface="Adobe Hebrew" panose="02040503050201020203" pitchFamily="18" charset="-79"/>
                          <a:cs typeface="Adobe Hebrew" panose="02040503050201020203" pitchFamily="18" charset="-79"/>
                        </a:endParaRPr>
                      </a:p>
                    </p:txBody>
                  </p:sp>
                  <p:sp>
                    <p:nvSpPr>
                      <p:cNvPr id="460" name="Rectangle 459">
                        <a:extLst>
                          <a:ext uri="{FF2B5EF4-FFF2-40B4-BE49-F238E27FC236}">
                            <a16:creationId xmlns:a16="http://schemas.microsoft.com/office/drawing/2014/main" id="{25C207E1-EA46-F3E1-DF64-7D318C5BD2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5024" y="3935519"/>
                        <a:ext cx="683807" cy="32700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tx1"/>
                          </a:solidFill>
                          <a:latin typeface="Adobe Hebrew" panose="02040503050201020203" pitchFamily="18" charset="-79"/>
                          <a:cs typeface="Adobe Hebrew" panose="02040503050201020203" pitchFamily="18" charset="-79"/>
                        </a:endParaRPr>
                      </a:p>
                    </p:txBody>
                  </p:sp>
                </p:grpSp>
              </p:grpSp>
              <p:sp>
                <p:nvSpPr>
                  <p:cNvPr id="456" name="Flowchart: Preparation 455">
                    <a:extLst>
                      <a:ext uri="{FF2B5EF4-FFF2-40B4-BE49-F238E27FC236}">
                        <a16:creationId xmlns:a16="http://schemas.microsoft.com/office/drawing/2014/main" id="{4AB5E10F-14B5-D7D7-4CE9-D403F9581A3C}"/>
                      </a:ext>
                    </a:extLst>
                  </p:cNvPr>
                  <p:cNvSpPr/>
                  <p:nvPr/>
                </p:nvSpPr>
                <p:spPr>
                  <a:xfrm>
                    <a:off x="2493124" y="2760042"/>
                    <a:ext cx="2589561" cy="1172225"/>
                  </a:xfrm>
                  <a:prstGeom prst="flowChartPreparation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  <a:scene3d>
                    <a:camera prst="isometricOffAxis2Top"/>
                    <a:lightRig rig="threePt" dir="t"/>
                  </a:scene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B21177C7-EF2B-7777-25A2-53541A702C20}"/>
                    </a:ext>
                  </a:extLst>
                </p:cNvPr>
                <p:cNvGrpSpPr/>
                <p:nvPr/>
              </p:nvGrpSpPr>
              <p:grpSpPr>
                <a:xfrm>
                  <a:off x="4762164" y="2760528"/>
                  <a:ext cx="2820799" cy="1940625"/>
                  <a:chOff x="2261886" y="2171969"/>
                  <a:chExt cx="2820799" cy="1940625"/>
                </a:xfrm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AA6E539A-6255-6381-A30A-12D014A0C03A}"/>
                      </a:ext>
                    </a:extLst>
                  </p:cNvPr>
                  <p:cNvGrpSpPr/>
                  <p:nvPr/>
                </p:nvGrpSpPr>
                <p:grpSpPr>
                  <a:xfrm>
                    <a:off x="2493124" y="2760042"/>
                    <a:ext cx="2589561" cy="1352552"/>
                    <a:chOff x="2493124" y="2760042"/>
                    <a:chExt cx="2589561" cy="1352552"/>
                  </a:xfrm>
                </p:grpSpPr>
                <p:grpSp>
                  <p:nvGrpSpPr>
                    <p:cNvPr id="58" name="Group 57">
                      <a:extLst>
                        <a:ext uri="{FF2B5EF4-FFF2-40B4-BE49-F238E27FC236}">
                          <a16:creationId xmlns:a16="http://schemas.microsoft.com/office/drawing/2014/main" id="{CF77CDB0-9FDA-3A0C-3CE2-B5BAF24EB8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93124" y="2940369"/>
                      <a:ext cx="2589561" cy="1172225"/>
                      <a:chOff x="2493124" y="2940369"/>
                      <a:chExt cx="2589561" cy="1172225"/>
                    </a:xfrm>
                  </p:grpSpPr>
                  <p:grpSp>
                    <p:nvGrpSpPr>
                      <p:cNvPr id="60" name="Group 59">
                        <a:extLst>
                          <a:ext uri="{FF2B5EF4-FFF2-40B4-BE49-F238E27FC236}">
                            <a16:creationId xmlns:a16="http://schemas.microsoft.com/office/drawing/2014/main" id="{8C887D87-A09B-BD63-8DC7-54683A75F40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493124" y="2940369"/>
                        <a:ext cx="2589561" cy="1172225"/>
                        <a:chOff x="3211164" y="5107010"/>
                        <a:chExt cx="2595490" cy="970671"/>
                      </a:xfrm>
                      <a:solidFill>
                        <a:srgbClr val="00B0F0"/>
                      </a:solidFill>
                    </p:grpSpPr>
                    <p:sp>
                      <p:nvSpPr>
                        <p:cNvPr id="448" name="Flowchart: Preparation 447">
                          <a:extLst>
                            <a:ext uri="{FF2B5EF4-FFF2-40B4-BE49-F238E27FC236}">
                              <a16:creationId xmlns:a16="http://schemas.microsoft.com/office/drawing/2014/main" id="{35F8B62F-B164-EDCD-128B-F0F9366E66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211164" y="5107010"/>
                          <a:ext cx="2595490" cy="970671"/>
                        </a:xfrm>
                        <a:prstGeom prst="flowChartPrepa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  <a:scene3d>
                          <a:camera prst="isometricOffAxis2Top"/>
                          <a:lightRig rig="threePt" dir="t"/>
                        </a:scene3d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cxnSp>
                      <p:nvCxnSpPr>
                        <p:cNvPr id="449" name="Straight Connector 448">
                          <a:extLst>
                            <a:ext uri="{FF2B5EF4-FFF2-40B4-BE49-F238E27FC236}">
                              <a16:creationId xmlns:a16="http://schemas.microsoft.com/office/drawing/2014/main" id="{5769E9A2-1A60-09A4-E71B-C01E8F3B84D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339446" y="5292052"/>
                          <a:ext cx="0" cy="147711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50" name="Straight Connector 449">
                          <a:extLst>
                            <a:ext uri="{FF2B5EF4-FFF2-40B4-BE49-F238E27FC236}">
                              <a16:creationId xmlns:a16="http://schemas.microsoft.com/office/drawing/2014/main" id="{1988771C-F7AD-3F94-DCD0-50B867A3659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949866" y="5671025"/>
                          <a:ext cx="0" cy="140461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51" name="Straight Connector 450">
                          <a:extLst>
                            <a:ext uri="{FF2B5EF4-FFF2-40B4-BE49-F238E27FC236}">
                              <a16:creationId xmlns:a16="http://schemas.microsoft.com/office/drawing/2014/main" id="{90139D6C-2D1F-0043-1D97-C8FE821D32D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5678797" y="5588465"/>
                          <a:ext cx="0" cy="151502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52" name="Straight Connector 451">
                          <a:extLst>
                            <a:ext uri="{FF2B5EF4-FFF2-40B4-BE49-F238E27FC236}">
                              <a16:creationId xmlns:a16="http://schemas.microsoft.com/office/drawing/2014/main" id="{D01AD1D8-DEC3-0187-A591-8583B10B896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064771" y="5220801"/>
                          <a:ext cx="0" cy="145107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53" name="Straight Connector 452">
                          <a:extLst>
                            <a:ext uri="{FF2B5EF4-FFF2-40B4-BE49-F238E27FC236}">
                              <a16:creationId xmlns:a16="http://schemas.microsoft.com/office/drawing/2014/main" id="{F4CDF297-56A0-69A9-B085-C3F47F4FBAE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5462377" y="5394072"/>
                          <a:ext cx="0" cy="147711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54" name="Straight Connector 453">
                          <a:extLst>
                            <a:ext uri="{FF2B5EF4-FFF2-40B4-BE49-F238E27FC236}">
                              <a16:creationId xmlns:a16="http://schemas.microsoft.com/office/drawing/2014/main" id="{0D3313F5-63D9-28EC-D44D-B2D124A9E30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547641" y="5491975"/>
                          <a:ext cx="0" cy="147711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61" name="Group 60">
                        <a:extLst>
                          <a:ext uri="{FF2B5EF4-FFF2-40B4-BE49-F238E27FC236}">
                            <a16:creationId xmlns:a16="http://schemas.microsoft.com/office/drawing/2014/main" id="{F4E28863-98D6-9A1E-3F60-701319A4E7F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450157" y="3126418"/>
                        <a:ext cx="692352" cy="719964"/>
                        <a:chOff x="465024" y="3542555"/>
                        <a:chExt cx="692352" cy="719964"/>
                      </a:xfrm>
                      <a:scene3d>
                        <a:camera prst="isometricOffAxis2Top"/>
                        <a:lightRig rig="threePt" dir="t"/>
                      </a:scene3d>
                    </p:grpSpPr>
                    <p:sp>
                      <p:nvSpPr>
                        <p:cNvPr id="62" name="Rectangle 61">
                          <a:extLst>
                            <a:ext uri="{FF2B5EF4-FFF2-40B4-BE49-F238E27FC236}">
                              <a16:creationId xmlns:a16="http://schemas.microsoft.com/office/drawing/2014/main" id="{C4A75E50-80E3-2491-A08B-E2EA0F5EB3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3569" y="3542555"/>
                          <a:ext cx="683807" cy="32700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Adobe Hebrew" panose="02040503050201020203" pitchFamily="18" charset="-79"/>
                            <a:cs typeface="Adobe Hebrew" panose="02040503050201020203" pitchFamily="18" charset="-79"/>
                          </a:endParaRPr>
                        </a:p>
                      </p:txBody>
                    </p:sp>
                    <p:sp>
                      <p:nvSpPr>
                        <p:cNvPr id="63" name="Rectangle 62">
                          <a:extLst>
                            <a:ext uri="{FF2B5EF4-FFF2-40B4-BE49-F238E27FC236}">
                              <a16:creationId xmlns:a16="http://schemas.microsoft.com/office/drawing/2014/main" id="{18A62925-EE4B-F662-702A-4C0E75985C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65024" y="3935519"/>
                          <a:ext cx="683807" cy="32700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Adobe Hebrew" panose="02040503050201020203" pitchFamily="18" charset="-79"/>
                            <a:cs typeface="Adobe Hebrew" panose="02040503050201020203" pitchFamily="18" charset="-79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59" name="Flowchart: Preparation 58">
                      <a:extLst>
                        <a:ext uri="{FF2B5EF4-FFF2-40B4-BE49-F238E27FC236}">
                          <a16:creationId xmlns:a16="http://schemas.microsoft.com/office/drawing/2014/main" id="{A816DFFF-50BF-E9DF-50D5-992E27928B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3124" y="2760042"/>
                      <a:ext cx="2589561" cy="1172225"/>
                    </a:xfrm>
                    <a:prstGeom prst="flowChartPreparation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scene3d>
                      <a:camera prst="isometricOffAxis2Top"/>
                      <a:lightRig rig="threePt" dir="t"/>
                    </a:scene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E5752E52-3878-1EC6-38E0-D0425768BF47}"/>
                      </a:ext>
                    </a:extLst>
                  </p:cNvPr>
                  <p:cNvGrpSpPr/>
                  <p:nvPr/>
                </p:nvGrpSpPr>
                <p:grpSpPr>
                  <a:xfrm>
                    <a:off x="2261886" y="2171969"/>
                    <a:ext cx="561835" cy="1031083"/>
                    <a:chOff x="2261886" y="2171969"/>
                    <a:chExt cx="561835" cy="1031083"/>
                  </a:xfrm>
                </p:grpSpPr>
                <p:sp>
                  <p:nvSpPr>
                    <p:cNvPr id="54" name="Cylinder 53">
                      <a:extLst>
                        <a:ext uri="{FF2B5EF4-FFF2-40B4-BE49-F238E27FC236}">
                          <a16:creationId xmlns:a16="http://schemas.microsoft.com/office/drawing/2014/main" id="{7D83BCC2-DE1F-49E5-F3B2-379C10B2B1D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621751" y="2480306"/>
                      <a:ext cx="201367" cy="722746"/>
                    </a:xfrm>
                    <a:prstGeom prst="can">
                      <a:avLst>
                        <a:gd name="adj" fmla="val 37285"/>
                      </a:avLst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85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410A2020-5C63-28C2-A712-6FB0838BBF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261886" y="2171969"/>
                      <a:ext cx="561835" cy="794751"/>
                      <a:chOff x="2261886" y="2171969"/>
                      <a:chExt cx="561835" cy="794751"/>
                    </a:xfrm>
                  </p:grpSpPr>
                  <p:sp>
                    <p:nvSpPr>
                      <p:cNvPr id="56" name="Cylinder 55">
                        <a:extLst>
                          <a:ext uri="{FF2B5EF4-FFF2-40B4-BE49-F238E27FC236}">
                            <a16:creationId xmlns:a16="http://schemas.microsoft.com/office/drawing/2014/main" id="{681D15A0-87B2-CE47-1C33-717947E19E1D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2262883" y="2446443"/>
                        <a:ext cx="204440" cy="520277"/>
                      </a:xfrm>
                      <a:prstGeom prst="can">
                        <a:avLst>
                          <a:gd name="adj" fmla="val 37285"/>
                        </a:avLst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285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57" name="Arrow: U-Turn 56">
                        <a:extLst>
                          <a:ext uri="{FF2B5EF4-FFF2-40B4-BE49-F238E27FC236}">
                            <a16:creationId xmlns:a16="http://schemas.microsoft.com/office/drawing/2014/main" id="{BA99D54A-1434-5149-C832-D1207CADE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61886" y="2171969"/>
                        <a:ext cx="561835" cy="574414"/>
                      </a:xfrm>
                      <a:prstGeom prst="uturnArrow">
                        <a:avLst>
                          <a:gd name="adj1" fmla="val 50000"/>
                          <a:gd name="adj2" fmla="val 17972"/>
                          <a:gd name="adj3" fmla="val 0"/>
                          <a:gd name="adj4" fmla="val 46874"/>
                          <a:gd name="adj5" fmla="val 100000"/>
                        </a:avLst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27B16F51-A10B-3A10-E6E4-D9AB8C5C5F47}"/>
                    </a:ext>
                  </a:extLst>
                </p:cNvPr>
                <p:cNvGrpSpPr/>
                <p:nvPr/>
              </p:nvGrpSpPr>
              <p:grpSpPr>
                <a:xfrm>
                  <a:off x="7262442" y="3332047"/>
                  <a:ext cx="2820799" cy="1940625"/>
                  <a:chOff x="2261886" y="2171969"/>
                  <a:chExt cx="2820799" cy="1940625"/>
                </a:xfrm>
              </p:grpSpPr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BC492AE4-4010-9AD3-FAC3-8E1537A81BF1}"/>
                      </a:ext>
                    </a:extLst>
                  </p:cNvPr>
                  <p:cNvGrpSpPr/>
                  <p:nvPr/>
                </p:nvGrpSpPr>
                <p:grpSpPr>
                  <a:xfrm>
                    <a:off x="2493124" y="2760042"/>
                    <a:ext cx="2589561" cy="1352552"/>
                    <a:chOff x="2493124" y="2760042"/>
                    <a:chExt cx="2589561" cy="1352552"/>
                  </a:xfrm>
                </p:grpSpPr>
                <p:grpSp>
                  <p:nvGrpSpPr>
                    <p:cNvPr id="39" name="Group 38">
                      <a:extLst>
                        <a:ext uri="{FF2B5EF4-FFF2-40B4-BE49-F238E27FC236}">
                          <a16:creationId xmlns:a16="http://schemas.microsoft.com/office/drawing/2014/main" id="{309105DC-6871-B206-EF85-D3CE42EF7E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93124" y="2940369"/>
                      <a:ext cx="2589561" cy="1172225"/>
                      <a:chOff x="2493124" y="2940369"/>
                      <a:chExt cx="2589561" cy="1172225"/>
                    </a:xfrm>
                  </p:grpSpPr>
                  <p:grpSp>
                    <p:nvGrpSpPr>
                      <p:cNvPr id="41" name="Group 40">
                        <a:extLst>
                          <a:ext uri="{FF2B5EF4-FFF2-40B4-BE49-F238E27FC236}">
                            <a16:creationId xmlns:a16="http://schemas.microsoft.com/office/drawing/2014/main" id="{514FBE89-C754-EACA-31CE-9F776D184CF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493124" y="2940369"/>
                        <a:ext cx="2589561" cy="1172225"/>
                        <a:chOff x="3211164" y="5107010"/>
                        <a:chExt cx="2595490" cy="970671"/>
                      </a:xfrm>
                      <a:solidFill>
                        <a:srgbClr val="00B0F0"/>
                      </a:solidFill>
                    </p:grpSpPr>
                    <p:sp>
                      <p:nvSpPr>
                        <p:cNvPr id="45" name="Flowchart: Preparation 44">
                          <a:extLst>
                            <a:ext uri="{FF2B5EF4-FFF2-40B4-BE49-F238E27FC236}">
                              <a16:creationId xmlns:a16="http://schemas.microsoft.com/office/drawing/2014/main" id="{D79A1435-F398-03F0-2ED2-5CE62CE1ADD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211164" y="5107010"/>
                          <a:ext cx="2595490" cy="970671"/>
                        </a:xfrm>
                        <a:prstGeom prst="flowChartPrepa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  <a:scene3d>
                          <a:camera prst="isometricOffAxis2Top"/>
                          <a:lightRig rig="threePt" dir="t"/>
                        </a:scene3d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cxnSp>
                      <p:nvCxnSpPr>
                        <p:cNvPr id="46" name="Straight Connector 45">
                          <a:extLst>
                            <a:ext uri="{FF2B5EF4-FFF2-40B4-BE49-F238E27FC236}">
                              <a16:creationId xmlns:a16="http://schemas.microsoft.com/office/drawing/2014/main" id="{80F67309-5CD2-DDA0-FAFB-FE94880E631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339446" y="5292052"/>
                          <a:ext cx="0" cy="147711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7" name="Straight Connector 46">
                          <a:extLst>
                            <a:ext uri="{FF2B5EF4-FFF2-40B4-BE49-F238E27FC236}">
                              <a16:creationId xmlns:a16="http://schemas.microsoft.com/office/drawing/2014/main" id="{E31003FC-BB4D-3AC0-F267-9A2E49EE600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949866" y="5671025"/>
                          <a:ext cx="0" cy="140461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8" name="Straight Connector 47">
                          <a:extLst>
                            <a:ext uri="{FF2B5EF4-FFF2-40B4-BE49-F238E27FC236}">
                              <a16:creationId xmlns:a16="http://schemas.microsoft.com/office/drawing/2014/main" id="{1D6DB2AD-836E-77A4-D89D-2D133EF845F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5678797" y="5588465"/>
                          <a:ext cx="0" cy="151502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9" name="Straight Connector 48">
                          <a:extLst>
                            <a:ext uri="{FF2B5EF4-FFF2-40B4-BE49-F238E27FC236}">
                              <a16:creationId xmlns:a16="http://schemas.microsoft.com/office/drawing/2014/main" id="{60276028-B164-8256-798C-05DC86777F6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064771" y="5220801"/>
                          <a:ext cx="0" cy="145107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0" name="Straight Connector 49">
                          <a:extLst>
                            <a:ext uri="{FF2B5EF4-FFF2-40B4-BE49-F238E27FC236}">
                              <a16:creationId xmlns:a16="http://schemas.microsoft.com/office/drawing/2014/main" id="{69796A79-FD12-1BD1-27B9-D46C79DED2B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5462377" y="5394072"/>
                          <a:ext cx="0" cy="147711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1" name="Straight Connector 50">
                          <a:extLst>
                            <a:ext uri="{FF2B5EF4-FFF2-40B4-BE49-F238E27FC236}">
                              <a16:creationId xmlns:a16="http://schemas.microsoft.com/office/drawing/2014/main" id="{E86573D8-BD4B-30FC-B120-6F66217A736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547641" y="5491975"/>
                          <a:ext cx="0" cy="147711"/>
                        </a:xfrm>
                        <a:prstGeom prst="lin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42" name="Group 41">
                        <a:extLst>
                          <a:ext uri="{FF2B5EF4-FFF2-40B4-BE49-F238E27FC236}">
                            <a16:creationId xmlns:a16="http://schemas.microsoft.com/office/drawing/2014/main" id="{B34AD586-EA73-AFB4-2C24-BF188558DFE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450157" y="3126418"/>
                        <a:ext cx="692352" cy="719964"/>
                        <a:chOff x="465024" y="3542555"/>
                        <a:chExt cx="692352" cy="719964"/>
                      </a:xfrm>
                      <a:scene3d>
                        <a:camera prst="isometricOffAxis2Top"/>
                        <a:lightRig rig="threePt" dir="t"/>
                      </a:scene3d>
                    </p:grpSpPr>
                    <p:sp>
                      <p:nvSpPr>
                        <p:cNvPr id="43" name="Rectangle 42">
                          <a:extLst>
                            <a:ext uri="{FF2B5EF4-FFF2-40B4-BE49-F238E27FC236}">
                              <a16:creationId xmlns:a16="http://schemas.microsoft.com/office/drawing/2014/main" id="{21E2AE00-B06D-D328-B0C9-41E75FCFB8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3569" y="3542555"/>
                          <a:ext cx="683807" cy="32700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Adobe Hebrew" panose="02040503050201020203" pitchFamily="18" charset="-79"/>
                            <a:cs typeface="Adobe Hebrew" panose="02040503050201020203" pitchFamily="18" charset="-79"/>
                          </a:endParaRPr>
                        </a:p>
                      </p:txBody>
                    </p:sp>
                    <p:sp>
                      <p:nvSpPr>
                        <p:cNvPr id="44" name="Rectangle 43">
                          <a:extLst>
                            <a:ext uri="{FF2B5EF4-FFF2-40B4-BE49-F238E27FC236}">
                              <a16:creationId xmlns:a16="http://schemas.microsoft.com/office/drawing/2014/main" id="{760DC0DF-286A-416D-87CA-F145118FD3A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65024" y="3935519"/>
                          <a:ext cx="683807" cy="32700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Adobe Hebrew" panose="02040503050201020203" pitchFamily="18" charset="-79"/>
                            <a:cs typeface="Adobe Hebrew" panose="02040503050201020203" pitchFamily="18" charset="-79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40" name="Flowchart: Preparation 39">
                      <a:extLst>
                        <a:ext uri="{FF2B5EF4-FFF2-40B4-BE49-F238E27FC236}">
                          <a16:creationId xmlns:a16="http://schemas.microsoft.com/office/drawing/2014/main" id="{5C07D0CB-E404-6DD9-27C2-1CB185CE40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3124" y="2760042"/>
                      <a:ext cx="2589561" cy="1172225"/>
                    </a:xfrm>
                    <a:prstGeom prst="flowChartPreparation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scene3d>
                      <a:camera prst="isometricOffAxis2Top"/>
                      <a:lightRig rig="threePt" dir="t"/>
                    </a:scene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72D2458F-277C-0720-B6DE-CDD14E3482FA}"/>
                      </a:ext>
                    </a:extLst>
                  </p:cNvPr>
                  <p:cNvGrpSpPr/>
                  <p:nvPr/>
                </p:nvGrpSpPr>
                <p:grpSpPr>
                  <a:xfrm>
                    <a:off x="2261886" y="2171969"/>
                    <a:ext cx="561835" cy="1031083"/>
                    <a:chOff x="2261886" y="2171969"/>
                    <a:chExt cx="561835" cy="1031083"/>
                  </a:xfrm>
                </p:grpSpPr>
                <p:sp>
                  <p:nvSpPr>
                    <p:cNvPr id="35" name="Cylinder 34">
                      <a:extLst>
                        <a:ext uri="{FF2B5EF4-FFF2-40B4-BE49-F238E27FC236}">
                          <a16:creationId xmlns:a16="http://schemas.microsoft.com/office/drawing/2014/main" id="{1634792E-F044-00DB-60F7-FC46258F916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621751" y="2480306"/>
                      <a:ext cx="201367" cy="722746"/>
                    </a:xfrm>
                    <a:prstGeom prst="can">
                      <a:avLst>
                        <a:gd name="adj" fmla="val 37285"/>
                      </a:avLst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85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7B6F90D1-D064-B0CF-4AD2-EF0B3C4397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261886" y="2171969"/>
                      <a:ext cx="561835" cy="794751"/>
                      <a:chOff x="2261886" y="2171969"/>
                      <a:chExt cx="561835" cy="794751"/>
                    </a:xfrm>
                  </p:grpSpPr>
                  <p:sp>
                    <p:nvSpPr>
                      <p:cNvPr id="37" name="Cylinder 36">
                        <a:extLst>
                          <a:ext uri="{FF2B5EF4-FFF2-40B4-BE49-F238E27FC236}">
                            <a16:creationId xmlns:a16="http://schemas.microsoft.com/office/drawing/2014/main" id="{238D8117-27D7-FD84-30DF-91F5C0D34FC2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2262883" y="2446443"/>
                        <a:ext cx="204440" cy="520277"/>
                      </a:xfrm>
                      <a:prstGeom prst="can">
                        <a:avLst>
                          <a:gd name="adj" fmla="val 37285"/>
                        </a:avLst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285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38" name="Arrow: U-Turn 37">
                        <a:extLst>
                          <a:ext uri="{FF2B5EF4-FFF2-40B4-BE49-F238E27FC236}">
                            <a16:creationId xmlns:a16="http://schemas.microsoft.com/office/drawing/2014/main" id="{E99BEB9F-43AD-B92B-D6D9-0EBB000D36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61886" y="2171969"/>
                        <a:ext cx="561835" cy="574414"/>
                      </a:xfrm>
                      <a:prstGeom prst="uturnArrow">
                        <a:avLst>
                          <a:gd name="adj1" fmla="val 50000"/>
                          <a:gd name="adj2" fmla="val 17972"/>
                          <a:gd name="adj3" fmla="val 0"/>
                          <a:gd name="adj4" fmla="val 46874"/>
                          <a:gd name="adj5" fmla="val 100000"/>
                        </a:avLst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434CF0CD-A86F-B183-8CFF-A5E8ABE4796E}"/>
                    </a:ext>
                  </a:extLst>
                </p:cNvPr>
                <p:cNvGrpSpPr/>
                <p:nvPr/>
              </p:nvGrpSpPr>
              <p:grpSpPr>
                <a:xfrm>
                  <a:off x="9768648" y="3900086"/>
                  <a:ext cx="561835" cy="1031083"/>
                  <a:chOff x="9749177" y="3915507"/>
                  <a:chExt cx="561835" cy="1031083"/>
                </a:xfrm>
              </p:grpSpPr>
              <p:sp>
                <p:nvSpPr>
                  <p:cNvPr id="30" name="Cylinder 29">
                    <a:extLst>
                      <a:ext uri="{FF2B5EF4-FFF2-40B4-BE49-F238E27FC236}">
                        <a16:creationId xmlns:a16="http://schemas.microsoft.com/office/drawing/2014/main" id="{E9F6C29F-F733-21FB-FC1A-8658E4CC537B}"/>
                      </a:ext>
                    </a:extLst>
                  </p:cNvPr>
                  <p:cNvSpPr/>
                  <p:nvPr/>
                </p:nvSpPr>
                <p:spPr>
                  <a:xfrm flipH="1">
                    <a:off x="10109042" y="4223844"/>
                    <a:ext cx="201367" cy="722746"/>
                  </a:xfrm>
                  <a:prstGeom prst="can">
                    <a:avLst>
                      <a:gd name="adj" fmla="val 37285"/>
                    </a:avLst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1" name="Cylinder 30">
                    <a:extLst>
                      <a:ext uri="{FF2B5EF4-FFF2-40B4-BE49-F238E27FC236}">
                        <a16:creationId xmlns:a16="http://schemas.microsoft.com/office/drawing/2014/main" id="{88F644B2-2F16-2EEE-E96C-5938AB8C9097}"/>
                      </a:ext>
                    </a:extLst>
                  </p:cNvPr>
                  <p:cNvSpPr/>
                  <p:nvPr/>
                </p:nvSpPr>
                <p:spPr>
                  <a:xfrm flipH="1">
                    <a:off x="9750174" y="4189981"/>
                    <a:ext cx="204440" cy="520277"/>
                  </a:xfrm>
                  <a:prstGeom prst="can">
                    <a:avLst>
                      <a:gd name="adj" fmla="val 37285"/>
                    </a:avLst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2" name="Arrow: U-Turn 31">
                    <a:extLst>
                      <a:ext uri="{FF2B5EF4-FFF2-40B4-BE49-F238E27FC236}">
                        <a16:creationId xmlns:a16="http://schemas.microsoft.com/office/drawing/2014/main" id="{1CC2773B-0BD3-836E-31EC-ABEA87C76328}"/>
                      </a:ext>
                    </a:extLst>
                  </p:cNvPr>
                  <p:cNvSpPr/>
                  <p:nvPr/>
                </p:nvSpPr>
                <p:spPr>
                  <a:xfrm>
                    <a:off x="9749177" y="3915507"/>
                    <a:ext cx="561835" cy="574414"/>
                  </a:xfrm>
                  <a:prstGeom prst="uturnArrow">
                    <a:avLst>
                      <a:gd name="adj1" fmla="val 50000"/>
                      <a:gd name="adj2" fmla="val 17972"/>
                      <a:gd name="adj3" fmla="val 0"/>
                      <a:gd name="adj4" fmla="val 46874"/>
                      <a:gd name="adj5" fmla="val 100000"/>
                    </a:avLst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4" name="Cylinder 13">
                <a:extLst>
                  <a:ext uri="{FF2B5EF4-FFF2-40B4-BE49-F238E27FC236}">
                    <a16:creationId xmlns:a16="http://schemas.microsoft.com/office/drawing/2014/main" id="{7FDEF5A0-B2F3-D7D3-4298-80B736E75A70}"/>
                  </a:ext>
                </a:extLst>
              </p:cNvPr>
              <p:cNvSpPr/>
              <p:nvPr/>
            </p:nvSpPr>
            <p:spPr>
              <a:xfrm>
                <a:off x="10470602" y="4267256"/>
                <a:ext cx="1063719" cy="1150229"/>
              </a:xfrm>
              <a:prstGeom prst="can">
                <a:avLst>
                  <a:gd name="adj" fmla="val 20725"/>
                </a:avLst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7630EC9-4396-1A75-8663-3338B84C61FD}"/>
                </a:ext>
              </a:extLst>
            </p:cNvPr>
            <p:cNvGrpSpPr/>
            <p:nvPr/>
          </p:nvGrpSpPr>
          <p:grpSpPr>
            <a:xfrm>
              <a:off x="2740588" y="1992625"/>
              <a:ext cx="583060" cy="1087811"/>
              <a:chOff x="2740588" y="1992625"/>
              <a:chExt cx="583060" cy="10878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" name="Cylinder 9">
                <a:extLst>
                  <a:ext uri="{FF2B5EF4-FFF2-40B4-BE49-F238E27FC236}">
                    <a16:creationId xmlns:a16="http://schemas.microsoft.com/office/drawing/2014/main" id="{6B8B5C70-C384-E4DF-F2B7-E4B19E8AFE5B}"/>
                  </a:ext>
                </a:extLst>
              </p:cNvPr>
              <p:cNvSpPr/>
              <p:nvPr/>
            </p:nvSpPr>
            <p:spPr>
              <a:xfrm flipH="1">
                <a:off x="3114450" y="2317926"/>
                <a:ext cx="209197" cy="762510"/>
              </a:xfrm>
              <a:prstGeom prst="can">
                <a:avLst>
                  <a:gd name="adj" fmla="val 37285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Cylinder 10">
                <a:extLst>
                  <a:ext uri="{FF2B5EF4-FFF2-40B4-BE49-F238E27FC236}">
                    <a16:creationId xmlns:a16="http://schemas.microsoft.com/office/drawing/2014/main" id="{CBD6E43F-21BE-D2E4-7575-B6E14FD6C2C2}"/>
                  </a:ext>
                </a:extLst>
              </p:cNvPr>
              <p:cNvSpPr/>
              <p:nvPr/>
            </p:nvSpPr>
            <p:spPr>
              <a:xfrm flipH="1">
                <a:off x="2741623" y="2282200"/>
                <a:ext cx="212392" cy="548902"/>
              </a:xfrm>
              <a:prstGeom prst="can">
                <a:avLst>
                  <a:gd name="adj" fmla="val 37285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Arrow: U-Turn 11">
                <a:extLst>
                  <a:ext uri="{FF2B5EF4-FFF2-40B4-BE49-F238E27FC236}">
                    <a16:creationId xmlns:a16="http://schemas.microsoft.com/office/drawing/2014/main" id="{121489DB-B3E4-C012-A6A6-4732336A83A5}"/>
                  </a:ext>
                </a:extLst>
              </p:cNvPr>
              <p:cNvSpPr/>
              <p:nvPr/>
            </p:nvSpPr>
            <p:spPr>
              <a:xfrm>
                <a:off x="2740588" y="1992625"/>
                <a:ext cx="583060" cy="606016"/>
              </a:xfrm>
              <a:prstGeom prst="uturnArrow">
                <a:avLst>
                  <a:gd name="adj1" fmla="val 50000"/>
                  <a:gd name="adj2" fmla="val 17972"/>
                  <a:gd name="adj3" fmla="val 0"/>
                  <a:gd name="adj4" fmla="val 46874"/>
                  <a:gd name="adj5" fmla="val 10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EE464703-A9D6-CABB-1A35-1E1A4F1C7902}"/>
              </a:ext>
            </a:extLst>
          </p:cNvPr>
          <p:cNvCxnSpPr/>
          <p:nvPr/>
        </p:nvCxnSpPr>
        <p:spPr>
          <a:xfrm flipH="1">
            <a:off x="1977121" y="1704695"/>
            <a:ext cx="381370" cy="37780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DAD423AE-E0AE-3C82-2E83-9B2F9CE88995}"/>
              </a:ext>
            </a:extLst>
          </p:cNvPr>
          <p:cNvGrpSpPr/>
          <p:nvPr/>
        </p:nvGrpSpPr>
        <p:grpSpPr>
          <a:xfrm>
            <a:off x="50525" y="4699786"/>
            <a:ext cx="9287566" cy="2065001"/>
            <a:chOff x="55627" y="4645930"/>
            <a:chExt cx="9416462" cy="2069299"/>
          </a:xfrm>
        </p:grpSpPr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D0BA166A-D890-124B-2427-811903805406}"/>
                </a:ext>
              </a:extLst>
            </p:cNvPr>
            <p:cNvSpPr/>
            <p:nvPr/>
          </p:nvSpPr>
          <p:spPr>
            <a:xfrm>
              <a:off x="55627" y="4645930"/>
              <a:ext cx="9307860" cy="2069299"/>
            </a:xfrm>
            <a:prstGeom prst="rect">
              <a:avLst/>
            </a:prstGeom>
            <a:noFill/>
            <a:ln w="28575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54129060-217B-47D1-60C6-E4B7BE16D887}"/>
                </a:ext>
              </a:extLst>
            </p:cNvPr>
            <p:cNvSpPr txBox="1"/>
            <p:nvPr/>
          </p:nvSpPr>
          <p:spPr>
            <a:xfrm>
              <a:off x="66282" y="4691261"/>
              <a:ext cx="1810304" cy="364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u="sng" dirty="0">
                  <a:cs typeface="Adobe Hebrew" panose="02040503050201020203" pitchFamily="18" charset="-79"/>
                </a:rPr>
                <a:t>Top View</a:t>
              </a:r>
              <a:endParaRPr lang="en-US" sz="2000" u="sng" dirty="0"/>
            </a:p>
          </p:txBody>
        </p:sp>
        <p:grpSp>
          <p:nvGrpSpPr>
            <p:cNvPr id="480" name="Group 479">
              <a:extLst>
                <a:ext uri="{FF2B5EF4-FFF2-40B4-BE49-F238E27FC236}">
                  <a16:creationId xmlns:a16="http://schemas.microsoft.com/office/drawing/2014/main" id="{74C7F012-EB30-AC6B-6437-BC7526929433}"/>
                </a:ext>
              </a:extLst>
            </p:cNvPr>
            <p:cNvGrpSpPr/>
            <p:nvPr/>
          </p:nvGrpSpPr>
          <p:grpSpPr>
            <a:xfrm>
              <a:off x="4464895" y="5294798"/>
              <a:ext cx="4317539" cy="998744"/>
              <a:chOff x="5039318" y="5774103"/>
              <a:chExt cx="4142591" cy="80896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504" name="Straight Connector 503">
                <a:extLst>
                  <a:ext uri="{FF2B5EF4-FFF2-40B4-BE49-F238E27FC236}">
                    <a16:creationId xmlns:a16="http://schemas.microsoft.com/office/drawing/2014/main" id="{6D71046F-124E-6DA5-E43A-D8F9F3B03928}"/>
                  </a:ext>
                </a:extLst>
              </p:cNvPr>
              <p:cNvCxnSpPr/>
              <p:nvPr/>
            </p:nvCxnSpPr>
            <p:spPr>
              <a:xfrm flipV="1">
                <a:off x="6208295" y="578117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Connector 504">
                <a:extLst>
                  <a:ext uri="{FF2B5EF4-FFF2-40B4-BE49-F238E27FC236}">
                    <a16:creationId xmlns:a16="http://schemas.microsoft.com/office/drawing/2014/main" id="{5A6D2B39-11EA-5ABA-9B2E-3A6E75AABBBB}"/>
                  </a:ext>
                </a:extLst>
              </p:cNvPr>
              <p:cNvCxnSpPr/>
              <p:nvPr/>
            </p:nvCxnSpPr>
            <p:spPr>
              <a:xfrm flipV="1">
                <a:off x="6468979" y="578117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Straight Connector 505">
                <a:extLst>
                  <a:ext uri="{FF2B5EF4-FFF2-40B4-BE49-F238E27FC236}">
                    <a16:creationId xmlns:a16="http://schemas.microsoft.com/office/drawing/2014/main" id="{35987F8B-CCCB-78F3-B838-B095291FDE66}"/>
                  </a:ext>
                </a:extLst>
              </p:cNvPr>
              <p:cNvCxnSpPr/>
              <p:nvPr/>
            </p:nvCxnSpPr>
            <p:spPr>
              <a:xfrm flipV="1">
                <a:off x="6724195" y="579224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Straight Connector 506">
                <a:extLst>
                  <a:ext uri="{FF2B5EF4-FFF2-40B4-BE49-F238E27FC236}">
                    <a16:creationId xmlns:a16="http://schemas.microsoft.com/office/drawing/2014/main" id="{628AB585-6D4C-557C-13FA-94533AF2668F}"/>
                  </a:ext>
                </a:extLst>
              </p:cNvPr>
              <p:cNvCxnSpPr/>
              <p:nvPr/>
            </p:nvCxnSpPr>
            <p:spPr>
              <a:xfrm flipV="1">
                <a:off x="6007769" y="5774103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Straight Connector 507">
                <a:extLst>
                  <a:ext uri="{FF2B5EF4-FFF2-40B4-BE49-F238E27FC236}">
                    <a16:creationId xmlns:a16="http://schemas.microsoft.com/office/drawing/2014/main" id="{D0EB8FFD-E0D9-7AEC-9D04-870442164E47}"/>
                  </a:ext>
                </a:extLst>
              </p:cNvPr>
              <p:cNvCxnSpPr/>
              <p:nvPr/>
            </p:nvCxnSpPr>
            <p:spPr>
              <a:xfrm flipV="1">
                <a:off x="6979411" y="578224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Straight Connector 508">
                <a:extLst>
                  <a:ext uri="{FF2B5EF4-FFF2-40B4-BE49-F238E27FC236}">
                    <a16:creationId xmlns:a16="http://schemas.microsoft.com/office/drawing/2014/main" id="{5267204F-BE4C-46A5-D512-DCDC8F21C14F}"/>
                  </a:ext>
                </a:extLst>
              </p:cNvPr>
              <p:cNvCxnSpPr/>
              <p:nvPr/>
            </p:nvCxnSpPr>
            <p:spPr>
              <a:xfrm flipV="1">
                <a:off x="7224345" y="5787822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Straight Connector 509">
                <a:extLst>
                  <a:ext uri="{FF2B5EF4-FFF2-40B4-BE49-F238E27FC236}">
                    <a16:creationId xmlns:a16="http://schemas.microsoft.com/office/drawing/2014/main" id="{FA256B75-CF90-F24A-16EF-5E251C28F3DC}"/>
                  </a:ext>
                </a:extLst>
              </p:cNvPr>
              <p:cNvCxnSpPr/>
              <p:nvPr/>
            </p:nvCxnSpPr>
            <p:spPr>
              <a:xfrm flipV="1">
                <a:off x="7458710" y="5787822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1" name="Straight Connector 510">
                <a:extLst>
                  <a:ext uri="{FF2B5EF4-FFF2-40B4-BE49-F238E27FC236}">
                    <a16:creationId xmlns:a16="http://schemas.microsoft.com/office/drawing/2014/main" id="{6550EC22-5647-ACAE-1FEF-E7A9B0D2962A}"/>
                  </a:ext>
                </a:extLst>
              </p:cNvPr>
              <p:cNvCxnSpPr/>
              <p:nvPr/>
            </p:nvCxnSpPr>
            <p:spPr>
              <a:xfrm flipV="1">
                <a:off x="7674533" y="5787822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4" name="Straight Connector 733">
                <a:extLst>
                  <a:ext uri="{FF2B5EF4-FFF2-40B4-BE49-F238E27FC236}">
                    <a16:creationId xmlns:a16="http://schemas.microsoft.com/office/drawing/2014/main" id="{5B4BC77C-27D9-9D76-A97E-1F04B9B66140}"/>
                  </a:ext>
                </a:extLst>
              </p:cNvPr>
              <p:cNvCxnSpPr/>
              <p:nvPr/>
            </p:nvCxnSpPr>
            <p:spPr>
              <a:xfrm flipV="1">
                <a:off x="7869591" y="578117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5" name="Straight Connector 734">
                <a:extLst>
                  <a:ext uri="{FF2B5EF4-FFF2-40B4-BE49-F238E27FC236}">
                    <a16:creationId xmlns:a16="http://schemas.microsoft.com/office/drawing/2014/main" id="{FE7B3FCC-84B8-CBE8-BA08-76E77A2EEC90}"/>
                  </a:ext>
                </a:extLst>
              </p:cNvPr>
              <p:cNvCxnSpPr/>
              <p:nvPr/>
            </p:nvCxnSpPr>
            <p:spPr>
              <a:xfrm flipV="1">
                <a:off x="8085414" y="5787822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FA7D2800-D507-664F-C284-377D6E7AE77E}"/>
                  </a:ext>
                </a:extLst>
              </p:cNvPr>
              <p:cNvCxnSpPr/>
              <p:nvPr/>
            </p:nvCxnSpPr>
            <p:spPr>
              <a:xfrm flipV="1">
                <a:off x="8301237" y="578117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717E5100-27C5-6BF1-3771-D8F2428F2ED2}"/>
                  </a:ext>
                </a:extLst>
              </p:cNvPr>
              <p:cNvCxnSpPr/>
              <p:nvPr/>
            </p:nvCxnSpPr>
            <p:spPr>
              <a:xfrm flipV="1">
                <a:off x="8534918" y="578117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974A55ED-4C80-87D0-2B6F-F847C65C4AD6}"/>
                  </a:ext>
                </a:extLst>
              </p:cNvPr>
              <p:cNvCxnSpPr/>
              <p:nvPr/>
            </p:nvCxnSpPr>
            <p:spPr>
              <a:xfrm flipV="1">
                <a:off x="8799164" y="5774103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C8CA5095-C57D-467A-4522-B8CDBD324AD1}"/>
                  </a:ext>
                </a:extLst>
              </p:cNvPr>
              <p:cNvCxnSpPr/>
              <p:nvPr/>
            </p:nvCxnSpPr>
            <p:spPr>
              <a:xfrm flipV="1">
                <a:off x="6208295" y="647574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0A9A2E16-78A2-FE29-7B69-80594BEDA60F}"/>
                  </a:ext>
                </a:extLst>
              </p:cNvPr>
              <p:cNvCxnSpPr/>
              <p:nvPr/>
            </p:nvCxnSpPr>
            <p:spPr>
              <a:xfrm flipV="1">
                <a:off x="6468979" y="647574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B11DE1A9-CD7E-ADCC-3602-B92CD7302EEA}"/>
                  </a:ext>
                </a:extLst>
              </p:cNvPr>
              <p:cNvCxnSpPr/>
              <p:nvPr/>
            </p:nvCxnSpPr>
            <p:spPr>
              <a:xfrm flipV="1">
                <a:off x="6724195" y="648681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3854A7B9-1B2F-C8D5-BE6A-C2B34AA9B098}"/>
                  </a:ext>
                </a:extLst>
              </p:cNvPr>
              <p:cNvCxnSpPr/>
              <p:nvPr/>
            </p:nvCxnSpPr>
            <p:spPr>
              <a:xfrm flipV="1">
                <a:off x="6979411" y="647681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C45346D7-398D-3539-4A5D-6BEF253DEB96}"/>
                  </a:ext>
                </a:extLst>
              </p:cNvPr>
              <p:cNvCxnSpPr/>
              <p:nvPr/>
            </p:nvCxnSpPr>
            <p:spPr>
              <a:xfrm flipV="1">
                <a:off x="7224345" y="6482392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E321EEE5-C6D7-34CC-AE8D-34445D4226EC}"/>
                  </a:ext>
                </a:extLst>
              </p:cNvPr>
              <p:cNvCxnSpPr/>
              <p:nvPr/>
            </p:nvCxnSpPr>
            <p:spPr>
              <a:xfrm flipV="1">
                <a:off x="7458710" y="6482392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0E6585D8-BFF3-D0C2-9B0A-86EBDF8E80C3}"/>
                  </a:ext>
                </a:extLst>
              </p:cNvPr>
              <p:cNvCxnSpPr/>
              <p:nvPr/>
            </p:nvCxnSpPr>
            <p:spPr>
              <a:xfrm flipV="1">
                <a:off x="7674533" y="6482392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A7B4990E-44F6-B4E5-6F52-FDB16B135AF2}"/>
                  </a:ext>
                </a:extLst>
              </p:cNvPr>
              <p:cNvCxnSpPr/>
              <p:nvPr/>
            </p:nvCxnSpPr>
            <p:spPr>
              <a:xfrm flipV="1">
                <a:off x="7869591" y="647574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419F7F37-52FE-B841-79CE-0AC97655F43A}"/>
                  </a:ext>
                </a:extLst>
              </p:cNvPr>
              <p:cNvCxnSpPr/>
              <p:nvPr/>
            </p:nvCxnSpPr>
            <p:spPr>
              <a:xfrm flipV="1">
                <a:off x="8085414" y="6482392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D0C20D29-A5EA-EDCD-DED8-653EB09DD0B7}"/>
                  </a:ext>
                </a:extLst>
              </p:cNvPr>
              <p:cNvCxnSpPr/>
              <p:nvPr/>
            </p:nvCxnSpPr>
            <p:spPr>
              <a:xfrm flipV="1">
                <a:off x="8301237" y="647574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3D3B1436-B09B-51A6-E66C-955D4183003E}"/>
                  </a:ext>
                </a:extLst>
              </p:cNvPr>
              <p:cNvCxnSpPr/>
              <p:nvPr/>
            </p:nvCxnSpPr>
            <p:spPr>
              <a:xfrm flipV="1">
                <a:off x="8534918" y="6475744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3991C8F0-F22E-6CEB-65ED-2E3D85C628AC}"/>
                  </a:ext>
                </a:extLst>
              </p:cNvPr>
              <p:cNvCxnSpPr/>
              <p:nvPr/>
            </p:nvCxnSpPr>
            <p:spPr>
              <a:xfrm flipV="1">
                <a:off x="8774335" y="6480798"/>
                <a:ext cx="120316" cy="96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D5B2580C-D3E9-0FF7-B6CD-43269F74FE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7695" y="5882449"/>
                <a:ext cx="327760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183F27F2-40DC-7964-F51C-3E310C1AB6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4301" y="6475744"/>
                <a:ext cx="327760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1A649981-8236-7DBA-EB53-6AE9432BF444}"/>
                  </a:ext>
                </a:extLst>
              </p:cNvPr>
              <p:cNvGrpSpPr/>
              <p:nvPr/>
            </p:nvGrpSpPr>
            <p:grpSpPr>
              <a:xfrm rot="19426915">
                <a:off x="7173650" y="6384826"/>
                <a:ext cx="211136" cy="97479"/>
                <a:chOff x="9090616" y="5532603"/>
                <a:chExt cx="566534" cy="541915"/>
              </a:xfrm>
            </p:grpSpPr>
            <p:sp>
              <p:nvSpPr>
                <p:cNvPr id="323" name="Freeform: Shape 322">
                  <a:extLst>
                    <a:ext uri="{FF2B5EF4-FFF2-40B4-BE49-F238E27FC236}">
                      <a16:creationId xmlns:a16="http://schemas.microsoft.com/office/drawing/2014/main" id="{F7973190-0F08-D62F-A506-6DE804A2E3C8}"/>
                    </a:ext>
                  </a:extLst>
                </p:cNvPr>
                <p:cNvSpPr/>
                <p:nvPr/>
              </p:nvSpPr>
              <p:spPr>
                <a:xfrm rot="12852459">
                  <a:off x="9090616" y="5532603"/>
                  <a:ext cx="566534" cy="541915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4" name="Oval 323">
                  <a:extLst>
                    <a:ext uri="{FF2B5EF4-FFF2-40B4-BE49-F238E27FC236}">
                      <a16:creationId xmlns:a16="http://schemas.microsoft.com/office/drawing/2014/main" id="{435CDF77-2F1C-E756-95AD-7113C8697D4D}"/>
                    </a:ext>
                  </a:extLst>
                </p:cNvPr>
                <p:cNvSpPr/>
                <p:nvPr/>
              </p:nvSpPr>
              <p:spPr>
                <a:xfrm>
                  <a:off x="9344600" y="5717517"/>
                  <a:ext cx="97836" cy="13836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C51741D7-3CEB-6A3D-FA70-48F278738A75}"/>
                  </a:ext>
                </a:extLst>
              </p:cNvPr>
              <p:cNvGrpSpPr/>
              <p:nvPr/>
            </p:nvGrpSpPr>
            <p:grpSpPr>
              <a:xfrm rot="9685533">
                <a:off x="7320314" y="6380081"/>
                <a:ext cx="211136" cy="97479"/>
                <a:chOff x="9090616" y="5532603"/>
                <a:chExt cx="566534" cy="541915"/>
              </a:xfrm>
            </p:grpSpPr>
            <p:sp>
              <p:nvSpPr>
                <p:cNvPr id="321" name="Freeform: Shape 320">
                  <a:extLst>
                    <a:ext uri="{FF2B5EF4-FFF2-40B4-BE49-F238E27FC236}">
                      <a16:creationId xmlns:a16="http://schemas.microsoft.com/office/drawing/2014/main" id="{6801B3C1-152A-2007-EB45-A43699B08504}"/>
                    </a:ext>
                  </a:extLst>
                </p:cNvPr>
                <p:cNvSpPr/>
                <p:nvPr/>
              </p:nvSpPr>
              <p:spPr>
                <a:xfrm rot="12852459">
                  <a:off x="9090616" y="5532603"/>
                  <a:ext cx="566534" cy="541915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2" name="Oval 321">
                  <a:extLst>
                    <a:ext uri="{FF2B5EF4-FFF2-40B4-BE49-F238E27FC236}">
                      <a16:creationId xmlns:a16="http://schemas.microsoft.com/office/drawing/2014/main" id="{E3202572-17E4-E464-D589-A044C7F5A938}"/>
                    </a:ext>
                  </a:extLst>
                </p:cNvPr>
                <p:cNvSpPr/>
                <p:nvPr/>
              </p:nvSpPr>
              <p:spPr>
                <a:xfrm>
                  <a:off x="9344600" y="5717517"/>
                  <a:ext cx="97836" cy="13836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7271B318-E461-6A7E-05CB-3AB50A40C8FA}"/>
                  </a:ext>
                </a:extLst>
              </p:cNvPr>
              <p:cNvGrpSpPr/>
              <p:nvPr/>
            </p:nvGrpSpPr>
            <p:grpSpPr>
              <a:xfrm rot="19426915">
                <a:off x="7428312" y="6380080"/>
                <a:ext cx="211136" cy="97479"/>
                <a:chOff x="9090616" y="5532603"/>
                <a:chExt cx="566534" cy="541915"/>
              </a:xfrm>
            </p:grpSpPr>
            <p:sp>
              <p:nvSpPr>
                <p:cNvPr id="319" name="Freeform: Shape 318">
                  <a:extLst>
                    <a:ext uri="{FF2B5EF4-FFF2-40B4-BE49-F238E27FC236}">
                      <a16:creationId xmlns:a16="http://schemas.microsoft.com/office/drawing/2014/main" id="{42962FA8-2905-2FFB-402D-F540F9CAD814}"/>
                    </a:ext>
                  </a:extLst>
                </p:cNvPr>
                <p:cNvSpPr/>
                <p:nvPr/>
              </p:nvSpPr>
              <p:spPr>
                <a:xfrm rot="12852459">
                  <a:off x="9090616" y="5532603"/>
                  <a:ext cx="566534" cy="541915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DD777836-08DE-BAD2-264A-6B7B830A6B33}"/>
                    </a:ext>
                  </a:extLst>
                </p:cNvPr>
                <p:cNvSpPr/>
                <p:nvPr/>
              </p:nvSpPr>
              <p:spPr>
                <a:xfrm>
                  <a:off x="9344600" y="5717517"/>
                  <a:ext cx="97836" cy="13836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CBB71A8B-EAA1-132C-86EF-FC9707C34CDE}"/>
                  </a:ext>
                </a:extLst>
              </p:cNvPr>
              <p:cNvGrpSpPr/>
              <p:nvPr/>
            </p:nvGrpSpPr>
            <p:grpSpPr>
              <a:xfrm rot="9926839">
                <a:off x="7584013" y="6375886"/>
                <a:ext cx="211136" cy="97479"/>
                <a:chOff x="9090616" y="5532603"/>
                <a:chExt cx="566534" cy="541915"/>
              </a:xfrm>
            </p:grpSpPr>
            <p:sp>
              <p:nvSpPr>
                <p:cNvPr id="316" name="Freeform: Shape 315">
                  <a:extLst>
                    <a:ext uri="{FF2B5EF4-FFF2-40B4-BE49-F238E27FC236}">
                      <a16:creationId xmlns:a16="http://schemas.microsoft.com/office/drawing/2014/main" id="{8C6DEBD3-05CA-908F-F127-EA06C243E5F1}"/>
                    </a:ext>
                  </a:extLst>
                </p:cNvPr>
                <p:cNvSpPr/>
                <p:nvPr/>
              </p:nvSpPr>
              <p:spPr>
                <a:xfrm rot="12852459">
                  <a:off x="9090616" y="5532603"/>
                  <a:ext cx="566534" cy="541915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90B7ED11-39A2-20F4-7DBB-2772976DCEBB}"/>
                    </a:ext>
                  </a:extLst>
                </p:cNvPr>
                <p:cNvSpPr/>
                <p:nvPr/>
              </p:nvSpPr>
              <p:spPr>
                <a:xfrm>
                  <a:off x="9344600" y="5717517"/>
                  <a:ext cx="97836" cy="13836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B2EB67E7-69B6-3614-3F7A-8C7D25AEA856}"/>
                  </a:ext>
                </a:extLst>
              </p:cNvPr>
              <p:cNvGrpSpPr/>
              <p:nvPr/>
            </p:nvGrpSpPr>
            <p:grpSpPr>
              <a:xfrm rot="9376965">
                <a:off x="7717567" y="6373310"/>
                <a:ext cx="211136" cy="97479"/>
                <a:chOff x="9090616" y="5532603"/>
                <a:chExt cx="566534" cy="541915"/>
              </a:xfrm>
            </p:grpSpPr>
            <p:sp>
              <p:nvSpPr>
                <p:cNvPr id="314" name="Freeform: Shape 313">
                  <a:extLst>
                    <a:ext uri="{FF2B5EF4-FFF2-40B4-BE49-F238E27FC236}">
                      <a16:creationId xmlns:a16="http://schemas.microsoft.com/office/drawing/2014/main" id="{5E589E45-B7A7-E61F-BD7D-D206F1493C12}"/>
                    </a:ext>
                  </a:extLst>
                </p:cNvPr>
                <p:cNvSpPr/>
                <p:nvPr/>
              </p:nvSpPr>
              <p:spPr>
                <a:xfrm rot="12852459">
                  <a:off x="9090616" y="5532603"/>
                  <a:ext cx="566534" cy="541915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64D5FA50-D981-7F24-FB1E-5AF69886750B}"/>
                    </a:ext>
                  </a:extLst>
                </p:cNvPr>
                <p:cNvSpPr/>
                <p:nvPr/>
              </p:nvSpPr>
              <p:spPr>
                <a:xfrm>
                  <a:off x="9344600" y="5717517"/>
                  <a:ext cx="97836" cy="13836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6D22E8E7-765F-8D07-4DA7-153584E0E3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92666" y="5876102"/>
                <a:ext cx="0" cy="59831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54A8DD02-C51D-DD18-39F0-415666705C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12847" y="5876102"/>
                <a:ext cx="3596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76316B43-1F04-70C5-94B4-337EFAACA5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12847" y="6474418"/>
                <a:ext cx="3596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3" name="TextBox 312">
                    <a:extLst>
                      <a:ext uri="{FF2B5EF4-FFF2-40B4-BE49-F238E27FC236}">
                        <a16:creationId xmlns:a16="http://schemas.microsoft.com/office/drawing/2014/main" id="{2B139914-2DEA-45BB-D905-CAB1AE2C0E89}"/>
                      </a:ext>
                    </a:extLst>
                  </p:cNvPr>
                  <p:cNvSpPr txBox="1"/>
                  <p:nvPr/>
                </p:nvSpPr>
                <p:spPr>
                  <a:xfrm>
                    <a:off x="5039318" y="6021998"/>
                    <a:ext cx="31335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86" name="TextBox 485">
                    <a:extLst>
                      <a:ext uri="{FF2B5EF4-FFF2-40B4-BE49-F238E27FC236}">
                        <a16:creationId xmlns:a16="http://schemas.microsoft.com/office/drawing/2014/main" id="{97C99C1C-F801-0157-826E-FA0064623A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9318" y="6021998"/>
                    <a:ext cx="31335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2963" r="-148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1" name="Group 480">
              <a:extLst>
                <a:ext uri="{FF2B5EF4-FFF2-40B4-BE49-F238E27FC236}">
                  <a16:creationId xmlns:a16="http://schemas.microsoft.com/office/drawing/2014/main" id="{484E9BF8-1ABE-037E-377C-7C2A8AA09DE3}"/>
                </a:ext>
              </a:extLst>
            </p:cNvPr>
            <p:cNvGrpSpPr/>
            <p:nvPr/>
          </p:nvGrpSpPr>
          <p:grpSpPr>
            <a:xfrm>
              <a:off x="506251" y="5042562"/>
              <a:ext cx="3564550" cy="1561167"/>
              <a:chOff x="-689488" y="4026216"/>
              <a:chExt cx="5430788" cy="26027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92" name="Flowchart: Preparation 491">
                <a:extLst>
                  <a:ext uri="{FF2B5EF4-FFF2-40B4-BE49-F238E27FC236}">
                    <a16:creationId xmlns:a16="http://schemas.microsoft.com/office/drawing/2014/main" id="{EB223FD2-56E4-A1F7-6580-DEAB7896DCB0}"/>
                  </a:ext>
                </a:extLst>
              </p:cNvPr>
              <p:cNvSpPr/>
              <p:nvPr/>
            </p:nvSpPr>
            <p:spPr>
              <a:xfrm>
                <a:off x="446964" y="4084391"/>
                <a:ext cx="4294336" cy="1784815"/>
              </a:xfrm>
              <a:prstGeom prst="flowChartPreparation">
                <a:avLst/>
              </a:prstGeom>
              <a:solidFill>
                <a:srgbClr val="00B0F0"/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25042690-183A-93F4-A2C2-831D4EA2008C}"/>
                  </a:ext>
                </a:extLst>
              </p:cNvPr>
              <p:cNvSpPr/>
              <p:nvPr/>
            </p:nvSpPr>
            <p:spPr>
              <a:xfrm>
                <a:off x="1941823" y="4334337"/>
                <a:ext cx="1312533" cy="56261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i="1" dirty="0">
                    <a:solidFill>
                      <a:schemeClr val="tx1"/>
                    </a:solidFill>
                    <a:latin typeface="Adobe Hebrew" panose="02040503050201020203" pitchFamily="18" charset="-79"/>
                    <a:cs typeface="Adobe Hebrew" panose="02040503050201020203" pitchFamily="18" charset="-79"/>
                  </a:rPr>
                  <a:t>Coverslips</a:t>
                </a:r>
                <a:endParaRPr lang="en-US" sz="1050" b="1" i="1" dirty="0">
                  <a:solidFill>
                    <a:schemeClr val="tx1"/>
                  </a:solidFill>
                  <a:latin typeface="Adobe Hebrew" panose="02040503050201020203" pitchFamily="18" charset="-79"/>
                  <a:cs typeface="Adobe Hebrew" panose="02040503050201020203" pitchFamily="18" charset="-79"/>
                </a:endParaRPr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0A54519D-E5AA-F913-3FF9-5D29544FA3FD}"/>
                  </a:ext>
                </a:extLst>
              </p:cNvPr>
              <p:cNvSpPr/>
              <p:nvPr/>
            </p:nvSpPr>
            <p:spPr>
              <a:xfrm>
                <a:off x="1953863" y="5100380"/>
                <a:ext cx="1312533" cy="56261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20F7B729-FF60-105B-15B6-0FDF01AC4D7B}"/>
                  </a:ext>
                </a:extLst>
              </p:cNvPr>
              <p:cNvSpPr/>
              <p:nvPr/>
            </p:nvSpPr>
            <p:spPr>
              <a:xfrm>
                <a:off x="1827513" y="4026216"/>
                <a:ext cx="1565238" cy="1901166"/>
              </a:xfrm>
              <a:prstGeom prst="rect">
                <a:avLst/>
              </a:pr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6" name="Straight Connector 495">
                <a:extLst>
                  <a:ext uri="{FF2B5EF4-FFF2-40B4-BE49-F238E27FC236}">
                    <a16:creationId xmlns:a16="http://schemas.microsoft.com/office/drawing/2014/main" id="{2D6A3E76-E26C-4FF3-903B-5342A4B761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6964" y="6403316"/>
                <a:ext cx="4251773" cy="458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Connector 496">
                <a:extLst>
                  <a:ext uri="{FF2B5EF4-FFF2-40B4-BE49-F238E27FC236}">
                    <a16:creationId xmlns:a16="http://schemas.microsoft.com/office/drawing/2014/main" id="{B2EC7DBA-C4A3-262D-3433-F692EDA583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97155" y="6223492"/>
                <a:ext cx="0" cy="3596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Connector 497">
                <a:extLst>
                  <a:ext uri="{FF2B5EF4-FFF2-40B4-BE49-F238E27FC236}">
                    <a16:creationId xmlns:a16="http://schemas.microsoft.com/office/drawing/2014/main" id="{751135A6-6E5E-8708-F51C-8226BE92E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965" y="6269342"/>
                <a:ext cx="0" cy="3596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Connector 498">
                <a:extLst>
                  <a:ext uri="{FF2B5EF4-FFF2-40B4-BE49-F238E27FC236}">
                    <a16:creationId xmlns:a16="http://schemas.microsoft.com/office/drawing/2014/main" id="{16D23902-0FC1-E536-C33B-67DAA91D37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4995" y="4110519"/>
                <a:ext cx="0" cy="18019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Connector 499">
                <a:extLst>
                  <a:ext uri="{FF2B5EF4-FFF2-40B4-BE49-F238E27FC236}">
                    <a16:creationId xmlns:a16="http://schemas.microsoft.com/office/drawing/2014/main" id="{E7C103A0-7EDC-48D1-31E4-193947A0F5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176" y="4101418"/>
                <a:ext cx="35964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Connector 500">
                <a:extLst>
                  <a:ext uri="{FF2B5EF4-FFF2-40B4-BE49-F238E27FC236}">
                    <a16:creationId xmlns:a16="http://schemas.microsoft.com/office/drawing/2014/main" id="{DE54D607-66D0-0F6D-6504-6C539AF048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176" y="5912465"/>
                <a:ext cx="35964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02" name="TextBox 501">
                    <a:extLst>
                      <a:ext uri="{FF2B5EF4-FFF2-40B4-BE49-F238E27FC236}">
                        <a16:creationId xmlns:a16="http://schemas.microsoft.com/office/drawing/2014/main" id="{DC460B23-53EF-C859-3266-B6B1C3FFCF37}"/>
                      </a:ext>
                    </a:extLst>
                  </p:cNvPr>
                  <p:cNvSpPr txBox="1"/>
                  <p:nvPr/>
                </p:nvSpPr>
                <p:spPr>
                  <a:xfrm>
                    <a:off x="2418193" y="6015741"/>
                    <a:ext cx="309315" cy="410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~10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>
              <p:sp>
                <p:nvSpPr>
                  <p:cNvPr id="502" name="TextBox 501">
                    <a:extLst>
                      <a:ext uri="{FF2B5EF4-FFF2-40B4-BE49-F238E27FC236}">
                        <a16:creationId xmlns:a16="http://schemas.microsoft.com/office/drawing/2014/main" id="{DC460B23-53EF-C859-3266-B6B1C3FFCF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8193" y="6015741"/>
                    <a:ext cx="309315" cy="4104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5294" t="-4762" r="-347059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03" name="TextBox 502">
                    <a:extLst>
                      <a:ext uri="{FF2B5EF4-FFF2-40B4-BE49-F238E27FC236}">
                        <a16:creationId xmlns:a16="http://schemas.microsoft.com/office/drawing/2014/main" id="{A0388777-E5AB-2CD0-B6AF-AE746485D3B1}"/>
                      </a:ext>
                    </a:extLst>
                  </p:cNvPr>
                  <p:cNvSpPr txBox="1"/>
                  <p:nvPr/>
                </p:nvSpPr>
                <p:spPr>
                  <a:xfrm>
                    <a:off x="-689488" y="4903901"/>
                    <a:ext cx="950467" cy="82270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oMath>
                      </m:oMathPara>
                    </a14:m>
                    <a:endParaRPr lang="en-US" sz="1600" b="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~5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oMath>
                      </m:oMathPara>
                    </a14:m>
                    <a:endParaRPr lang="en-US" sz="1600" b="0" dirty="0"/>
                  </a:p>
                </p:txBody>
              </p:sp>
            </mc:Choice>
            <mc:Fallback>
              <p:sp>
                <p:nvSpPr>
                  <p:cNvPr id="503" name="TextBox 502">
                    <a:extLst>
                      <a:ext uri="{FF2B5EF4-FFF2-40B4-BE49-F238E27FC236}">
                        <a16:creationId xmlns:a16="http://schemas.microsoft.com/office/drawing/2014/main" id="{A0388777-E5AB-2CD0-B6AF-AE746485D3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689488" y="4903901"/>
                    <a:ext cx="950467" cy="82270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000" r="-4000" b="-1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C7AFD899-8DD2-1E40-1FA2-91AAAEA643A7}"/>
                </a:ext>
              </a:extLst>
            </p:cNvPr>
            <p:cNvGrpSpPr/>
            <p:nvPr/>
          </p:nvGrpSpPr>
          <p:grpSpPr>
            <a:xfrm>
              <a:off x="6630263" y="5379785"/>
              <a:ext cx="876943" cy="628273"/>
              <a:chOff x="115616" y="2976612"/>
              <a:chExt cx="876943" cy="62827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86" name="Group 485">
                <a:extLst>
                  <a:ext uri="{FF2B5EF4-FFF2-40B4-BE49-F238E27FC236}">
                    <a16:creationId xmlns:a16="http://schemas.microsoft.com/office/drawing/2014/main" id="{4FA127C2-95A2-43CF-94B3-7244D9BACA15}"/>
                  </a:ext>
                </a:extLst>
              </p:cNvPr>
              <p:cNvGrpSpPr/>
              <p:nvPr/>
            </p:nvGrpSpPr>
            <p:grpSpPr>
              <a:xfrm>
                <a:off x="428054" y="3091536"/>
                <a:ext cx="313660" cy="346324"/>
                <a:chOff x="428054" y="3091536"/>
                <a:chExt cx="313660" cy="346324"/>
              </a:xfrm>
            </p:grpSpPr>
            <p:cxnSp>
              <p:nvCxnSpPr>
                <p:cNvPr id="490" name="Straight Arrow Connector 489">
                  <a:extLst>
                    <a:ext uri="{FF2B5EF4-FFF2-40B4-BE49-F238E27FC236}">
                      <a16:creationId xmlns:a16="http://schemas.microsoft.com/office/drawing/2014/main" id="{8FC9AF48-BEF2-E1AD-4D02-995162F0C6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1563" y="3091536"/>
                  <a:ext cx="4372" cy="346324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Arrow Connector 490">
                  <a:extLst>
                    <a:ext uri="{FF2B5EF4-FFF2-40B4-BE49-F238E27FC236}">
                      <a16:creationId xmlns:a16="http://schemas.microsoft.com/office/drawing/2014/main" id="{3DF17362-F38E-9067-E390-79265E3EF6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8054" y="3412534"/>
                  <a:ext cx="313660" cy="8860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7" name="TextBox 486">
                <a:extLst>
                  <a:ext uri="{FF2B5EF4-FFF2-40B4-BE49-F238E27FC236}">
                    <a16:creationId xmlns:a16="http://schemas.microsoft.com/office/drawing/2014/main" id="{DD51677E-5E41-E64D-5D26-D969A8F6B27A}"/>
                  </a:ext>
                </a:extLst>
              </p:cNvPr>
              <p:cNvSpPr txBox="1"/>
              <p:nvPr/>
            </p:nvSpPr>
            <p:spPr>
              <a:xfrm>
                <a:off x="727743" y="3235553"/>
                <a:ext cx="264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x</a:t>
                </a:r>
              </a:p>
            </p:txBody>
          </p:sp>
          <p:sp>
            <p:nvSpPr>
              <p:cNvPr id="489" name="TextBox 488">
                <a:extLst>
                  <a:ext uri="{FF2B5EF4-FFF2-40B4-BE49-F238E27FC236}">
                    <a16:creationId xmlns:a16="http://schemas.microsoft.com/office/drawing/2014/main" id="{FEBB6474-6844-5975-643D-1159708485FA}"/>
                  </a:ext>
                </a:extLst>
              </p:cNvPr>
              <p:cNvSpPr txBox="1"/>
              <p:nvPr/>
            </p:nvSpPr>
            <p:spPr>
              <a:xfrm>
                <a:off x="115616" y="2976612"/>
                <a:ext cx="3172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z</a:t>
                </a:r>
              </a:p>
            </p:txBody>
          </p:sp>
        </p:grp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5ECB2E90-AD82-71C3-E961-55E063816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2054" y="5883808"/>
              <a:ext cx="639124" cy="249945"/>
            </a:xfrm>
            <a:prstGeom prst="line">
              <a:avLst/>
            </a:prstGeom>
            <a:ln w="38100">
              <a:solidFill>
                <a:srgbClr val="00B050"/>
              </a:solidFill>
              <a:headEnd type="arrow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670A4253-06C7-BF51-7266-C5576DA427A4}"/>
                    </a:ext>
                  </a:extLst>
                </p:cNvPr>
                <p:cNvSpPr txBox="1"/>
                <p:nvPr/>
              </p:nvSpPr>
              <p:spPr>
                <a:xfrm>
                  <a:off x="7758936" y="5380587"/>
                  <a:ext cx="1713153" cy="680131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EAB4D8F2-DFAA-06FB-5CF2-D02A09981C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8936" y="5380587"/>
                  <a:ext cx="1713153" cy="6801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3975C05A-ED78-E581-4D36-2E1C44BE562F}"/>
                </a:ext>
              </a:extLst>
            </p:cNvPr>
            <p:cNvSpPr txBox="1"/>
            <p:nvPr/>
          </p:nvSpPr>
          <p:spPr>
            <a:xfrm>
              <a:off x="3141423" y="5318710"/>
              <a:ext cx="95790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  <a:latin typeface="Adobe Hebrew" panose="02040503050201020203" pitchFamily="18" charset="-79"/>
                  <a:cs typeface="Adobe Hebrew" panose="02040503050201020203" pitchFamily="18" charset="-79"/>
                </a:rPr>
                <a:t>Testing </a:t>
              </a:r>
            </a:p>
            <a:p>
              <a:r>
                <a:rPr lang="en-US" sz="1600" b="1" dirty="0">
                  <a:solidFill>
                    <a:srgbClr val="002060"/>
                  </a:solidFill>
                  <a:latin typeface="Adobe Hebrew" panose="02040503050201020203" pitchFamily="18" charset="-79"/>
                  <a:cs typeface="Adobe Hebrew" panose="02040503050201020203" pitchFamily="18" charset="-79"/>
                </a:rPr>
                <a:t>Region </a:t>
              </a:r>
            </a:p>
          </p:txBody>
        </p:sp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D8A47E34-5DE9-82C3-C367-63DE14365966}"/>
              </a:ext>
            </a:extLst>
          </p:cNvPr>
          <p:cNvSpPr/>
          <p:nvPr/>
        </p:nvSpPr>
        <p:spPr>
          <a:xfrm>
            <a:off x="529741" y="1347760"/>
            <a:ext cx="221152" cy="474383"/>
          </a:xfrm>
          <a:prstGeom prst="downArrow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OffAxis2Lef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808000"/>
              </a:highligh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097CA7B-9D86-FAEF-4894-562457D98D1D}"/>
              </a:ext>
            </a:extLst>
          </p:cNvPr>
          <p:cNvSpPr/>
          <p:nvPr/>
        </p:nvSpPr>
        <p:spPr>
          <a:xfrm>
            <a:off x="11187877" y="4003762"/>
            <a:ext cx="221152" cy="474383"/>
          </a:xfrm>
          <a:prstGeom prst="downArrow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OffAxis2Lef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808000"/>
              </a:highlight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5FF5D796-59BE-F55B-77EA-6437A2009CC2}"/>
              </a:ext>
            </a:extLst>
          </p:cNvPr>
          <p:cNvSpPr/>
          <p:nvPr/>
        </p:nvSpPr>
        <p:spPr>
          <a:xfrm rot="10800000">
            <a:off x="11869935" y="3708398"/>
            <a:ext cx="221152" cy="474383"/>
          </a:xfrm>
          <a:prstGeom prst="down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OffAxis2Lef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4" name="TextBox 703">
            <a:extLst>
              <a:ext uri="{FF2B5EF4-FFF2-40B4-BE49-F238E27FC236}">
                <a16:creationId xmlns:a16="http://schemas.microsoft.com/office/drawing/2014/main" id="{0162849E-4BE2-4334-F9AD-C3AD298F35E6}"/>
              </a:ext>
            </a:extLst>
          </p:cNvPr>
          <p:cNvSpPr txBox="1"/>
          <p:nvPr/>
        </p:nvSpPr>
        <p:spPr>
          <a:xfrm>
            <a:off x="6066391" y="942423"/>
            <a:ext cx="48785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want to expedite experiments and maintain accuracy of applied forces to a large cell sample size.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D8BC18-0F3A-6C61-7BBA-77AA01077C2E}"/>
              </a:ext>
            </a:extLst>
          </p:cNvPr>
          <p:cNvSpPr txBox="1"/>
          <p:nvPr/>
        </p:nvSpPr>
        <p:spPr>
          <a:xfrm>
            <a:off x="4469589" y="4732725"/>
            <a:ext cx="17855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cs typeface="Adobe Hebrew" panose="02040503050201020203" pitchFamily="18" charset="-79"/>
              </a:rPr>
              <a:t>Side View</a:t>
            </a:r>
            <a:endParaRPr lang="en-US" sz="2000" u="sng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02FC2F-E4AA-8D94-6CBB-A602CC1BD468}"/>
              </a:ext>
            </a:extLst>
          </p:cNvPr>
          <p:cNvSpPr txBox="1"/>
          <p:nvPr/>
        </p:nvSpPr>
        <p:spPr>
          <a:xfrm>
            <a:off x="11558493" y="652833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7/40</a:t>
            </a:r>
          </a:p>
        </p:txBody>
      </p:sp>
    </p:spTree>
    <p:extLst>
      <p:ext uri="{BB962C8B-B14F-4D97-AF65-F5344CB8AC3E}">
        <p14:creationId xmlns:p14="http://schemas.microsoft.com/office/powerpoint/2010/main" val="161582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 animBg="1"/>
      <p:bldP spid="20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2C534-0C31-ECFB-4477-70508F82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itle 1">
            <a:extLst>
              <a:ext uri="{FF2B5EF4-FFF2-40B4-BE49-F238E27FC236}">
                <a16:creationId xmlns:a16="http://schemas.microsoft.com/office/drawing/2014/main" id="{D244C10C-5162-2343-545F-2F31B3F90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5874" y="-135029"/>
            <a:ext cx="5922109" cy="8948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  <a:cs typeface="Adobe Hebrew" panose="02040503050201020203" pitchFamily="18" charset="-79"/>
              </a:rPr>
              <a:t>Theoretical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CD27D76B-4E4A-BB1F-EA3A-6520847020BF}"/>
                  </a:ext>
                </a:extLst>
              </p:cNvPr>
              <p:cNvSpPr txBox="1"/>
              <p:nvPr/>
            </p:nvSpPr>
            <p:spPr>
              <a:xfrm>
                <a:off x="7303416" y="1225946"/>
                <a:ext cx="4207562" cy="9319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53618C9D-B95D-34D4-1EA8-73D4CA758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416" y="1225946"/>
                <a:ext cx="4207562" cy="931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TextBox 211">
            <a:extLst>
              <a:ext uri="{FF2B5EF4-FFF2-40B4-BE49-F238E27FC236}">
                <a16:creationId xmlns:a16="http://schemas.microsoft.com/office/drawing/2014/main" id="{D64FF93C-5959-E904-D281-861FCEC846D7}"/>
              </a:ext>
            </a:extLst>
          </p:cNvPr>
          <p:cNvSpPr txBox="1"/>
          <p:nvPr/>
        </p:nvSpPr>
        <p:spPr>
          <a:xfrm>
            <a:off x="6769931" y="604157"/>
            <a:ext cx="175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cs typeface="Adobe Hebrew" panose="02040503050201020203" pitchFamily="18" charset="-79"/>
              </a:rPr>
              <a:t>Objective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80A19DC5-68E3-6D8E-B00C-E4AE7D8A461B}"/>
              </a:ext>
            </a:extLst>
          </p:cNvPr>
          <p:cNvSpPr/>
          <p:nvPr/>
        </p:nvSpPr>
        <p:spPr>
          <a:xfrm>
            <a:off x="6895679" y="1152677"/>
            <a:ext cx="5023036" cy="113164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AF6F80-E7FA-5B9E-7CFD-4AC0FA734540}"/>
              </a:ext>
            </a:extLst>
          </p:cNvPr>
          <p:cNvGrpSpPr/>
          <p:nvPr/>
        </p:nvGrpSpPr>
        <p:grpSpPr>
          <a:xfrm>
            <a:off x="6782057" y="2260722"/>
            <a:ext cx="5547593" cy="4519515"/>
            <a:chOff x="6885032" y="850202"/>
            <a:chExt cx="5547593" cy="4227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C7AD9158-6F8B-49A0-A466-4C4827656055}"/>
                    </a:ext>
                  </a:extLst>
                </p:cNvPr>
                <p:cNvSpPr txBox="1"/>
                <p:nvPr/>
              </p:nvSpPr>
              <p:spPr>
                <a:xfrm>
                  <a:off x="7414590" y="1456617"/>
                  <a:ext cx="4008085" cy="7022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≪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  <a:endParaRPr lang="en-US" sz="2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5039B28-2F55-4417-E65F-783AB72375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4590" y="1456617"/>
                  <a:ext cx="4008085" cy="7022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1AF7F5E-863B-E9EC-C80B-4B73876560BC}"/>
                </a:ext>
              </a:extLst>
            </p:cNvPr>
            <p:cNvGrpSpPr/>
            <p:nvPr/>
          </p:nvGrpSpPr>
          <p:grpSpPr>
            <a:xfrm>
              <a:off x="6885032" y="850202"/>
              <a:ext cx="5547593" cy="4227957"/>
              <a:chOff x="6885032" y="850202"/>
              <a:chExt cx="5547593" cy="4227957"/>
            </a:xfrm>
          </p:grpSpPr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8757F9EE-8FC5-2D9D-65F1-1DBA89D3DD90}"/>
                  </a:ext>
                </a:extLst>
              </p:cNvPr>
              <p:cNvSpPr txBox="1"/>
              <p:nvPr/>
            </p:nvSpPr>
            <p:spPr>
              <a:xfrm>
                <a:off x="6885032" y="850202"/>
                <a:ext cx="2801771" cy="489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u="sng" dirty="0">
                    <a:cs typeface="Adobe Hebrew" panose="02040503050201020203" pitchFamily="18" charset="-79"/>
                  </a:rPr>
                  <a:t>Considerations</a:t>
                </a: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73F58F86-4F9C-4274-CA99-91A5F8C737B2}"/>
                  </a:ext>
                </a:extLst>
              </p:cNvPr>
              <p:cNvSpPr/>
              <p:nvPr/>
            </p:nvSpPr>
            <p:spPr>
              <a:xfrm>
                <a:off x="7014552" y="1409083"/>
                <a:ext cx="5023036" cy="819187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C763D33F-AD15-47DB-80CE-29CA46B5616C}"/>
                  </a:ext>
                </a:extLst>
              </p:cNvPr>
              <p:cNvGrpSpPr/>
              <p:nvPr/>
            </p:nvGrpSpPr>
            <p:grpSpPr>
              <a:xfrm>
                <a:off x="7020331" y="2500918"/>
                <a:ext cx="5412294" cy="2577241"/>
                <a:chOff x="7020331" y="2500918"/>
                <a:chExt cx="5412294" cy="257724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8" name="TextBox 207">
                      <a:extLst>
                        <a:ext uri="{FF2B5EF4-FFF2-40B4-BE49-F238E27FC236}">
                          <a16:creationId xmlns:a16="http://schemas.microsoft.com/office/drawing/2014/main" id="{E623FD1B-6E69-0DA7-B836-86771E07F4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77151" y="4351206"/>
                      <a:ext cx="1466042" cy="649083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h𝑊</m:t>
                                </m:r>
                              </m:den>
                            </m:f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08" name="TextBox 207">
                      <a:extLst>
                        <a:ext uri="{FF2B5EF4-FFF2-40B4-BE49-F238E27FC236}">
                          <a16:creationId xmlns:a16="http://schemas.microsoft.com/office/drawing/2014/main" id="{D2E75F37-270E-F7F3-E199-89243616063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77151" y="4351206"/>
                      <a:ext cx="1466042" cy="64908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8808C5D2-D6E5-113E-41BA-DD4BFAECDC50}"/>
                    </a:ext>
                  </a:extLst>
                </p:cNvPr>
                <p:cNvGrpSpPr/>
                <p:nvPr/>
              </p:nvGrpSpPr>
              <p:grpSpPr>
                <a:xfrm>
                  <a:off x="7020331" y="2500918"/>
                  <a:ext cx="5412294" cy="2577241"/>
                  <a:chOff x="7136349" y="4797600"/>
                  <a:chExt cx="4647581" cy="100208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09" name="TextBox 208">
                        <a:extLst>
                          <a:ext uri="{FF2B5EF4-FFF2-40B4-BE49-F238E27FC236}">
                            <a16:creationId xmlns:a16="http://schemas.microsoft.com/office/drawing/2014/main" id="{77423B86-F233-01D6-7AA4-9EBEA0B8136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518872" y="5157466"/>
                        <a:ext cx="3632703" cy="33103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≪1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209" name="TextBox 208">
                        <a:extLst>
                          <a:ext uri="{FF2B5EF4-FFF2-40B4-BE49-F238E27FC236}">
                            <a16:creationId xmlns:a16="http://schemas.microsoft.com/office/drawing/2014/main" id="{B8373217-A782-5FB5-CD62-E6EFED30ECA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518872" y="5157466"/>
                        <a:ext cx="3632703" cy="331038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22" name="Rectangle 221">
                    <a:extLst>
                      <a:ext uri="{FF2B5EF4-FFF2-40B4-BE49-F238E27FC236}">
                        <a16:creationId xmlns:a16="http://schemas.microsoft.com/office/drawing/2014/main" id="{7D0C4973-3C39-16F6-8C68-4D8BAA644A3E}"/>
                      </a:ext>
                    </a:extLst>
                  </p:cNvPr>
                  <p:cNvSpPr/>
                  <p:nvPr/>
                </p:nvSpPr>
                <p:spPr>
                  <a:xfrm>
                    <a:off x="7136349" y="4797600"/>
                    <a:ext cx="4313321" cy="1002087"/>
                  </a:xfrm>
                  <a:prstGeom prst="rect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676DC23B-E942-01D1-BDD9-EC10048A554D}"/>
                      </a:ext>
                    </a:extLst>
                  </p:cNvPr>
                  <p:cNvSpPr txBox="1"/>
                  <p:nvPr/>
                </p:nvSpPr>
                <p:spPr>
                  <a:xfrm>
                    <a:off x="7179924" y="4862139"/>
                    <a:ext cx="4604006" cy="3022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b="1" dirty="0">
                        <a:cs typeface="Adobe Hebrew" panose="02040503050201020203" pitchFamily="18" charset="-79"/>
                      </a:rPr>
                      <a:t>The relevant lubrication Reynolds number satisfies </a:t>
                    </a:r>
                    <a:endParaRPr lang="en-US" sz="2400" b="1" dirty="0"/>
                  </a:p>
                </p:txBody>
              </p:sp>
            </p:grpSp>
          </p:grp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C5B4E5-96C1-14D2-D8A5-20391140D99D}"/>
                </a:ext>
              </a:extLst>
            </p:cNvPr>
            <p:cNvSpPr txBox="1"/>
            <p:nvPr/>
          </p:nvSpPr>
          <p:spPr>
            <a:xfrm>
              <a:off x="7083775" y="4072589"/>
              <a:ext cx="1202143" cy="431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cs typeface="Adobe Hebrew" panose="02040503050201020203" pitchFamily="18" charset="-79"/>
                </a:rPr>
                <a:t>where</a:t>
              </a:r>
              <a:endParaRPr lang="en-US" sz="2400" dirty="0"/>
            </a:p>
          </p:txBody>
        </p:sp>
      </p:grpSp>
      <p:sp>
        <p:nvSpPr>
          <p:cNvPr id="219" name="TextBox 218">
            <a:extLst>
              <a:ext uri="{FF2B5EF4-FFF2-40B4-BE49-F238E27FC236}">
                <a16:creationId xmlns:a16="http://schemas.microsoft.com/office/drawing/2014/main" id="{E3FE6EEA-F823-1E0A-11D0-893BED3C9241}"/>
              </a:ext>
            </a:extLst>
          </p:cNvPr>
          <p:cNvSpPr txBox="1"/>
          <p:nvPr/>
        </p:nvSpPr>
        <p:spPr>
          <a:xfrm>
            <a:off x="456803" y="636959"/>
            <a:ext cx="12660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cs typeface="Adobe Hebrew" panose="02040503050201020203" pitchFamily="18" charset="-79"/>
              </a:rPr>
              <a:t>Setup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126C978-3455-D3A4-E092-9D2510CC0159}"/>
              </a:ext>
            </a:extLst>
          </p:cNvPr>
          <p:cNvGrpSpPr/>
          <p:nvPr/>
        </p:nvGrpSpPr>
        <p:grpSpPr>
          <a:xfrm>
            <a:off x="770011" y="2886669"/>
            <a:ext cx="5582874" cy="3190927"/>
            <a:chOff x="6326375" y="2502298"/>
            <a:chExt cx="5229793" cy="3031272"/>
          </a:xfrm>
        </p:grpSpPr>
        <p:sp>
          <p:nvSpPr>
            <p:cNvPr id="123" name="Flowchart: Preparation 122">
              <a:extLst>
                <a:ext uri="{FF2B5EF4-FFF2-40B4-BE49-F238E27FC236}">
                  <a16:creationId xmlns:a16="http://schemas.microsoft.com/office/drawing/2014/main" id="{3C07CC52-8341-6103-3154-619EB5EF069F}"/>
                </a:ext>
              </a:extLst>
            </p:cNvPr>
            <p:cNvSpPr/>
            <p:nvPr/>
          </p:nvSpPr>
          <p:spPr>
            <a:xfrm>
              <a:off x="6326375" y="2916440"/>
              <a:ext cx="5228012" cy="2617130"/>
            </a:xfrm>
            <a:prstGeom prst="flowChartPreparat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prstDash val="dashDot"/>
            </a:ln>
            <a:scene3d>
              <a:camera prst="isometricOffAxis2Top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Flowchart: Preparation 123">
              <a:extLst>
                <a:ext uri="{FF2B5EF4-FFF2-40B4-BE49-F238E27FC236}">
                  <a16:creationId xmlns:a16="http://schemas.microsoft.com/office/drawing/2014/main" id="{0D31FB09-363B-F943-7EE4-C525EB9FF01D}"/>
                </a:ext>
              </a:extLst>
            </p:cNvPr>
            <p:cNvSpPr/>
            <p:nvPr/>
          </p:nvSpPr>
          <p:spPr>
            <a:xfrm>
              <a:off x="6328156" y="2502298"/>
              <a:ext cx="5228012" cy="2617130"/>
            </a:xfrm>
            <a:prstGeom prst="flowChartPreparation">
              <a:avLst/>
            </a:prstGeom>
            <a:noFill/>
            <a:ln w="38100">
              <a:prstDash val="dash"/>
            </a:ln>
            <a:scene3d>
              <a:camera prst="isometricOffAxis2Top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C41FACA8-D192-04F1-0545-1ACA23E081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1935" y="4029740"/>
              <a:ext cx="0" cy="81325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DFB55F56-9A24-BBF9-1301-F6BAE8F65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0396" y="3089546"/>
              <a:ext cx="0" cy="81325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0AF1541-E457-2B36-ABB4-8D214F851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6586" y="3578026"/>
              <a:ext cx="0" cy="81325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C6484E2-40EA-9EA9-4B8E-09664FB738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85748" y="3816016"/>
              <a:ext cx="0" cy="81325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0BB4D00-1C31-E8B8-EE84-4A499235A3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2530" y="3290911"/>
              <a:ext cx="0" cy="81325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12EB16F9-C497-3EDA-4963-74169F8D2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5535" y="2837632"/>
              <a:ext cx="0" cy="81325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54B3C136-65BE-ADFB-16C3-ED0154475D62}"/>
              </a:ext>
            </a:extLst>
          </p:cNvPr>
          <p:cNvCxnSpPr>
            <a:cxnSpLocks/>
          </p:cNvCxnSpPr>
          <p:nvPr/>
        </p:nvCxnSpPr>
        <p:spPr>
          <a:xfrm flipH="1">
            <a:off x="5062753" y="5503119"/>
            <a:ext cx="432824" cy="27755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8565A28E-EDF1-30DF-05F6-71F21E47B8FE}"/>
              </a:ext>
            </a:extLst>
          </p:cNvPr>
          <p:cNvCxnSpPr>
            <a:cxnSpLocks/>
          </p:cNvCxnSpPr>
          <p:nvPr/>
        </p:nvCxnSpPr>
        <p:spPr>
          <a:xfrm flipH="1">
            <a:off x="57350" y="4687517"/>
            <a:ext cx="419199" cy="27859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2BFC52C-DE9E-DD35-28A7-A6B73595D3C0}"/>
              </a:ext>
            </a:extLst>
          </p:cNvPr>
          <p:cNvCxnSpPr>
            <a:cxnSpLocks/>
          </p:cNvCxnSpPr>
          <p:nvPr/>
        </p:nvCxnSpPr>
        <p:spPr>
          <a:xfrm>
            <a:off x="6107652" y="4264156"/>
            <a:ext cx="482859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53D472C-36CC-2DCB-830C-E1ACAF539075}"/>
              </a:ext>
            </a:extLst>
          </p:cNvPr>
          <p:cNvCxnSpPr>
            <a:cxnSpLocks/>
          </p:cNvCxnSpPr>
          <p:nvPr/>
        </p:nvCxnSpPr>
        <p:spPr>
          <a:xfrm>
            <a:off x="6107652" y="5125670"/>
            <a:ext cx="482859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E0556D14-8785-9102-B4B8-1F3DCEC12C9A}"/>
              </a:ext>
            </a:extLst>
          </p:cNvPr>
          <p:cNvCxnSpPr/>
          <p:nvPr/>
        </p:nvCxnSpPr>
        <p:spPr>
          <a:xfrm flipV="1">
            <a:off x="2062867" y="3711471"/>
            <a:ext cx="0" cy="35649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F4E66038-777A-6FAE-5960-1178A4409318}"/>
              </a:ext>
            </a:extLst>
          </p:cNvPr>
          <p:cNvCxnSpPr>
            <a:cxnSpLocks/>
          </p:cNvCxnSpPr>
          <p:nvPr/>
        </p:nvCxnSpPr>
        <p:spPr>
          <a:xfrm flipV="1">
            <a:off x="3300061" y="2950045"/>
            <a:ext cx="0" cy="35649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A32AE517-F001-F559-F28D-ADAA75A62B15}"/>
                  </a:ext>
                </a:extLst>
              </p:cNvPr>
              <p:cNvSpPr txBox="1"/>
              <p:nvPr/>
            </p:nvSpPr>
            <p:spPr>
              <a:xfrm>
                <a:off x="6391302" y="4505812"/>
                <a:ext cx="4156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7DF7BB80-C669-675D-8889-9A5CFDFB3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302" y="4505812"/>
                <a:ext cx="415627" cy="369332"/>
              </a:xfrm>
              <a:prstGeom prst="rect">
                <a:avLst/>
              </a:prstGeom>
              <a:blipFill>
                <a:blip r:embed="rId7"/>
                <a:stretch>
                  <a:fillRect l="-15942" r="-15942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14BD4D4-8007-170F-5E79-6719565F8A8B}"/>
                  </a:ext>
                </a:extLst>
              </p:cNvPr>
              <p:cNvSpPr txBox="1"/>
              <p:nvPr/>
            </p:nvSpPr>
            <p:spPr>
              <a:xfrm>
                <a:off x="1881429" y="3355409"/>
                <a:ext cx="5426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97A95A3-D22E-5B9B-9CD8-8E93C114A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429" y="3355409"/>
                <a:ext cx="542649" cy="369332"/>
              </a:xfrm>
              <a:prstGeom prst="rect">
                <a:avLst/>
              </a:prstGeom>
              <a:blipFill>
                <a:blip r:embed="rId8"/>
                <a:stretch>
                  <a:fillRect l="-13483" r="-10112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B12456EA-AD37-D8E7-FFB4-C9EB46F49DD1}"/>
                  </a:ext>
                </a:extLst>
              </p:cNvPr>
              <p:cNvSpPr txBox="1"/>
              <p:nvPr/>
            </p:nvSpPr>
            <p:spPr>
              <a:xfrm>
                <a:off x="2210331" y="5295416"/>
                <a:ext cx="4086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428CE789-44C1-E32A-0BAA-7E9152EC2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331" y="5295416"/>
                <a:ext cx="408638" cy="369332"/>
              </a:xfrm>
              <a:prstGeom prst="rect">
                <a:avLst/>
              </a:prstGeom>
              <a:blipFill>
                <a:blip r:embed="rId9"/>
                <a:stretch>
                  <a:fillRect l="-17910" r="-16418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1A555D51-2F88-8201-82A9-94CD8DFB869F}"/>
              </a:ext>
            </a:extLst>
          </p:cNvPr>
          <p:cNvCxnSpPr>
            <a:cxnSpLocks/>
          </p:cNvCxnSpPr>
          <p:nvPr/>
        </p:nvCxnSpPr>
        <p:spPr>
          <a:xfrm flipV="1">
            <a:off x="6349081" y="4269581"/>
            <a:ext cx="0" cy="85608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CD75B959-B50F-8CA9-EFFA-84513F116F86}"/>
                  </a:ext>
                </a:extLst>
              </p:cNvPr>
              <p:cNvSpPr txBox="1"/>
              <p:nvPr/>
            </p:nvSpPr>
            <p:spPr>
              <a:xfrm>
                <a:off x="1313500" y="1261670"/>
                <a:ext cx="3829382" cy="1189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𝑹𝒆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D00981C2-5E86-7F01-6C5D-335CA171D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500" y="1261670"/>
                <a:ext cx="3829382" cy="11890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1A07F8C-0A6E-AA70-7454-AEFBB947B920}"/>
                  </a:ext>
                </a:extLst>
              </p:cNvPr>
              <p:cNvSpPr txBox="1"/>
              <p:nvPr/>
            </p:nvSpPr>
            <p:spPr>
              <a:xfrm>
                <a:off x="5551548" y="2240950"/>
                <a:ext cx="7440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174F9F7D-AC3D-388D-A287-003761904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548" y="2240950"/>
                <a:ext cx="744067" cy="461665"/>
              </a:xfrm>
              <a:prstGeom prst="rect">
                <a:avLst/>
              </a:prstGeom>
              <a:blipFill>
                <a:blip r:embed="rId11"/>
                <a:stretch>
                  <a:fillRect l="-57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" name="Arc 244">
            <a:extLst>
              <a:ext uri="{FF2B5EF4-FFF2-40B4-BE49-F238E27FC236}">
                <a16:creationId xmlns:a16="http://schemas.microsoft.com/office/drawing/2014/main" id="{BED7AF9C-B7B3-013A-6A8C-281DAFBF6D3A}"/>
              </a:ext>
            </a:extLst>
          </p:cNvPr>
          <p:cNvSpPr/>
          <p:nvPr/>
        </p:nvSpPr>
        <p:spPr>
          <a:xfrm rot="14919944">
            <a:off x="5587308" y="4659960"/>
            <a:ext cx="589726" cy="732384"/>
          </a:xfrm>
          <a:prstGeom prst="arc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689A06A0-D396-A0C7-730B-E58412C6C2E8}"/>
                  </a:ext>
                </a:extLst>
              </p:cNvPr>
              <p:cNvSpPr txBox="1"/>
              <p:nvPr/>
            </p:nvSpPr>
            <p:spPr>
              <a:xfrm>
                <a:off x="4985150" y="4726017"/>
                <a:ext cx="1901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FB70A85E-8BAF-55B2-119C-11A18A0C3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150" y="4726017"/>
                <a:ext cx="190151" cy="461665"/>
              </a:xfrm>
              <a:prstGeom prst="rect">
                <a:avLst/>
              </a:prstGeom>
              <a:blipFill>
                <a:blip r:embed="rId12"/>
                <a:stretch>
                  <a:fillRect l="-9677" r="-190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8B7999DA-CA28-D5BB-6E35-C36AF708E34C}"/>
                  </a:ext>
                </a:extLst>
              </p:cNvPr>
              <p:cNvSpPr txBox="1"/>
              <p:nvPr/>
            </p:nvSpPr>
            <p:spPr>
              <a:xfrm>
                <a:off x="3382617" y="4369592"/>
                <a:ext cx="828769" cy="4001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7105C0D8-3240-314D-E4CB-4E5FE790E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617" y="4369592"/>
                <a:ext cx="828769" cy="40011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2E264E7A-06BE-7357-1B81-FFA060514F3A}"/>
                  </a:ext>
                </a:extLst>
              </p:cNvPr>
              <p:cNvSpPr txBox="1"/>
              <p:nvPr/>
            </p:nvSpPr>
            <p:spPr>
              <a:xfrm>
                <a:off x="3761130" y="3805493"/>
                <a:ext cx="828769" cy="4001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dirty="0"/>
                  <a:t>y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73471DBE-4BC8-8EB6-D6D6-9F6DEAD83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130" y="3805493"/>
                <a:ext cx="828769" cy="400111"/>
              </a:xfrm>
              <a:prstGeom prst="rect">
                <a:avLst/>
              </a:prstGeom>
              <a:blipFill>
                <a:blip r:embed="rId14"/>
                <a:stretch>
                  <a:fillRect l="-8088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53D0CB44-D2AB-B5CD-793B-412337138DEB}"/>
                  </a:ext>
                </a:extLst>
              </p:cNvPr>
              <p:cNvSpPr txBox="1"/>
              <p:nvPr/>
            </p:nvSpPr>
            <p:spPr>
              <a:xfrm>
                <a:off x="2868961" y="3781336"/>
                <a:ext cx="828769" cy="4001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dirty="0"/>
                  <a:t>z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CFE16403-891C-D044-D481-244F861D4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961" y="3781336"/>
                <a:ext cx="828769" cy="400111"/>
              </a:xfrm>
              <a:prstGeom prst="rect">
                <a:avLst/>
              </a:prstGeom>
              <a:blipFill>
                <a:blip r:embed="rId15"/>
                <a:stretch>
                  <a:fillRect l="-8088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9890A26-9F12-B8A2-F50E-D47D65EC9A2E}"/>
              </a:ext>
            </a:extLst>
          </p:cNvPr>
          <p:cNvCxnSpPr>
            <a:cxnSpLocks/>
          </p:cNvCxnSpPr>
          <p:nvPr/>
        </p:nvCxnSpPr>
        <p:spPr>
          <a:xfrm flipV="1">
            <a:off x="3447724" y="3930058"/>
            <a:ext cx="3657" cy="336805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9A11F9-6CE5-3CDE-C6B2-A0F7A37CC918}"/>
              </a:ext>
            </a:extLst>
          </p:cNvPr>
          <p:cNvCxnSpPr>
            <a:cxnSpLocks/>
          </p:cNvCxnSpPr>
          <p:nvPr/>
        </p:nvCxnSpPr>
        <p:spPr>
          <a:xfrm flipV="1">
            <a:off x="3456236" y="4035328"/>
            <a:ext cx="376532" cy="227612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440D254-CB11-16AD-003E-D1358E168340}"/>
              </a:ext>
            </a:extLst>
          </p:cNvPr>
          <p:cNvCxnSpPr>
            <a:cxnSpLocks/>
          </p:cNvCxnSpPr>
          <p:nvPr/>
        </p:nvCxnSpPr>
        <p:spPr>
          <a:xfrm>
            <a:off x="3439017" y="4260271"/>
            <a:ext cx="393751" cy="60649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chart: Preparation 31">
            <a:extLst>
              <a:ext uri="{FF2B5EF4-FFF2-40B4-BE49-F238E27FC236}">
                <a16:creationId xmlns:a16="http://schemas.microsoft.com/office/drawing/2014/main" id="{3F4FC920-1AE9-0E01-F1E1-2118A76A0790}"/>
              </a:ext>
            </a:extLst>
          </p:cNvPr>
          <p:cNvSpPr/>
          <p:nvPr/>
        </p:nvSpPr>
        <p:spPr>
          <a:xfrm>
            <a:off x="768112" y="2450714"/>
            <a:ext cx="5580972" cy="2754973"/>
          </a:xfrm>
          <a:prstGeom prst="flowChartPreparation">
            <a:avLst/>
          </a:prstGeom>
          <a:noFill/>
          <a:ln w="38100">
            <a:prstDash val="dash"/>
          </a:ln>
          <a:scene3d>
            <a:camera prst="isometricOffAxis2Top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914DF065-91B3-1C1B-7182-0CB1510803D6}"/>
              </a:ext>
            </a:extLst>
          </p:cNvPr>
          <p:cNvSpPr/>
          <p:nvPr/>
        </p:nvSpPr>
        <p:spPr>
          <a:xfrm>
            <a:off x="1046637" y="2756566"/>
            <a:ext cx="512659" cy="911022"/>
          </a:xfrm>
          <a:prstGeom prst="can">
            <a:avLst>
              <a:gd name="adj" fmla="val 40373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8B60DC6-0855-43A0-CEB1-42321B15290C}"/>
              </a:ext>
            </a:extLst>
          </p:cNvPr>
          <p:cNvSpPr/>
          <p:nvPr/>
        </p:nvSpPr>
        <p:spPr>
          <a:xfrm>
            <a:off x="1133463" y="2810077"/>
            <a:ext cx="351620" cy="10329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B1C4F8D9-0423-94F9-41C5-6C3FD22E5A20}"/>
              </a:ext>
            </a:extLst>
          </p:cNvPr>
          <p:cNvSpPr/>
          <p:nvPr/>
        </p:nvSpPr>
        <p:spPr>
          <a:xfrm>
            <a:off x="1089833" y="2278886"/>
            <a:ext cx="429635" cy="597430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OffAxis2Lef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6CC3E58-4B8C-118D-5E51-03F14E6774BF}"/>
              </a:ext>
            </a:extLst>
          </p:cNvPr>
          <p:cNvCxnSpPr/>
          <p:nvPr/>
        </p:nvCxnSpPr>
        <p:spPr>
          <a:xfrm flipV="1">
            <a:off x="2066667" y="3134171"/>
            <a:ext cx="1237194" cy="77939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Cylinder 36">
            <a:extLst>
              <a:ext uri="{FF2B5EF4-FFF2-40B4-BE49-F238E27FC236}">
                <a16:creationId xmlns:a16="http://schemas.microsoft.com/office/drawing/2014/main" id="{D2229875-904F-D491-237A-0655C4D220D4}"/>
              </a:ext>
            </a:extLst>
          </p:cNvPr>
          <p:cNvSpPr/>
          <p:nvPr/>
        </p:nvSpPr>
        <p:spPr>
          <a:xfrm>
            <a:off x="5551549" y="3390005"/>
            <a:ext cx="512659" cy="911022"/>
          </a:xfrm>
          <a:prstGeom prst="can">
            <a:avLst>
              <a:gd name="adj" fmla="val 42587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D6B5C18-9CB5-118A-83DB-6998DCC785BB}"/>
              </a:ext>
            </a:extLst>
          </p:cNvPr>
          <p:cNvSpPr/>
          <p:nvPr/>
        </p:nvSpPr>
        <p:spPr>
          <a:xfrm>
            <a:off x="5644431" y="3444939"/>
            <a:ext cx="326894" cy="10301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AEFAF1D4-5F55-EBF7-AB6C-1BE76EA6879D}"/>
              </a:ext>
            </a:extLst>
          </p:cNvPr>
          <p:cNvSpPr/>
          <p:nvPr/>
        </p:nvSpPr>
        <p:spPr>
          <a:xfrm rot="10800000">
            <a:off x="5579970" y="2779193"/>
            <a:ext cx="429635" cy="597430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OffAxis2Lef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F31419-6993-5931-8E6E-86FC943B1880}"/>
              </a:ext>
            </a:extLst>
          </p:cNvPr>
          <p:cNvCxnSpPr>
            <a:cxnSpLocks/>
          </p:cNvCxnSpPr>
          <p:nvPr/>
        </p:nvCxnSpPr>
        <p:spPr>
          <a:xfrm>
            <a:off x="254634" y="4843804"/>
            <a:ext cx="5046950" cy="78084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28650E7-FDBC-EAA6-D650-301094AE6240}"/>
              </a:ext>
            </a:extLst>
          </p:cNvPr>
          <p:cNvSpPr txBox="1"/>
          <p:nvPr/>
        </p:nvSpPr>
        <p:spPr>
          <a:xfrm>
            <a:off x="0" y="65123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8/40</a:t>
            </a:r>
          </a:p>
        </p:txBody>
      </p:sp>
    </p:spTree>
    <p:extLst>
      <p:ext uri="{BB962C8B-B14F-4D97-AF65-F5344CB8AC3E}">
        <p14:creationId xmlns:p14="http://schemas.microsoft.com/office/powerpoint/2010/main" val="2854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/>
      <p:bldP spid="212" grpId="0"/>
      <p:bldP spid="232" grpId="0" animBg="1"/>
      <p:bldP spid="20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964D8-028E-BD01-F394-9EA19C6F7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9028F31-77E9-4BA0-662F-9037E9AB4D7A}"/>
                  </a:ext>
                </a:extLst>
              </p:cNvPr>
              <p:cNvSpPr txBox="1"/>
              <p:nvPr/>
            </p:nvSpPr>
            <p:spPr>
              <a:xfrm>
                <a:off x="-160005" y="1480826"/>
                <a:ext cx="4051698" cy="795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FA524DA-E17F-CEE7-10CE-7AC8960A9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005" y="1480826"/>
                <a:ext cx="4051698" cy="7952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FFA87AE-4EBA-E469-7B45-96CE292DC82F}"/>
              </a:ext>
            </a:extLst>
          </p:cNvPr>
          <p:cNvGrpSpPr/>
          <p:nvPr/>
        </p:nvGrpSpPr>
        <p:grpSpPr>
          <a:xfrm>
            <a:off x="198254" y="3557893"/>
            <a:ext cx="4129033" cy="3086288"/>
            <a:chOff x="7580884" y="3666770"/>
            <a:chExt cx="4129033" cy="30862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51F8EFF-4888-D3DF-6EA6-4C2AFA80F231}"/>
                    </a:ext>
                  </a:extLst>
                </p:cNvPr>
                <p:cNvSpPr txBox="1"/>
                <p:nvPr/>
              </p:nvSpPr>
              <p:spPr>
                <a:xfrm>
                  <a:off x="7580884" y="5568951"/>
                  <a:ext cx="3796557" cy="11841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9A57486-666A-9980-8B6D-789905186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0884" y="5568951"/>
                  <a:ext cx="3796557" cy="118410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1765473-477C-8891-2719-30DEF1B19E39}"/>
                </a:ext>
              </a:extLst>
            </p:cNvPr>
            <p:cNvSpPr txBox="1"/>
            <p:nvPr/>
          </p:nvSpPr>
          <p:spPr>
            <a:xfrm>
              <a:off x="7675510" y="3666770"/>
              <a:ext cx="370523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u="sng" dirty="0">
                  <a:cs typeface="Adobe Hebrew" panose="02040503050201020203" pitchFamily="18" charset="-79"/>
                </a:rPr>
                <a:t>Dimensionless Variables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7E4437D-67AB-BE0B-590F-5A58FF9575E8}"/>
                    </a:ext>
                  </a:extLst>
                </p:cNvPr>
                <p:cNvSpPr txBox="1"/>
                <p:nvPr/>
              </p:nvSpPr>
              <p:spPr>
                <a:xfrm>
                  <a:off x="7636744" y="4176712"/>
                  <a:ext cx="3368748" cy="6194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28A7B38-1E59-AB26-6025-AC1DDC65D8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6744" y="4176712"/>
                  <a:ext cx="3368748" cy="6194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C661B7A-A12A-7B48-651C-C41725FA56D3}"/>
                    </a:ext>
                  </a:extLst>
                </p:cNvPr>
                <p:cNvSpPr txBox="1"/>
                <p:nvPr/>
              </p:nvSpPr>
              <p:spPr>
                <a:xfrm>
                  <a:off x="7988180" y="4988501"/>
                  <a:ext cx="3721737" cy="5423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sz="2000" dirty="0"/>
                    <a:t>,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sz="2000" dirty="0"/>
                    <a:t>,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870DF75-9D14-0D32-5A82-B2714F41B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8180" y="4988501"/>
                  <a:ext cx="3721737" cy="542328"/>
                </a:xfrm>
                <a:prstGeom prst="rect">
                  <a:avLst/>
                </a:prstGeom>
                <a:blipFill>
                  <a:blip r:embed="rId14"/>
                  <a:stretch>
                    <a:fillRect b="-11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E98A61F-64FC-A24D-DA9C-9ABB8ECEDBE7}"/>
              </a:ext>
            </a:extLst>
          </p:cNvPr>
          <p:cNvGrpSpPr/>
          <p:nvPr/>
        </p:nvGrpSpPr>
        <p:grpSpPr>
          <a:xfrm>
            <a:off x="4401647" y="3579809"/>
            <a:ext cx="3441972" cy="3156802"/>
            <a:chOff x="425267" y="3798555"/>
            <a:chExt cx="3441972" cy="27085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F742AE8-0E31-F2E3-9B9A-E0B844C08F3F}"/>
                    </a:ext>
                  </a:extLst>
                </p:cNvPr>
                <p:cNvSpPr txBox="1"/>
                <p:nvPr/>
              </p:nvSpPr>
              <p:spPr>
                <a:xfrm>
                  <a:off x="545437" y="4620358"/>
                  <a:ext cx="2429255" cy="5879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a14:m>
                  <a:r>
                    <a:rPr lang="en-US" sz="2800" dirty="0"/>
                    <a:t>+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den>
                      </m:f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FD8C48E-71F7-DC24-C0FD-31C096A4B3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437" y="4620358"/>
                  <a:ext cx="2429255" cy="587942"/>
                </a:xfrm>
                <a:prstGeom prst="rect">
                  <a:avLst/>
                </a:prstGeom>
                <a:blipFill>
                  <a:blip r:embed="rId15"/>
                  <a:stretch>
                    <a:fillRect l="-251" b="-115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05946B3-9478-5A99-D559-B5BFC0F0651D}"/>
                    </a:ext>
                  </a:extLst>
                </p:cNvPr>
                <p:cNvSpPr txBox="1"/>
                <p:nvPr/>
              </p:nvSpPr>
              <p:spPr>
                <a:xfrm>
                  <a:off x="509014" y="5274465"/>
                  <a:ext cx="2759923" cy="576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</m:oMath>
                  </a14:m>
                  <a:r>
                    <a:rPr lang="en-US" sz="2800" dirty="0"/>
                    <a:t>+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a14:m>
                  <a:endParaRPr lang="en-US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AFE6836-1769-B226-D58F-44DF4B500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014" y="5274465"/>
                  <a:ext cx="2759923" cy="576444"/>
                </a:xfrm>
                <a:prstGeom prst="rect">
                  <a:avLst/>
                </a:prstGeom>
                <a:blipFill>
                  <a:blip r:embed="rId16"/>
                  <a:stretch>
                    <a:fillRect b="-180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4B91DD6-3A8C-0D3E-1FC4-6C3B683FCED1}"/>
                    </a:ext>
                  </a:extLst>
                </p:cNvPr>
                <p:cNvSpPr txBox="1"/>
                <p:nvPr/>
              </p:nvSpPr>
              <p:spPr>
                <a:xfrm>
                  <a:off x="509014" y="5919788"/>
                  <a:ext cx="2724207" cy="5872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a14:m>
                  <a:r>
                    <a:rPr lang="en-US" sz="2800" dirty="0"/>
                    <a:t>+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a14:m>
                  <a:endParaRPr lang="en-US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DA5343B-38FB-7DC5-4FF4-407977CDF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014" y="5919788"/>
                  <a:ext cx="2724207" cy="587282"/>
                </a:xfrm>
                <a:prstGeom prst="rect">
                  <a:avLst/>
                </a:prstGeom>
                <a:blipFill>
                  <a:blip r:embed="rId17"/>
                  <a:stretch>
                    <a:fillRect b="-13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ECA1D7C-929C-C17D-ECE1-53BFBFAB177C}"/>
                </a:ext>
              </a:extLst>
            </p:cNvPr>
            <p:cNvSpPr txBox="1"/>
            <p:nvPr/>
          </p:nvSpPr>
          <p:spPr>
            <a:xfrm>
              <a:off x="425267" y="3798555"/>
              <a:ext cx="3441972" cy="6073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u="sng" dirty="0">
                  <a:cs typeface="Adobe Hebrew" panose="02040503050201020203" pitchFamily="18" charset="-79"/>
                </a:rPr>
                <a:t>Governing Equations for 2D Unsteady Lubrication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EFEC3FF-21A2-AD72-00CB-A45EF1FF8F97}"/>
                  </a:ext>
                </a:extLst>
              </p:cNvPr>
              <p:cNvSpPr txBox="1"/>
              <p:nvPr/>
            </p:nvSpPr>
            <p:spPr>
              <a:xfrm>
                <a:off x="8257936" y="6096361"/>
                <a:ext cx="34041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119D35F-37C1-CD80-B3D0-80B31AE19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936" y="6096361"/>
                <a:ext cx="3404137" cy="430887"/>
              </a:xfrm>
              <a:prstGeom prst="rect">
                <a:avLst/>
              </a:prstGeom>
              <a:blipFill>
                <a:blip r:embed="rId18"/>
                <a:stretch>
                  <a:fillRect l="-179" t="-25352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0D73022-7FB2-1BBB-D1C5-A7FFAE8F5649}"/>
                  </a:ext>
                </a:extLst>
              </p:cNvPr>
              <p:cNvSpPr txBox="1"/>
              <p:nvPr/>
            </p:nvSpPr>
            <p:spPr>
              <a:xfrm>
                <a:off x="8695754" y="4135474"/>
                <a:ext cx="1981761" cy="1273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𝜌𝜔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615292D-D3BC-C1F8-236A-C213A5569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754" y="4135474"/>
                <a:ext cx="1981761" cy="127304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>
            <a:extLst>
              <a:ext uri="{FF2B5EF4-FFF2-40B4-BE49-F238E27FC236}">
                <a16:creationId xmlns:a16="http://schemas.microsoft.com/office/drawing/2014/main" id="{5FFB1B10-EEC7-E306-4CDE-7E7375C172DE}"/>
              </a:ext>
            </a:extLst>
          </p:cNvPr>
          <p:cNvSpPr txBox="1"/>
          <p:nvPr/>
        </p:nvSpPr>
        <p:spPr>
          <a:xfrm>
            <a:off x="8573342" y="3662176"/>
            <a:ext cx="3368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cs typeface="Adobe Hebrew" panose="02040503050201020203" pitchFamily="18" charset="-79"/>
              </a:rPr>
              <a:t>Womersley Number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295BC3-BF7B-7047-0E18-A9A9066816F5}"/>
              </a:ext>
            </a:extLst>
          </p:cNvPr>
          <p:cNvSpPr txBox="1"/>
          <p:nvPr/>
        </p:nvSpPr>
        <p:spPr>
          <a:xfrm>
            <a:off x="8431602" y="5590462"/>
            <a:ext cx="351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cs typeface="Adobe Hebrew" panose="02040503050201020203" pitchFamily="18" charset="-79"/>
              </a:rPr>
              <a:t>Boundary Conditions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067E898-85DC-829F-7CC3-5597B0DF77CE}"/>
              </a:ext>
            </a:extLst>
          </p:cNvPr>
          <p:cNvSpPr txBox="1"/>
          <p:nvPr/>
        </p:nvSpPr>
        <p:spPr>
          <a:xfrm>
            <a:off x="487501" y="1031670"/>
            <a:ext cx="3849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cs typeface="Adobe Hebrew" panose="02040503050201020203" pitchFamily="18" charset="-79"/>
              </a:rPr>
              <a:t>Dimensionless Objective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7BCE78-715E-07E3-751B-1D4ADC64CD22}"/>
                  </a:ext>
                </a:extLst>
              </p:cNvPr>
              <p:cNvSpPr txBox="1"/>
              <p:nvPr/>
            </p:nvSpPr>
            <p:spPr>
              <a:xfrm>
                <a:off x="585844" y="2368473"/>
                <a:ext cx="2487356" cy="795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BED146-5AAE-031D-F48C-A8B3A3102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44" y="2368473"/>
                <a:ext cx="2487356" cy="79521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E9127036-D461-9DAA-FC27-89204F2AB2AF}"/>
              </a:ext>
            </a:extLst>
          </p:cNvPr>
          <p:cNvSpPr/>
          <p:nvPr/>
        </p:nvSpPr>
        <p:spPr>
          <a:xfrm>
            <a:off x="313800" y="1010175"/>
            <a:ext cx="3499705" cy="228993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7F344C-A7EF-38D4-2691-BD32EACCB534}"/>
              </a:ext>
            </a:extLst>
          </p:cNvPr>
          <p:cNvSpPr/>
          <p:nvPr/>
        </p:nvSpPr>
        <p:spPr>
          <a:xfrm>
            <a:off x="313800" y="3557893"/>
            <a:ext cx="3577185" cy="323776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A18DA0-D058-AEA7-2942-F46E29774C74}"/>
              </a:ext>
            </a:extLst>
          </p:cNvPr>
          <p:cNvSpPr/>
          <p:nvPr/>
        </p:nvSpPr>
        <p:spPr>
          <a:xfrm>
            <a:off x="4253495" y="3557893"/>
            <a:ext cx="3577185" cy="323776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0DD875-D1E1-CD79-DAD6-861A0BD0FB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62579" y="3604000"/>
            <a:ext cx="3684984" cy="185607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5AD7BF-46C4-7635-656B-DD268273F8FD}"/>
              </a:ext>
            </a:extLst>
          </p:cNvPr>
          <p:cNvSpPr/>
          <p:nvPr/>
        </p:nvSpPr>
        <p:spPr>
          <a:xfrm>
            <a:off x="8062579" y="5643360"/>
            <a:ext cx="3732418" cy="95699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588DDBD-EFD8-B34B-E94B-5297B2D81875}"/>
              </a:ext>
            </a:extLst>
          </p:cNvPr>
          <p:cNvGrpSpPr/>
          <p:nvPr/>
        </p:nvGrpSpPr>
        <p:grpSpPr>
          <a:xfrm>
            <a:off x="3835217" y="192021"/>
            <a:ext cx="8244079" cy="3249669"/>
            <a:chOff x="3835217" y="192021"/>
            <a:chExt cx="8244079" cy="3249669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B4650F1-812D-0FF4-71D2-70BACF5FA6E0}"/>
                </a:ext>
              </a:extLst>
            </p:cNvPr>
            <p:cNvGrpSpPr/>
            <p:nvPr/>
          </p:nvGrpSpPr>
          <p:grpSpPr>
            <a:xfrm>
              <a:off x="3835217" y="192021"/>
              <a:ext cx="7782552" cy="3224287"/>
              <a:chOff x="317202" y="941776"/>
              <a:chExt cx="7782552" cy="322428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BFAD223-5E56-7267-6570-47AA51621809}"/>
                  </a:ext>
                </a:extLst>
              </p:cNvPr>
              <p:cNvGrpSpPr/>
              <p:nvPr/>
            </p:nvGrpSpPr>
            <p:grpSpPr>
              <a:xfrm>
                <a:off x="317202" y="941776"/>
                <a:ext cx="7782552" cy="3224287"/>
                <a:chOff x="1497403" y="1753269"/>
                <a:chExt cx="9578527" cy="3968356"/>
              </a:xfrm>
            </p:grpSpPr>
            <p:pic>
              <p:nvPicPr>
                <p:cNvPr id="4" name="Picture 3" descr="A picture containing line, diagram, rectangle, design&#10;&#10;Description automatically generated">
                  <a:extLst>
                    <a:ext uri="{FF2B5EF4-FFF2-40B4-BE49-F238E27FC236}">
                      <a16:creationId xmlns:a16="http://schemas.microsoft.com/office/drawing/2014/main" id="{F7C3E753-8D2E-9052-845E-CF44E671FC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97403" y="1753269"/>
                  <a:ext cx="9381033" cy="3345471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BAD007EA-C3E5-5324-5C38-565365C931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65596" y="3729161"/>
                      <a:ext cx="378407" cy="530323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16976DEE-5771-5DCF-7B91-C78266370A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65596" y="3729161"/>
                      <a:ext cx="378407" cy="53032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3289F057-E4BF-318D-57E1-F55500B88E1E}"/>
                    </a:ext>
                  </a:extLst>
                </p:cNvPr>
                <p:cNvGrpSpPr/>
                <p:nvPr/>
              </p:nvGrpSpPr>
              <p:grpSpPr>
                <a:xfrm rot="5400000">
                  <a:off x="7879413" y="2752408"/>
                  <a:ext cx="442640" cy="3994657"/>
                  <a:chOff x="10000871" y="1598391"/>
                  <a:chExt cx="442640" cy="1761821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453CBA2-1524-5F36-496F-3BE2F40368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9341281" y="2479302"/>
                    <a:ext cx="176182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29F6342D-4527-AF71-5359-5CBBD3E6283B}"/>
                      </a:ext>
                    </a:extLst>
                  </p:cNvPr>
                  <p:cNvCxnSpPr/>
                  <p:nvPr/>
                </p:nvCxnSpPr>
                <p:spPr>
                  <a:xfrm>
                    <a:off x="10000871" y="1598391"/>
                    <a:ext cx="442640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02EDA701-6E75-FF9B-BDEA-92E3F63C5AFB}"/>
                      </a:ext>
                    </a:extLst>
                  </p:cNvPr>
                  <p:cNvCxnSpPr/>
                  <p:nvPr/>
                </p:nvCxnSpPr>
                <p:spPr>
                  <a:xfrm>
                    <a:off x="10000871" y="3360212"/>
                    <a:ext cx="442640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1B42AA86-58AA-CFB6-A8C5-10C6ABA674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12261" y="4872240"/>
                      <a:ext cx="3376940" cy="84938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l-GR" sz="2400" dirty="0" smtClean="0">
                                <a:solidFill>
                                  <a:srgbClr val="C00000"/>
                                </a:solidFill>
                              </a:rPr>
                              <m:t>Λ</m:t>
                            </m:r>
                            <m: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den>
                            </m:f>
                            <m: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Aspect</m:t>
                            </m:r>
                            <m: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Ratio</m:t>
                            </m:r>
                          </m:oMath>
                        </m:oMathPara>
                      </a14:m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EF6F2821-5079-A2F9-1945-88E981682A1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12261" y="4872240"/>
                      <a:ext cx="3376940" cy="84938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4F58D33-406D-B7CA-3FC1-420B4320DA89}"/>
                    </a:ext>
                  </a:extLst>
                </p:cNvPr>
                <p:cNvGrpSpPr/>
                <p:nvPr/>
              </p:nvGrpSpPr>
              <p:grpSpPr>
                <a:xfrm>
                  <a:off x="10383193" y="2632539"/>
                  <a:ext cx="442640" cy="1694021"/>
                  <a:chOff x="10030738" y="1601657"/>
                  <a:chExt cx="442640" cy="1761821"/>
                </a:xfrm>
              </p:grpSpPr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0BC238FD-78EA-F3AA-1ED5-CE3BF120D8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252054" y="1613305"/>
                    <a:ext cx="0" cy="175017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F8E15176-A20D-A7D7-7D92-65773D0CA4B4}"/>
                      </a:ext>
                    </a:extLst>
                  </p:cNvPr>
                  <p:cNvCxnSpPr/>
                  <p:nvPr/>
                </p:nvCxnSpPr>
                <p:spPr>
                  <a:xfrm>
                    <a:off x="10030738" y="1601657"/>
                    <a:ext cx="442640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DA3D6CD5-B749-868B-ACC5-4060BF40E8E7}"/>
                      </a:ext>
                    </a:extLst>
                  </p:cNvPr>
                  <p:cNvCxnSpPr/>
                  <p:nvPr/>
                </p:nvCxnSpPr>
                <p:spPr>
                  <a:xfrm>
                    <a:off x="10030738" y="3363476"/>
                    <a:ext cx="442640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A9829391-1E45-2C04-7F43-58492EFB82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598689" y="3212459"/>
                      <a:ext cx="477241" cy="5682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BA6333E3-CEB5-98FF-93A0-63598CA935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98689" y="3212459"/>
                      <a:ext cx="477241" cy="56820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9F07AB6-6FB2-19EB-9424-C2E5EB26B69F}"/>
                  </a:ext>
                </a:extLst>
              </p:cNvPr>
              <p:cNvSpPr txBox="1"/>
              <p:nvPr/>
            </p:nvSpPr>
            <p:spPr>
              <a:xfrm>
                <a:off x="398031" y="3150891"/>
                <a:ext cx="18084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Adobe Hebrew" panose="02040503050201020203" pitchFamily="18" charset="-79"/>
                    <a:cs typeface="Adobe Hebrew" panose="02040503050201020203" pitchFamily="18" charset="-79"/>
                  </a:rPr>
                  <a:t>Point Source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DC68B4B7-48A1-D2C6-64E1-5E1DC0CB10CD}"/>
                      </a:ext>
                    </a:extLst>
                  </p:cNvPr>
                  <p:cNvSpPr txBox="1"/>
                  <p:nvPr/>
                </p:nvSpPr>
                <p:spPr>
                  <a:xfrm>
                    <a:off x="694797" y="3480235"/>
                    <a:ext cx="530821" cy="4739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acc>
                            </m:e>
                          </m:d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82409418-3557-3CAC-538F-FE39881A71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4797" y="3480235"/>
                    <a:ext cx="530821" cy="47397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8046" t="-8974" r="-89655" b="-115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2C8E72D-CFC0-2E2C-0912-1F143B7D31D8}"/>
                      </a:ext>
                    </a:extLst>
                  </p:cNvPr>
                  <p:cNvSpPr txBox="1"/>
                  <p:nvPr/>
                </p:nvSpPr>
                <p:spPr>
                  <a:xfrm>
                    <a:off x="7612888" y="3407764"/>
                    <a:ext cx="461709" cy="4739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acc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00B711E7-4AEE-4DC8-6EE1-69D0AED34D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12888" y="3407764"/>
                    <a:ext cx="461709" cy="47397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211" t="-8974" r="-102632" b="-1282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61629F3-91F0-804E-E7A7-6F183C5AC90B}"/>
                </a:ext>
              </a:extLst>
            </p:cNvPr>
            <p:cNvSpPr/>
            <p:nvPr/>
          </p:nvSpPr>
          <p:spPr>
            <a:xfrm>
              <a:off x="7714359" y="2709063"/>
              <a:ext cx="2918518" cy="732627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B5E887-27BB-CC1D-F060-C4A04F4C220B}"/>
                </a:ext>
              </a:extLst>
            </p:cNvPr>
            <p:cNvSpPr txBox="1"/>
            <p:nvPr/>
          </p:nvSpPr>
          <p:spPr>
            <a:xfrm>
              <a:off x="3983653" y="783338"/>
              <a:ext cx="19232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u="sng" dirty="0">
                  <a:cs typeface="Adobe Hebrew" panose="02040503050201020203" pitchFamily="18" charset="-79"/>
                </a:rPr>
                <a:t>Top View</a:t>
              </a:r>
              <a:endParaRPr lang="en-US" sz="2000" u="sng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F8489C1-F722-EB9D-33EA-6CABBCB72ADE}"/>
                </a:ext>
              </a:extLst>
            </p:cNvPr>
            <p:cNvGrpSpPr/>
            <p:nvPr/>
          </p:nvGrpSpPr>
          <p:grpSpPr>
            <a:xfrm>
              <a:off x="4401646" y="906429"/>
              <a:ext cx="6517970" cy="1374790"/>
              <a:chOff x="680973" y="4710341"/>
              <a:chExt cx="6485334" cy="1375707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5D303AD-5C44-C51D-0521-2F18A1F52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973" y="6086048"/>
                <a:ext cx="648533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E7B2C41-CF85-9C83-8417-7275C23D1B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60907" y="4710341"/>
                <a:ext cx="372070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82C21868-D2AF-F9FC-E799-F54627AF8398}"/>
                  </a:ext>
                </a:extLst>
              </p:cNvPr>
              <p:cNvCxnSpPr/>
              <p:nvPr/>
            </p:nvCxnSpPr>
            <p:spPr>
              <a:xfrm>
                <a:off x="5781610" y="4710341"/>
                <a:ext cx="1384697" cy="1375707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F609897-EF81-64FE-AB14-20882A3A3F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0973" y="4710341"/>
                <a:ext cx="1379934" cy="1375707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Flowchart: Summing Junction 54">
              <a:extLst>
                <a:ext uri="{FF2B5EF4-FFF2-40B4-BE49-F238E27FC236}">
                  <a16:creationId xmlns:a16="http://schemas.microsoft.com/office/drawing/2014/main" id="{07581C61-1374-F32F-CC35-754A18117A16}"/>
                </a:ext>
              </a:extLst>
            </p:cNvPr>
            <p:cNvSpPr/>
            <p:nvPr/>
          </p:nvSpPr>
          <p:spPr>
            <a:xfrm>
              <a:off x="4300190" y="2165549"/>
              <a:ext cx="207042" cy="211782"/>
            </a:xfrm>
            <a:prstGeom prst="flowChartSummingJunct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FFF255E2-7D76-F56C-432A-6898D67259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75521" y="1688934"/>
              <a:ext cx="0" cy="5938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90D48DED-E02C-F63B-3924-CC578A8FA200}"/>
                </a:ext>
              </a:extLst>
            </p:cNvPr>
            <p:cNvCxnSpPr>
              <a:cxnSpLocks/>
            </p:cNvCxnSpPr>
            <p:nvPr/>
          </p:nvCxnSpPr>
          <p:spPr>
            <a:xfrm>
              <a:off x="7575521" y="2282821"/>
              <a:ext cx="53631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93421FC-AE99-EAA6-EC00-50E05694DE48}"/>
                    </a:ext>
                  </a:extLst>
                </p:cNvPr>
                <p:cNvSpPr txBox="1"/>
                <p:nvPr/>
              </p:nvSpPr>
              <p:spPr>
                <a:xfrm>
                  <a:off x="7009858" y="1821156"/>
                  <a:ext cx="653108" cy="369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acc>
                    </m:oMath>
                  </a14:m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a14:m>
                  <a:endParaRPr lang="en-US" sz="1463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9A50996-A53F-BDF7-2EE8-442B13754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9858" y="1821156"/>
                  <a:ext cx="653108" cy="369333"/>
                </a:xfrm>
                <a:prstGeom prst="rect">
                  <a:avLst/>
                </a:prstGeom>
                <a:blipFill>
                  <a:blip r:embed="rId22"/>
                  <a:stretch>
                    <a:fillRect l="-16822" t="-20000" r="-47664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4A469F9-DF29-6ABC-3434-CB0ADB13B62B}"/>
                    </a:ext>
                  </a:extLst>
                </p:cNvPr>
                <p:cNvSpPr txBox="1"/>
                <p:nvPr/>
              </p:nvSpPr>
              <p:spPr>
                <a:xfrm>
                  <a:off x="8144955" y="1958290"/>
                  <a:ext cx="846335" cy="369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r>
                    <a:rPr lang="en-US" sz="2400" dirty="0"/>
                    <a:t>,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a14:m>
                  <a:endParaRPr lang="en-US" sz="1463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FEAD52D-9575-82AD-B8E6-50E70C4868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4955" y="1958290"/>
                  <a:ext cx="846335" cy="369333"/>
                </a:xfrm>
                <a:prstGeom prst="rect">
                  <a:avLst/>
                </a:prstGeom>
                <a:blipFill>
                  <a:blip r:embed="rId23"/>
                  <a:stretch>
                    <a:fillRect l="-8633" t="-24590" r="-15827" b="-4918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57FAAAA-179D-9E03-C4FE-35A6444CB061}"/>
                </a:ext>
              </a:extLst>
            </p:cNvPr>
            <p:cNvSpPr/>
            <p:nvPr/>
          </p:nvSpPr>
          <p:spPr>
            <a:xfrm>
              <a:off x="10741992" y="2170255"/>
              <a:ext cx="207044" cy="22512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030A0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3ECC9B0B-94AC-49C6-E34B-7DD3D93D845C}"/>
                </a:ext>
              </a:extLst>
            </p:cNvPr>
            <p:cNvSpPr/>
            <p:nvPr/>
          </p:nvSpPr>
          <p:spPr>
            <a:xfrm>
              <a:off x="10815481" y="2253874"/>
              <a:ext cx="60066" cy="5788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7030A0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0F4F676-62AE-5B39-C22B-CC731E5EF883}"/>
                </a:ext>
              </a:extLst>
            </p:cNvPr>
            <p:cNvSpPr txBox="1"/>
            <p:nvPr/>
          </p:nvSpPr>
          <p:spPr>
            <a:xfrm>
              <a:off x="10865954" y="2310381"/>
              <a:ext cx="12133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dobe Hebrew" panose="02040503050201020203" pitchFamily="18" charset="-79"/>
                  <a:cs typeface="Adobe Hebrew" panose="02040503050201020203" pitchFamily="18" charset="-79"/>
                </a:rPr>
                <a:t>Point Sink</a:t>
              </a:r>
            </a:p>
          </p:txBody>
        </p: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23944941-D2D5-BB2F-8012-005177C5E312}"/>
              </a:ext>
            </a:extLst>
          </p:cNvPr>
          <p:cNvSpPr txBox="1">
            <a:spLocks/>
          </p:cNvSpPr>
          <p:nvPr/>
        </p:nvSpPr>
        <p:spPr>
          <a:xfrm>
            <a:off x="2060640" y="-294422"/>
            <a:ext cx="84489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Book Antiqua" panose="02040602050305030304" pitchFamily="18" charset="0"/>
                <a:cs typeface="Adobe Hebrew" panose="02040503050201020203" pitchFamily="18" charset="-79"/>
              </a:rPr>
              <a:t>Dimensionless Governing Equations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91E92D2-2FC7-43D8-E782-B53E7C9ECDE0}"/>
              </a:ext>
            </a:extLst>
          </p:cNvPr>
          <p:cNvSpPr/>
          <p:nvPr/>
        </p:nvSpPr>
        <p:spPr>
          <a:xfrm>
            <a:off x="198254" y="3321601"/>
            <a:ext cx="3717792" cy="770597"/>
          </a:xfrm>
          <a:prstGeom prst="ellipse">
            <a:avLst/>
          </a:prstGeom>
          <a:noFill/>
          <a:ln>
            <a:solidFill>
              <a:srgbClr val="AB2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C46333-C3C4-9F17-10AB-BA5FD840232C}"/>
              </a:ext>
            </a:extLst>
          </p:cNvPr>
          <p:cNvSpPr txBox="1"/>
          <p:nvPr/>
        </p:nvSpPr>
        <p:spPr>
          <a:xfrm>
            <a:off x="11630162" y="657148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9/40</a:t>
            </a:r>
          </a:p>
        </p:txBody>
      </p:sp>
    </p:spTree>
    <p:extLst>
      <p:ext uri="{BB962C8B-B14F-4D97-AF65-F5344CB8AC3E}">
        <p14:creationId xmlns:p14="http://schemas.microsoft.com/office/powerpoint/2010/main" val="402171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1" grpId="0"/>
      <p:bldP spid="18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05EB2-BFBF-CEA3-5D69-15AF42D5A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B1B434E-73FB-8FCE-0B88-5A6E34527067}"/>
              </a:ext>
            </a:extLst>
          </p:cNvPr>
          <p:cNvGrpSpPr/>
          <p:nvPr/>
        </p:nvGrpSpPr>
        <p:grpSpPr>
          <a:xfrm>
            <a:off x="116113" y="1709833"/>
            <a:ext cx="2704338" cy="2615784"/>
            <a:chOff x="1227582" y="209862"/>
            <a:chExt cx="2704338" cy="261578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A430BC4-1064-DB07-8E84-41F0D0003C35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919986" y="231394"/>
              <a:ext cx="1647260" cy="82931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FF5DECE-DB42-1774-C4CF-D979983BE1E0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227582" y="1042416"/>
              <a:ext cx="2656858" cy="16332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D6A213A-7C1D-CC50-3CCD-38117199B522}"/>
                </a:ext>
              </a:extLst>
            </p:cNvPr>
            <p:cNvSpPr/>
            <p:nvPr/>
          </p:nvSpPr>
          <p:spPr>
            <a:xfrm>
              <a:off x="1234440" y="209862"/>
              <a:ext cx="2697480" cy="2615784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74EE902-A3B0-930B-7727-CB46FFB52FC5}"/>
              </a:ext>
            </a:extLst>
          </p:cNvPr>
          <p:cNvGrpSpPr/>
          <p:nvPr/>
        </p:nvGrpSpPr>
        <p:grpSpPr>
          <a:xfrm>
            <a:off x="122971" y="4753353"/>
            <a:ext cx="5225796" cy="1453388"/>
            <a:chOff x="306324" y="2999740"/>
            <a:chExt cx="5225796" cy="145338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9FC2672-C043-8E53-2DB8-D0BA667D0F91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693164" y="2999740"/>
              <a:ext cx="2319992" cy="53898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B9F41F-2244-64AD-092A-ABC342F067F3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06324" y="3504778"/>
              <a:ext cx="5161788" cy="903857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1B0163-8FAE-4514-C775-8AEFDFAEC016}"/>
                </a:ext>
              </a:extLst>
            </p:cNvPr>
            <p:cNvSpPr/>
            <p:nvPr/>
          </p:nvSpPr>
          <p:spPr>
            <a:xfrm>
              <a:off x="353568" y="3051048"/>
              <a:ext cx="5178552" cy="1402080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89EB245-B7E9-9881-2A3B-6E8ACBF73102}"/>
              </a:ext>
            </a:extLst>
          </p:cNvPr>
          <p:cNvSpPr txBox="1"/>
          <p:nvPr/>
        </p:nvSpPr>
        <p:spPr>
          <a:xfrm>
            <a:off x="3172289" y="41251"/>
            <a:ext cx="6258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ook Antiqua" panose="02040602050305030304" pitchFamily="18" charset="0"/>
              </a:rPr>
              <a:t>Flow Theory: 3D Model for PPFC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825A607-EF59-50DB-2CA9-77A753DAFE02}"/>
              </a:ext>
            </a:extLst>
          </p:cNvPr>
          <p:cNvGrpSpPr/>
          <p:nvPr/>
        </p:nvGrpSpPr>
        <p:grpSpPr>
          <a:xfrm>
            <a:off x="3375731" y="5770452"/>
            <a:ext cx="3024527" cy="872578"/>
            <a:chOff x="7703745" y="3464224"/>
            <a:chExt cx="3024527" cy="87257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D783624-AC06-88F0-5001-1D18A0AEBE65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7706772" y="3465836"/>
              <a:ext cx="3021500" cy="870966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18FC320-9260-0174-4636-3FE6D60B5228}"/>
                </a:ext>
              </a:extLst>
            </p:cNvPr>
            <p:cNvSpPr/>
            <p:nvPr/>
          </p:nvSpPr>
          <p:spPr>
            <a:xfrm>
              <a:off x="7703745" y="3464224"/>
              <a:ext cx="3006727" cy="841399"/>
            </a:xfrm>
            <a:prstGeom prst="rect">
              <a:avLst/>
            </a:prstGeom>
            <a:noFill/>
            <a:ln w="38100">
              <a:solidFill>
                <a:srgbClr val="FF0000">
                  <a:alpha val="52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16C06F7-261D-C245-C9DA-2CAE7CF06979}"/>
              </a:ext>
            </a:extLst>
          </p:cNvPr>
          <p:cNvSpPr txBox="1"/>
          <p:nvPr/>
        </p:nvSpPr>
        <p:spPr>
          <a:xfrm>
            <a:off x="5904991" y="4353247"/>
            <a:ext cx="2202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Spatial Component [Horizontal Structure </a:t>
            </a:r>
            <a:r>
              <a:rPr lang="el-GR" sz="1600" dirty="0">
                <a:solidFill>
                  <a:srgbClr val="00B050"/>
                </a:solidFill>
              </a:rPr>
              <a:t>ψ</a:t>
            </a:r>
            <a:r>
              <a:rPr lang="en-US" sz="1600" dirty="0">
                <a:solidFill>
                  <a:srgbClr val="00B050"/>
                </a:solidFill>
              </a:rPr>
              <a:t>(</a:t>
            </a:r>
            <a:r>
              <a:rPr lang="en-US" sz="1600" dirty="0" err="1">
                <a:solidFill>
                  <a:srgbClr val="00B050"/>
                </a:solidFill>
              </a:rPr>
              <a:t>x,y</a:t>
            </a:r>
            <a:r>
              <a:rPr lang="en-US" sz="1600" dirty="0">
                <a:solidFill>
                  <a:srgbClr val="00B050"/>
                </a:solidFill>
              </a:rPr>
              <a:t>)]: Function of </a:t>
            </a:r>
            <a:r>
              <a:rPr lang="el-GR" sz="1600" dirty="0">
                <a:solidFill>
                  <a:srgbClr val="00B050"/>
                </a:solidFill>
              </a:rPr>
              <a:t>Λ</a:t>
            </a:r>
            <a:r>
              <a:rPr lang="en-US" sz="1600" dirty="0">
                <a:solidFill>
                  <a:srgbClr val="00B050"/>
                </a:solidFill>
              </a:rPr>
              <a:t>.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9E4E283-DCCC-F5FB-7382-96FD13D201F8}"/>
              </a:ext>
            </a:extLst>
          </p:cNvPr>
          <p:cNvGrpSpPr/>
          <p:nvPr/>
        </p:nvGrpSpPr>
        <p:grpSpPr>
          <a:xfrm>
            <a:off x="7930624" y="1300906"/>
            <a:ext cx="4083312" cy="2874425"/>
            <a:chOff x="2875050" y="753169"/>
            <a:chExt cx="4083312" cy="2874425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2319264-9319-22DC-EE64-ACD76E4895AA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2875050" y="2304425"/>
              <a:ext cx="3978752" cy="737727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D8DA767-8F46-6E97-6EA7-6315625B3F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5300" y="1803138"/>
              <a:ext cx="1352054" cy="530004"/>
            </a:xfrm>
            <a:prstGeom prst="rect">
              <a:avLst/>
            </a:prstGeom>
          </p:spPr>
        </p:pic>
        <p:pic>
          <p:nvPicPr>
            <p:cNvPr id="54" name="Picture 53" descr="A mathematical equation with numbers and symbols&#10;&#10;Description automatically generated">
              <a:extLst>
                <a:ext uri="{FF2B5EF4-FFF2-40B4-BE49-F238E27FC236}">
                  <a16:creationId xmlns:a16="http://schemas.microsoft.com/office/drawing/2014/main" id="{FB8D9FA4-9425-126B-276E-1B677FAAAF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4"/>
            <a:stretch/>
          </p:blipFill>
          <p:spPr>
            <a:xfrm>
              <a:off x="3088552" y="825652"/>
              <a:ext cx="3651024" cy="965608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E98B555-CC49-2B3C-8420-B0149261907F}"/>
                </a:ext>
              </a:extLst>
            </p:cNvPr>
            <p:cNvSpPr/>
            <p:nvPr/>
          </p:nvSpPr>
          <p:spPr>
            <a:xfrm>
              <a:off x="2890889" y="753169"/>
              <a:ext cx="4067473" cy="2874425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A77343E-2F6C-801A-B56D-9D4ABE1D4EBC}"/>
                  </a:ext>
                </a:extLst>
              </p:cNvPr>
              <p:cNvSpPr txBox="1"/>
              <p:nvPr/>
            </p:nvSpPr>
            <p:spPr>
              <a:xfrm>
                <a:off x="3557410" y="4376373"/>
                <a:ext cx="24178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2878B8"/>
                    </a:solidFill>
                  </a:rPr>
                  <a:t>Temporal Component: Function of on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2878B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600" dirty="0">
                    <a:solidFill>
                      <a:srgbClr val="2878B8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2878B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2878B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2878B8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2878B8"/>
                    </a:solidFill>
                  </a:rPr>
                  <a:t>.</a:t>
                </a:r>
                <a:endParaRPr 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8BBD1FA-BEEF-F3D3-0A49-CF550278A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410" y="4376373"/>
                <a:ext cx="2417804" cy="584775"/>
              </a:xfrm>
              <a:prstGeom prst="rect">
                <a:avLst/>
              </a:prstGeom>
              <a:blipFill>
                <a:blip r:embed="rId11"/>
                <a:stretch>
                  <a:fillRect l="-758" t="-3125" r="-25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FEB9722-CFD3-F0B1-6CAC-7A17DDF53EFB}"/>
                  </a:ext>
                </a:extLst>
              </p:cNvPr>
              <p:cNvSpPr txBox="1"/>
              <p:nvPr/>
            </p:nvSpPr>
            <p:spPr>
              <a:xfrm>
                <a:off x="6523377" y="5709922"/>
                <a:ext cx="1683237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FF7A7A"/>
                    </a:solidFill>
                  </a:rPr>
                  <a:t>Vertical Structure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FF7A7A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solidFill>
                          <a:srgbClr val="FF7A7A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solidFill>
                          <a:srgbClr val="FF7A7A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smtClean="0">
                        <a:solidFill>
                          <a:srgbClr val="FF7A7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FF7A7A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DFA06FF-AB03-9D74-699C-D4FE8CF00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377" y="5709922"/>
                <a:ext cx="1683237" cy="923330"/>
              </a:xfrm>
              <a:prstGeom prst="rect">
                <a:avLst/>
              </a:prstGeom>
              <a:blipFill>
                <a:blip r:embed="rId12"/>
                <a:stretch>
                  <a:fillRect l="-2899" t="-3311" b="-10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FE970258-FE16-38A8-405E-9AA7BB56D0D5}"/>
              </a:ext>
            </a:extLst>
          </p:cNvPr>
          <p:cNvSpPr txBox="1"/>
          <p:nvPr/>
        </p:nvSpPr>
        <p:spPr>
          <a:xfrm>
            <a:off x="325741" y="2738119"/>
            <a:ext cx="2183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3D Solution:</a:t>
            </a:r>
            <a:endParaRPr lang="en-US" b="1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F3874A5-9F2D-BC61-BACF-31BC30361ADD}"/>
              </a:ext>
            </a:extLst>
          </p:cNvPr>
          <p:cNvGrpSpPr/>
          <p:nvPr/>
        </p:nvGrpSpPr>
        <p:grpSpPr>
          <a:xfrm>
            <a:off x="3141323" y="780549"/>
            <a:ext cx="4654518" cy="3483894"/>
            <a:chOff x="7225685" y="752919"/>
            <a:chExt cx="4654518" cy="3483894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F3BA767-6D7E-E061-86A5-C1550264AE93}"/>
                </a:ext>
              </a:extLst>
            </p:cNvPr>
            <p:cNvSpPr/>
            <p:nvPr/>
          </p:nvSpPr>
          <p:spPr>
            <a:xfrm>
              <a:off x="7225685" y="752919"/>
              <a:ext cx="4654518" cy="3483894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Oh 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6F44A9D2-C07A-B932-64C9-2D1333A33585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7309327" y="2956179"/>
              <a:ext cx="4402127" cy="945642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D164D7A4-5B91-CDF0-E3F0-955C585B77F6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7309327" y="1984882"/>
              <a:ext cx="3848100" cy="933896"/>
            </a:xfrm>
            <a:prstGeom prst="rect">
              <a:avLst/>
            </a:prstGeom>
          </p:spPr>
        </p:pic>
        <p:pic>
          <p:nvPicPr>
            <p:cNvPr id="80" name="Picture 79" descr="A math equation with numbers and symbols&#10;&#10;Description automatically generated with medium confidence">
              <a:extLst>
                <a:ext uri="{FF2B5EF4-FFF2-40B4-BE49-F238E27FC236}">
                  <a16:creationId xmlns:a16="http://schemas.microsoft.com/office/drawing/2014/main" id="{3B52108D-5775-CF48-8F23-5383829372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2537" y="1024450"/>
              <a:ext cx="3276394" cy="964329"/>
            </a:xfrm>
            <a:prstGeom prst="rect">
              <a:avLst/>
            </a:prstGeom>
          </p:spPr>
        </p:pic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4DA10BFD-C171-EA43-D3B9-ED135DED77DD}"/>
              </a:ext>
            </a:extLst>
          </p:cNvPr>
          <p:cNvSpPr/>
          <p:nvPr/>
        </p:nvSpPr>
        <p:spPr>
          <a:xfrm>
            <a:off x="4326131" y="957951"/>
            <a:ext cx="1444077" cy="3109242"/>
          </a:xfrm>
          <a:prstGeom prst="rect">
            <a:avLst/>
          </a:prstGeom>
          <a:noFill/>
          <a:ln w="38100">
            <a:solidFill>
              <a:srgbClr val="7030A0">
                <a:alpha val="39979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B4AED17-6474-388A-700E-81EE8AE05229}"/>
              </a:ext>
            </a:extLst>
          </p:cNvPr>
          <p:cNvSpPr/>
          <p:nvPr/>
        </p:nvSpPr>
        <p:spPr>
          <a:xfrm>
            <a:off x="6467732" y="3065226"/>
            <a:ext cx="1210666" cy="749508"/>
          </a:xfrm>
          <a:prstGeom prst="rect">
            <a:avLst/>
          </a:prstGeom>
          <a:noFill/>
          <a:ln w="38100">
            <a:solidFill>
              <a:srgbClr val="00B05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0C4116E-45F5-A09C-FF04-AA4F6C1B836B}"/>
              </a:ext>
            </a:extLst>
          </p:cNvPr>
          <p:cNvSpPr/>
          <p:nvPr/>
        </p:nvSpPr>
        <p:spPr>
          <a:xfrm>
            <a:off x="5721734" y="3088196"/>
            <a:ext cx="647666" cy="749508"/>
          </a:xfrm>
          <a:prstGeom prst="rect">
            <a:avLst/>
          </a:prstGeom>
          <a:noFill/>
          <a:ln w="38100">
            <a:solidFill>
              <a:srgbClr val="C00000">
                <a:alpha val="39979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B23E4B2-138D-5C26-B80C-C373B9063470}"/>
              </a:ext>
            </a:extLst>
          </p:cNvPr>
          <p:cNvSpPr/>
          <p:nvPr/>
        </p:nvSpPr>
        <p:spPr>
          <a:xfrm>
            <a:off x="5904991" y="1089481"/>
            <a:ext cx="1193407" cy="1741812"/>
          </a:xfrm>
          <a:prstGeom prst="rect">
            <a:avLst/>
          </a:prstGeom>
          <a:noFill/>
          <a:ln w="38100">
            <a:solidFill>
              <a:srgbClr val="00B05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62EEC-5797-8C73-9962-CAF4E56A095A}"/>
              </a:ext>
            </a:extLst>
          </p:cNvPr>
          <p:cNvSpPr txBox="1"/>
          <p:nvPr/>
        </p:nvSpPr>
        <p:spPr>
          <a:xfrm>
            <a:off x="11558493" y="6528339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10/40</a:t>
            </a:r>
          </a:p>
        </p:txBody>
      </p:sp>
    </p:spTree>
    <p:extLst>
      <p:ext uri="{BB962C8B-B14F-4D97-AF65-F5344CB8AC3E}">
        <p14:creationId xmlns:p14="http://schemas.microsoft.com/office/powerpoint/2010/main" val="392082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62" grpId="0"/>
      <p:bldP spid="64" grpId="0"/>
      <p:bldP spid="66" grpId="0"/>
      <p:bldP spid="81" grpId="0" animBg="1"/>
      <p:bldP spid="82" grpId="0" animBg="1"/>
      <p:bldP spid="83" grpId="0" animBg="1"/>
      <p:bldP spid="8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85EBF-373D-2344-6335-1DAEEA6F1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CD97ABB-BD49-2562-349F-4B86EA964A7B}"/>
              </a:ext>
            </a:extLst>
          </p:cNvPr>
          <p:cNvSpPr txBox="1">
            <a:spLocks/>
          </p:cNvSpPr>
          <p:nvPr/>
        </p:nvSpPr>
        <p:spPr>
          <a:xfrm>
            <a:off x="4290796" y="-294342"/>
            <a:ext cx="48433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Book Antiqua" panose="02040602050305030304" pitchFamily="18" charset="0"/>
                <a:cs typeface="Adobe Hebrew" panose="02040503050201020203" pitchFamily="18" charset="-79"/>
              </a:rPr>
              <a:t>Temporal Fluctuations</a:t>
            </a:r>
          </a:p>
        </p:txBody>
      </p:sp>
      <p:pic>
        <p:nvPicPr>
          <p:cNvPr id="3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646BA097-5EA5-C38B-7A9B-1F3BB21B79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14" y="584591"/>
            <a:ext cx="11304677" cy="62833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608E49-3C04-6BF7-ABE6-3F0743B7541F}"/>
              </a:ext>
            </a:extLst>
          </p:cNvPr>
          <p:cNvSpPr/>
          <p:nvPr/>
        </p:nvSpPr>
        <p:spPr>
          <a:xfrm>
            <a:off x="120407" y="676066"/>
            <a:ext cx="540774" cy="446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014A79-ACA7-542C-8812-355F33EC4A92}"/>
              </a:ext>
            </a:extLst>
          </p:cNvPr>
          <p:cNvSpPr/>
          <p:nvPr/>
        </p:nvSpPr>
        <p:spPr>
          <a:xfrm>
            <a:off x="120407" y="2637601"/>
            <a:ext cx="376122" cy="446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20685-F0BB-4E2D-4B51-50E583DC8E29}"/>
              </a:ext>
            </a:extLst>
          </p:cNvPr>
          <p:cNvSpPr/>
          <p:nvPr/>
        </p:nvSpPr>
        <p:spPr>
          <a:xfrm>
            <a:off x="115491" y="4524486"/>
            <a:ext cx="376122" cy="446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FD864F-6D90-7D98-6411-EFD893E94BD2}"/>
              </a:ext>
            </a:extLst>
          </p:cNvPr>
          <p:cNvSpPr/>
          <p:nvPr/>
        </p:nvSpPr>
        <p:spPr>
          <a:xfrm>
            <a:off x="7956717" y="584591"/>
            <a:ext cx="376122" cy="446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2BBB77-0CD8-9E79-BD61-BCD6AE431D09}"/>
              </a:ext>
            </a:extLst>
          </p:cNvPr>
          <p:cNvSpPr/>
          <p:nvPr/>
        </p:nvSpPr>
        <p:spPr>
          <a:xfrm>
            <a:off x="661180" y="1224154"/>
            <a:ext cx="469529" cy="3391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42125D-FA6C-D219-94FC-DA60A3421129}"/>
              </a:ext>
            </a:extLst>
          </p:cNvPr>
          <p:cNvSpPr/>
          <p:nvPr/>
        </p:nvSpPr>
        <p:spPr>
          <a:xfrm>
            <a:off x="556540" y="2432281"/>
            <a:ext cx="469529" cy="1558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8FCAB2-06C0-CA2A-65BE-871CFB99A9F7}"/>
              </a:ext>
            </a:extLst>
          </p:cNvPr>
          <p:cNvSpPr/>
          <p:nvPr/>
        </p:nvSpPr>
        <p:spPr>
          <a:xfrm>
            <a:off x="390794" y="3510116"/>
            <a:ext cx="469529" cy="825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48F99E-DDDF-64EB-6B30-9EB144B8FE67}"/>
              </a:ext>
            </a:extLst>
          </p:cNvPr>
          <p:cNvSpPr/>
          <p:nvPr/>
        </p:nvSpPr>
        <p:spPr>
          <a:xfrm>
            <a:off x="710128" y="4420480"/>
            <a:ext cx="469529" cy="1558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3BFA63-6730-E5DB-0377-1313F270E09E}"/>
              </a:ext>
            </a:extLst>
          </p:cNvPr>
          <p:cNvSpPr/>
          <p:nvPr/>
        </p:nvSpPr>
        <p:spPr>
          <a:xfrm>
            <a:off x="529249" y="4735118"/>
            <a:ext cx="469529" cy="1558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41F550-7043-8A82-1D34-8C0CEFD88682}"/>
                  </a:ext>
                </a:extLst>
              </p:cNvPr>
              <p:cNvSpPr txBox="1"/>
              <p:nvPr/>
            </p:nvSpPr>
            <p:spPr>
              <a:xfrm>
                <a:off x="-90483" y="4958880"/>
                <a:ext cx="1337610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</m:acc>
                    </m:oMath>
                  </m:oMathPara>
                </a14:m>
                <a:endParaRPr lang="en-US" sz="2400" i="1" dirty="0">
                  <a:latin typeface="Symbol" pitchFamily="2" charset="2"/>
                  <a:cs typeface="Times New Roman" panose="02020603050405020304" pitchFamily="18" charset="0"/>
                </a:endParaRPr>
              </a:p>
              <a:p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(Shear Stress)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41F550-7043-8A82-1D34-8C0CEFD88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483" y="4958880"/>
                <a:ext cx="1337610" cy="954107"/>
              </a:xfrm>
              <a:prstGeom prst="rect">
                <a:avLst/>
              </a:prstGeom>
              <a:blipFill>
                <a:blip r:embed="rId3"/>
                <a:stretch>
                  <a:fillRect l="-1869" r="-935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A4D775-DAD8-20AF-E200-5C39D1838E19}"/>
                  </a:ext>
                </a:extLst>
              </p:cNvPr>
              <p:cNvSpPr txBox="1"/>
              <p:nvPr/>
            </p:nvSpPr>
            <p:spPr>
              <a:xfrm>
                <a:off x="1" y="2451088"/>
                <a:ext cx="1199752" cy="1177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</m:acc>
                    </m:oMath>
                  </m:oMathPara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(Pressure)</a:t>
                </a:r>
              </a:p>
              <a:p>
                <a:endPara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A4D775-DAD8-20AF-E200-5C39D1838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451088"/>
                <a:ext cx="1199752" cy="1177887"/>
              </a:xfrm>
              <a:prstGeom prst="rect">
                <a:avLst/>
              </a:prstGeom>
              <a:blipFill>
                <a:blip r:embed="rId4"/>
                <a:stretch>
                  <a:fillRect l="-2105" r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9731DB-CFC3-9FB7-15CB-262F4CEE8FE0}"/>
                  </a:ext>
                </a:extLst>
              </p:cNvPr>
              <p:cNvSpPr txBox="1"/>
              <p:nvPr/>
            </p:nvSpPr>
            <p:spPr>
              <a:xfrm>
                <a:off x="-5774" y="1067030"/>
                <a:ext cx="1172116" cy="6566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(Flow Rate)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9731DB-CFC3-9FB7-15CB-262F4CEE8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74" y="1067030"/>
                <a:ext cx="1172116" cy="656655"/>
              </a:xfrm>
              <a:prstGeom prst="rect">
                <a:avLst/>
              </a:prstGeom>
              <a:blipFill>
                <a:blip r:embed="rId5"/>
                <a:stretch>
                  <a:fillRect l="-2151" t="-1923" r="-3226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52F1A97F-49D4-F964-8213-2408209E0A0E}"/>
              </a:ext>
            </a:extLst>
          </p:cNvPr>
          <p:cNvSpPr/>
          <p:nvPr/>
        </p:nvSpPr>
        <p:spPr>
          <a:xfrm rot="5400000">
            <a:off x="9903500" y="5500416"/>
            <a:ext cx="410002" cy="23051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422987-C103-8327-5B30-91129CA7ABC3}"/>
              </a:ext>
            </a:extLst>
          </p:cNvPr>
          <p:cNvSpPr/>
          <p:nvPr/>
        </p:nvSpPr>
        <p:spPr>
          <a:xfrm>
            <a:off x="7910013" y="3121798"/>
            <a:ext cx="422826" cy="5485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F9BA9-346B-E055-525A-4C9976760EAA}"/>
              </a:ext>
            </a:extLst>
          </p:cNvPr>
          <p:cNvSpPr txBox="1"/>
          <p:nvPr/>
        </p:nvSpPr>
        <p:spPr>
          <a:xfrm>
            <a:off x="8027947" y="3121796"/>
            <a:ext cx="30489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6AAEFC-63F7-AC72-210E-DFCA3AD53CC8}"/>
              </a:ext>
            </a:extLst>
          </p:cNvPr>
          <p:cNvSpPr txBox="1"/>
          <p:nvPr/>
        </p:nvSpPr>
        <p:spPr>
          <a:xfrm>
            <a:off x="9336495" y="6496831"/>
            <a:ext cx="1544012" cy="369332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CE5852-5542-C0A6-BC0B-BA505B8DCD67}"/>
              </a:ext>
            </a:extLst>
          </p:cNvPr>
          <p:cNvSpPr/>
          <p:nvPr/>
        </p:nvSpPr>
        <p:spPr>
          <a:xfrm>
            <a:off x="6111783" y="2824223"/>
            <a:ext cx="659757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D7B36-1E54-DED0-4DAC-8941B29CE309}"/>
              </a:ext>
            </a:extLst>
          </p:cNvPr>
          <p:cNvSpPr/>
          <p:nvPr/>
        </p:nvSpPr>
        <p:spPr>
          <a:xfrm>
            <a:off x="6354501" y="4958880"/>
            <a:ext cx="659757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E777ED-79A5-EED4-0637-AB9C757FB5F5}"/>
              </a:ext>
            </a:extLst>
          </p:cNvPr>
          <p:cNvSpPr/>
          <p:nvPr/>
        </p:nvSpPr>
        <p:spPr>
          <a:xfrm>
            <a:off x="3882129" y="2630083"/>
            <a:ext cx="659757" cy="461665"/>
          </a:xfrm>
          <a:prstGeom prst="rect">
            <a:avLst/>
          </a:prstGeom>
          <a:noFill/>
          <a:ln>
            <a:solidFill>
              <a:srgbClr val="287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6AA59D-5DEB-2A1A-F808-1CB519004661}"/>
              </a:ext>
            </a:extLst>
          </p:cNvPr>
          <p:cNvSpPr/>
          <p:nvPr/>
        </p:nvSpPr>
        <p:spPr>
          <a:xfrm>
            <a:off x="3960917" y="4715552"/>
            <a:ext cx="659757" cy="461665"/>
          </a:xfrm>
          <a:prstGeom prst="rect">
            <a:avLst/>
          </a:prstGeom>
          <a:noFill/>
          <a:ln>
            <a:solidFill>
              <a:srgbClr val="287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570019-FDFC-DED5-4719-A10FF7DA2D15}"/>
              </a:ext>
            </a:extLst>
          </p:cNvPr>
          <p:cNvSpPr/>
          <p:nvPr/>
        </p:nvSpPr>
        <p:spPr>
          <a:xfrm>
            <a:off x="8074784" y="201203"/>
            <a:ext cx="3407088" cy="6664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36BDDC-891E-304F-7E68-19441407E0D4}"/>
              </a:ext>
            </a:extLst>
          </p:cNvPr>
          <p:cNvSpPr/>
          <p:nvPr/>
        </p:nvSpPr>
        <p:spPr>
          <a:xfrm>
            <a:off x="1239195" y="2588296"/>
            <a:ext cx="608934" cy="1056644"/>
          </a:xfrm>
          <a:prstGeom prst="rect">
            <a:avLst/>
          </a:prstGeom>
          <a:noFill/>
          <a:ln w="28575">
            <a:solidFill>
              <a:srgbClr val="287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19C865-C58C-3674-E736-9DCCF817B365}"/>
              </a:ext>
            </a:extLst>
          </p:cNvPr>
          <p:cNvSpPr/>
          <p:nvPr/>
        </p:nvSpPr>
        <p:spPr>
          <a:xfrm>
            <a:off x="2141015" y="5325008"/>
            <a:ext cx="1910405" cy="892553"/>
          </a:xfrm>
          <a:prstGeom prst="rect">
            <a:avLst/>
          </a:prstGeom>
          <a:noFill/>
          <a:ln w="28575">
            <a:solidFill>
              <a:srgbClr val="287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FC0D90-F101-4BB3-1F97-01B4E7E8AA03}"/>
              </a:ext>
            </a:extLst>
          </p:cNvPr>
          <p:cNvSpPr/>
          <p:nvPr/>
        </p:nvSpPr>
        <p:spPr>
          <a:xfrm>
            <a:off x="2253169" y="3239539"/>
            <a:ext cx="1465392" cy="892553"/>
          </a:xfrm>
          <a:prstGeom prst="rect">
            <a:avLst/>
          </a:prstGeom>
          <a:noFill/>
          <a:ln w="28575">
            <a:solidFill>
              <a:srgbClr val="287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6BBE10-79D8-5C39-CAD4-688A762B5F82}"/>
              </a:ext>
            </a:extLst>
          </p:cNvPr>
          <p:cNvSpPr/>
          <p:nvPr/>
        </p:nvSpPr>
        <p:spPr>
          <a:xfrm>
            <a:off x="8242872" y="407130"/>
            <a:ext cx="1734248" cy="1949990"/>
          </a:xfrm>
          <a:prstGeom prst="rect">
            <a:avLst/>
          </a:prstGeom>
          <a:noFill/>
          <a:ln>
            <a:solidFill>
              <a:srgbClr val="AB2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11B07E-7142-6802-6C18-E2C3678B8815}"/>
              </a:ext>
            </a:extLst>
          </p:cNvPr>
          <p:cNvSpPr/>
          <p:nvPr/>
        </p:nvSpPr>
        <p:spPr>
          <a:xfrm>
            <a:off x="-10861" y="2588296"/>
            <a:ext cx="7996295" cy="42008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F000B7-D052-B7CD-D22E-15C9AFA0C29F}"/>
              </a:ext>
            </a:extLst>
          </p:cNvPr>
          <p:cNvSpPr txBox="1"/>
          <p:nvPr/>
        </p:nvSpPr>
        <p:spPr>
          <a:xfrm>
            <a:off x="11558493" y="6528339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11/40</a:t>
            </a:r>
          </a:p>
        </p:txBody>
      </p:sp>
    </p:spTree>
    <p:extLst>
      <p:ext uri="{BB962C8B-B14F-4D97-AF65-F5344CB8AC3E}">
        <p14:creationId xmlns:p14="http://schemas.microsoft.com/office/powerpoint/2010/main" val="366466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9272-6C44-AB33-5389-E24013F3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D1025B9-5503-00A3-2179-42FFED21F4F4}"/>
              </a:ext>
            </a:extLst>
          </p:cNvPr>
          <p:cNvSpPr txBox="1">
            <a:spLocks/>
          </p:cNvSpPr>
          <p:nvPr/>
        </p:nvSpPr>
        <p:spPr>
          <a:xfrm>
            <a:off x="781444" y="-282494"/>
            <a:ext cx="105495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Book Antiqua" panose="02040602050305030304" pitchFamily="18" charset="0"/>
                <a:cs typeface="Adobe Hebrew" panose="02040503050201020203" pitchFamily="18" charset="-79"/>
              </a:rPr>
              <a:t>Shear Stress Spatial Anomaly</a:t>
            </a:r>
          </a:p>
        </p:txBody>
      </p:sp>
      <p:pic>
        <p:nvPicPr>
          <p:cNvPr id="16" name="Picture 15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A044C0BF-9AA4-1F61-9A4D-58A83B715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38" y="818412"/>
            <a:ext cx="10382418" cy="603958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BB4E01C-D223-D3FC-7ACB-DE9E38B85BD6}"/>
              </a:ext>
            </a:extLst>
          </p:cNvPr>
          <p:cNvGrpSpPr/>
          <p:nvPr/>
        </p:nvGrpSpPr>
        <p:grpSpPr>
          <a:xfrm>
            <a:off x="5909187" y="71891"/>
            <a:ext cx="4408242" cy="616792"/>
            <a:chOff x="3629025" y="342900"/>
            <a:chExt cx="4629150" cy="6477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1023902-270A-EBED-4684-94006D559BB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629025" y="342900"/>
              <a:ext cx="4543425" cy="59374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8593F25-F6E1-5B63-9AF5-7A91E86FFF1C}"/>
                </a:ext>
              </a:extLst>
            </p:cNvPr>
            <p:cNvSpPr/>
            <p:nvPr/>
          </p:nvSpPr>
          <p:spPr>
            <a:xfrm>
              <a:off x="8010525" y="800101"/>
              <a:ext cx="247650" cy="190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3565E36-E7E5-E263-C6A0-B86F8366568B}"/>
              </a:ext>
            </a:extLst>
          </p:cNvPr>
          <p:cNvSpPr/>
          <p:nvPr/>
        </p:nvSpPr>
        <p:spPr>
          <a:xfrm>
            <a:off x="4368800" y="4785360"/>
            <a:ext cx="2580640" cy="2072640"/>
          </a:xfrm>
          <a:prstGeom prst="rect">
            <a:avLst/>
          </a:prstGeom>
          <a:noFill/>
          <a:ln w="38100">
            <a:solidFill>
              <a:srgbClr val="AB2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2085B-167D-8E4A-98AF-65E8372537AD}"/>
              </a:ext>
            </a:extLst>
          </p:cNvPr>
          <p:cNvSpPr txBox="1"/>
          <p:nvPr/>
        </p:nvSpPr>
        <p:spPr>
          <a:xfrm>
            <a:off x="11435062" y="6488668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12/40</a:t>
            </a:r>
          </a:p>
        </p:txBody>
      </p:sp>
    </p:spTree>
    <p:extLst>
      <p:ext uri="{BB962C8B-B14F-4D97-AF65-F5344CB8AC3E}">
        <p14:creationId xmlns:p14="http://schemas.microsoft.com/office/powerpoint/2010/main" val="234979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D180-757F-8CC1-601C-14957B74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E6D75E-22FD-AAA3-8658-BADC13954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618" y="-1569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Book Antiqua" panose="02040602050305030304" pitchFamily="18" charset="0"/>
              </a:rPr>
              <a:t>MCS </a:t>
            </a:r>
          </a:p>
        </p:txBody>
      </p:sp>
      <p:pic>
        <p:nvPicPr>
          <p:cNvPr id="2" name="Picture 1" descr="A blue and green pipes and nuts&#10;&#10;Description automatically generated with medium confidence">
            <a:extLst>
              <a:ext uri="{FF2B5EF4-FFF2-40B4-BE49-F238E27FC236}">
                <a16:creationId xmlns:a16="http://schemas.microsoft.com/office/drawing/2014/main" id="{7B50A620-C1BE-809F-6208-5DABF85EA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18" y="1170975"/>
            <a:ext cx="7383579" cy="38401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A121C4-19DC-91C3-6989-7249061E8182}"/>
              </a:ext>
            </a:extLst>
          </p:cNvPr>
          <p:cNvSpPr txBox="1"/>
          <p:nvPr/>
        </p:nvSpPr>
        <p:spPr>
          <a:xfrm>
            <a:off x="573618" y="3770767"/>
            <a:ext cx="1538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Flow Output </a:t>
            </a:r>
          </a:p>
          <a:p>
            <a:r>
              <a:rPr lang="en-US" b="1" dirty="0">
                <a:solidFill>
                  <a:srgbClr val="C00000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to piston pump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47D244-9A89-7007-1973-07F3FE9707F5}"/>
              </a:ext>
            </a:extLst>
          </p:cNvPr>
          <p:cNvSpPr txBox="1"/>
          <p:nvPr/>
        </p:nvSpPr>
        <p:spPr>
          <a:xfrm>
            <a:off x="3070347" y="4093933"/>
            <a:ext cx="1538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Flow Input, Q(t), from piston pump </a:t>
            </a:r>
          </a:p>
        </p:txBody>
      </p:sp>
      <p:pic>
        <p:nvPicPr>
          <p:cNvPr id="8" name="Picture 7" descr="A purple and black pattern&#10;&#10;Description automatically generated">
            <a:extLst>
              <a:ext uri="{FF2B5EF4-FFF2-40B4-BE49-F238E27FC236}">
                <a16:creationId xmlns:a16="http://schemas.microsoft.com/office/drawing/2014/main" id="{AE633CC3-382B-9A73-DDA3-0D17A046CE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46" y="5740651"/>
            <a:ext cx="3911913" cy="6261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D66770-1AE7-6EAE-12D3-A2A5C204E7F7}"/>
              </a:ext>
            </a:extLst>
          </p:cNvPr>
          <p:cNvSpPr txBox="1"/>
          <p:nvPr/>
        </p:nvSpPr>
        <p:spPr>
          <a:xfrm>
            <a:off x="757210" y="1043291"/>
            <a:ext cx="609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Adobe Arabic" panose="02040503050201020203" pitchFamily="18" charset="-78"/>
                <a:cs typeface="Adobe Arabic" panose="02040503050201020203" pitchFamily="18" charset="-78"/>
              </a:rPr>
              <a:t>CAD Model of </a:t>
            </a:r>
            <a:r>
              <a:rPr lang="en-US" b="1" u="sng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Mutiplex</a:t>
            </a:r>
            <a:r>
              <a:rPr lang="en-US" b="1" u="sng" dirty="0">
                <a:latin typeface="Adobe Arabic" panose="02040503050201020203" pitchFamily="18" charset="-78"/>
                <a:cs typeface="Adobe Arabic" panose="02040503050201020203" pitchFamily="18" charset="-78"/>
              </a:rPr>
              <a:t> Cell Shearer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88E513-981C-2B91-EF5B-7151A647DCE3}"/>
              </a:ext>
            </a:extLst>
          </p:cNvPr>
          <p:cNvSpPr txBox="1"/>
          <p:nvPr/>
        </p:nvSpPr>
        <p:spPr>
          <a:xfrm>
            <a:off x="812846" y="5235798"/>
            <a:ext cx="609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Adobe Arabic" panose="02040503050201020203" pitchFamily="18" charset="-78"/>
                <a:cs typeface="Adobe Arabic" panose="02040503050201020203" pitchFamily="18" charset="-78"/>
              </a:rPr>
              <a:t>Side View of Perfusion Chamber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9B8DE1-7FED-3F2E-36C5-FBC3C96A2FB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786803" y="1170975"/>
            <a:ext cx="3914776" cy="5219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E6C582-6F44-610C-FAE0-CD59971ABBDF}"/>
              </a:ext>
            </a:extLst>
          </p:cNvPr>
          <p:cNvSpPr txBox="1"/>
          <p:nvPr/>
        </p:nvSpPr>
        <p:spPr>
          <a:xfrm>
            <a:off x="11435062" y="6488668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13/40</a:t>
            </a:r>
          </a:p>
        </p:txBody>
      </p:sp>
    </p:spTree>
    <p:extLst>
      <p:ext uri="{BB962C8B-B14F-4D97-AF65-F5344CB8AC3E}">
        <p14:creationId xmlns:p14="http://schemas.microsoft.com/office/powerpoint/2010/main" val="168492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E95D-444C-E551-2051-EC579539B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C91F-94DE-569F-7B29-685BD8516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20" y="-368982"/>
            <a:ext cx="11638697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Book Antiqua" panose="02040602050305030304" pitchFamily="18" charset="0"/>
                <a:cs typeface="Adobe Hebrew" panose="02040503050201020203" pitchFamily="18" charset="-79"/>
              </a:rPr>
              <a:t>Experimental Setup for Particle Tracking Velocimetry (PTV)</a:t>
            </a:r>
            <a:endParaRPr lang="en-US" sz="3600" dirty="0">
              <a:latin typeface="Book Antiqua" panose="02040602050305030304" pitchFamily="18" charset="0"/>
              <a:cs typeface="Adobe Hebrew" panose="02040503050201020203" pitchFamily="18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2A79DA-34CB-3AC8-CDF9-723989B40923}"/>
              </a:ext>
            </a:extLst>
          </p:cNvPr>
          <p:cNvSpPr txBox="1"/>
          <p:nvPr/>
        </p:nvSpPr>
        <p:spPr>
          <a:xfrm>
            <a:off x="9267553" y="3695494"/>
            <a:ext cx="1821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u="sng" dirty="0">
                <a:latin typeface="Adobe Hebrew" panose="02040503050201020203" pitchFamily="18" charset="-79"/>
                <a:cs typeface="Adobe Hebrew" panose="02040503050201020203" pitchFamily="18" charset="-79"/>
              </a:rPr>
              <a:t>Pump Input</a:t>
            </a:r>
            <a:r>
              <a:rPr lang="en-US" sz="1400" u="sng" dirty="0">
                <a:latin typeface="Adobe Hebrew" panose="02040503050201020203" pitchFamily="18" charset="-79"/>
                <a:cs typeface="Adobe Hebrew" panose="02040503050201020203" pitchFamily="18" charset="-79"/>
              </a:rPr>
              <a:t>:</a:t>
            </a:r>
          </a:p>
        </p:txBody>
      </p:sp>
      <p:pic>
        <p:nvPicPr>
          <p:cNvPr id="17" name="Picture 16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97EC9B8E-9138-F236-E043-DD95CC607A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60" y="3987596"/>
            <a:ext cx="5666918" cy="27449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D30FF5E-08BB-FBAF-0EF3-7E9349716CDD}"/>
              </a:ext>
            </a:extLst>
          </p:cNvPr>
          <p:cNvSpPr txBox="1"/>
          <p:nvPr/>
        </p:nvSpPr>
        <p:spPr>
          <a:xfrm>
            <a:off x="80298" y="3796915"/>
            <a:ext cx="2682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Adobe Arabic" panose="02040503050201020203" pitchFamily="18" charset="-78"/>
                <a:cs typeface="Adobe Arabic" panose="02040503050201020203" pitchFamily="18" charset="-78"/>
              </a:rPr>
              <a:t>Single Perfusion Chamber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067CF5-3CF1-0FA4-77D2-9B58C69B6A53}"/>
              </a:ext>
            </a:extLst>
          </p:cNvPr>
          <p:cNvSpPr/>
          <p:nvPr/>
        </p:nvSpPr>
        <p:spPr>
          <a:xfrm>
            <a:off x="86421" y="3815477"/>
            <a:ext cx="5793463" cy="295972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5EE82-049F-94DC-F2B0-F89D7F88ED23}"/>
              </a:ext>
            </a:extLst>
          </p:cNvPr>
          <p:cNvSpPr txBox="1"/>
          <p:nvPr/>
        </p:nvSpPr>
        <p:spPr>
          <a:xfrm>
            <a:off x="3453114" y="3352679"/>
            <a:ext cx="1209765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Adobe Hebrew" panose="02040503050201020203" pitchFamily="18" charset="-79"/>
              </a:rPr>
              <a:t>Camera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92BDA4-0246-92A1-E145-DD499C7E4A2C}"/>
              </a:ext>
            </a:extLst>
          </p:cNvPr>
          <p:cNvSpPr txBox="1"/>
          <p:nvPr/>
        </p:nvSpPr>
        <p:spPr>
          <a:xfrm>
            <a:off x="3784061" y="3229636"/>
            <a:ext cx="524157" cy="13823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400" dirty="0">
              <a:cs typeface="Adobe Hebrew" panose="02040503050201020203" pitchFamily="18" charset="-79"/>
            </a:endParaRPr>
          </a:p>
        </p:txBody>
      </p:sp>
      <p:pic>
        <p:nvPicPr>
          <p:cNvPr id="31" name="Picture 30" descr="A graph of a function&#10;&#10;Description automatically generated">
            <a:extLst>
              <a:ext uri="{FF2B5EF4-FFF2-40B4-BE49-F238E27FC236}">
                <a16:creationId xmlns:a16="http://schemas.microsoft.com/office/drawing/2014/main" id="{7C2BBA85-3F60-773A-822E-6A8FC4C6C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680" y="4137750"/>
            <a:ext cx="3219288" cy="224788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151A01D-42FA-3F7C-6C6A-5D7C9BFF7092}"/>
              </a:ext>
            </a:extLst>
          </p:cNvPr>
          <p:cNvGrpSpPr/>
          <p:nvPr/>
        </p:nvGrpSpPr>
        <p:grpSpPr>
          <a:xfrm>
            <a:off x="-66769" y="740743"/>
            <a:ext cx="11932646" cy="4314552"/>
            <a:chOff x="3231705" y="794837"/>
            <a:chExt cx="14807372" cy="507616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71004F-ECD7-1EE6-62E8-ADE15154E809}"/>
                </a:ext>
              </a:extLst>
            </p:cNvPr>
            <p:cNvSpPr/>
            <p:nvPr/>
          </p:nvSpPr>
          <p:spPr>
            <a:xfrm>
              <a:off x="11499399" y="2927702"/>
              <a:ext cx="550444" cy="11550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A9C1BFA-8C99-0AE5-0116-F65B086A2578}"/>
                </a:ext>
              </a:extLst>
            </p:cNvPr>
            <p:cNvSpPr/>
            <p:nvPr/>
          </p:nvSpPr>
          <p:spPr>
            <a:xfrm rot="16200000">
              <a:off x="10810456" y="3464522"/>
              <a:ext cx="1098746" cy="1177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8E9CA05-C7BB-CE59-6EEB-6ACCA46DC1B4}"/>
                </a:ext>
              </a:extLst>
            </p:cNvPr>
            <p:cNvGrpSpPr/>
            <p:nvPr/>
          </p:nvGrpSpPr>
          <p:grpSpPr>
            <a:xfrm>
              <a:off x="10825482" y="4061940"/>
              <a:ext cx="1064794" cy="889435"/>
              <a:chOff x="4707357" y="2539565"/>
              <a:chExt cx="1064794" cy="889435"/>
            </a:xfrm>
          </p:grpSpPr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E98F4129-347C-5D19-A616-49F1AADDF6F7}"/>
                  </a:ext>
                </a:extLst>
              </p:cNvPr>
              <p:cNvSpPr/>
              <p:nvPr/>
            </p:nvSpPr>
            <p:spPr>
              <a:xfrm>
                <a:off x="4803609" y="2539565"/>
                <a:ext cx="872289" cy="64369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B49F7151-8D6F-8955-BA0A-B2B5D3E8A9B9}"/>
                  </a:ext>
                </a:extLst>
              </p:cNvPr>
              <p:cNvSpPr/>
              <p:nvPr/>
            </p:nvSpPr>
            <p:spPr>
              <a:xfrm>
                <a:off x="5011154" y="3130164"/>
                <a:ext cx="457200" cy="59557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: Rounded Corners 157">
                <a:extLst>
                  <a:ext uri="{FF2B5EF4-FFF2-40B4-BE49-F238E27FC236}">
                    <a16:creationId xmlns:a16="http://schemas.microsoft.com/office/drawing/2014/main" id="{1875C673-A6AF-E074-ABE4-FC3EED3C30EE}"/>
                  </a:ext>
                </a:extLst>
              </p:cNvPr>
              <p:cNvSpPr/>
              <p:nvPr/>
            </p:nvSpPr>
            <p:spPr>
              <a:xfrm>
                <a:off x="4707357" y="3196188"/>
                <a:ext cx="1064794" cy="232812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926C81B-1220-DB12-A3DE-E6955AC9ECC3}"/>
                </a:ext>
              </a:extLst>
            </p:cNvPr>
            <p:cNvGrpSpPr/>
            <p:nvPr/>
          </p:nvGrpSpPr>
          <p:grpSpPr>
            <a:xfrm>
              <a:off x="7654667" y="2565101"/>
              <a:ext cx="1437278" cy="840705"/>
              <a:chOff x="869314" y="1575535"/>
              <a:chExt cx="1990667" cy="938462"/>
            </a:xfrm>
            <a:solidFill>
              <a:schemeClr val="accent5">
                <a:lumMod val="20000"/>
                <a:lumOff val="80000"/>
              </a:schemeClr>
            </a:solidFill>
          </p:grpSpPr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101CEC6A-90C5-DD84-D6D3-DF2955EBE2EA}"/>
                  </a:ext>
                </a:extLst>
              </p:cNvPr>
              <p:cNvGrpSpPr/>
              <p:nvPr/>
            </p:nvGrpSpPr>
            <p:grpSpPr>
              <a:xfrm>
                <a:off x="869314" y="1575535"/>
                <a:ext cx="1990667" cy="938462"/>
                <a:chOff x="869314" y="1575535"/>
                <a:chExt cx="1990667" cy="938462"/>
              </a:xfrm>
              <a:grpFill/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75653C8C-9B21-E12A-8B2F-A34A30AEC676}"/>
                    </a:ext>
                  </a:extLst>
                </p:cNvPr>
                <p:cNvSpPr/>
                <p:nvPr/>
              </p:nvSpPr>
              <p:spPr>
                <a:xfrm>
                  <a:off x="869314" y="1575535"/>
                  <a:ext cx="1990667" cy="93846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Flowchart: Preparation 154">
                  <a:extLst>
                    <a:ext uri="{FF2B5EF4-FFF2-40B4-BE49-F238E27FC236}">
                      <a16:creationId xmlns:a16="http://schemas.microsoft.com/office/drawing/2014/main" id="{9038449A-376B-01BA-3F4E-BB5A675B88CE}"/>
                    </a:ext>
                  </a:extLst>
                </p:cNvPr>
                <p:cNvSpPr/>
                <p:nvPr/>
              </p:nvSpPr>
              <p:spPr>
                <a:xfrm>
                  <a:off x="1014152" y="1653740"/>
                  <a:ext cx="1702468" cy="782053"/>
                </a:xfrm>
                <a:prstGeom prst="flowChartPreparation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B099E150-6E82-2CAE-7F34-624D45152D3C}"/>
                  </a:ext>
                </a:extLst>
              </p:cNvPr>
              <p:cNvSpPr/>
              <p:nvPr/>
            </p:nvSpPr>
            <p:spPr>
              <a:xfrm>
                <a:off x="1018494" y="1968365"/>
                <a:ext cx="153101" cy="162427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C1D490D4-E062-8731-FFF9-D1AD181E7556}"/>
                  </a:ext>
                </a:extLst>
              </p:cNvPr>
              <p:cNvSpPr/>
              <p:nvPr/>
            </p:nvSpPr>
            <p:spPr>
              <a:xfrm>
                <a:off x="2571637" y="1963552"/>
                <a:ext cx="153101" cy="162427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FD54E4E-2BB4-0709-F410-2B0FF22EB94A}"/>
                </a:ext>
              </a:extLst>
            </p:cNvPr>
            <p:cNvSpPr/>
            <p:nvPr/>
          </p:nvSpPr>
          <p:spPr>
            <a:xfrm>
              <a:off x="8962694" y="2930009"/>
              <a:ext cx="2364205" cy="11134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550C990-352D-41D2-7C22-CE2DD6789FC7}"/>
                </a:ext>
              </a:extLst>
            </p:cNvPr>
            <p:cNvGrpSpPr/>
            <p:nvPr/>
          </p:nvGrpSpPr>
          <p:grpSpPr>
            <a:xfrm>
              <a:off x="11195453" y="2916272"/>
              <a:ext cx="324852" cy="324852"/>
              <a:chOff x="5086201" y="2003860"/>
              <a:chExt cx="324852" cy="324852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6488506-5464-70EF-EE00-03B293ACC92D}"/>
                  </a:ext>
                </a:extLst>
              </p:cNvPr>
              <p:cNvSpPr/>
              <p:nvPr/>
            </p:nvSpPr>
            <p:spPr>
              <a:xfrm rot="16200000">
                <a:off x="5086201" y="2096052"/>
                <a:ext cx="324852" cy="14046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9A0E83EF-5491-B658-830C-8C25F0C8F165}"/>
                  </a:ext>
                </a:extLst>
              </p:cNvPr>
              <p:cNvSpPr/>
              <p:nvPr/>
            </p:nvSpPr>
            <p:spPr>
              <a:xfrm rot="10800000">
                <a:off x="5086201" y="2003860"/>
                <a:ext cx="324852" cy="14046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380C7B6-502F-D52F-921B-076F6DBA2A68}"/>
                </a:ext>
              </a:extLst>
            </p:cNvPr>
            <p:cNvSpPr/>
            <p:nvPr/>
          </p:nvSpPr>
          <p:spPr>
            <a:xfrm>
              <a:off x="3390614" y="2491462"/>
              <a:ext cx="2576222" cy="10224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EE215EF-C97A-0906-DE34-A30E182BA76F}"/>
                </a:ext>
              </a:extLst>
            </p:cNvPr>
            <p:cNvSpPr/>
            <p:nvPr/>
          </p:nvSpPr>
          <p:spPr>
            <a:xfrm>
              <a:off x="3564228" y="2599557"/>
              <a:ext cx="2228993" cy="8062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175A67C-A8D7-A50B-5C1F-EA70CD13DC68}"/>
                </a:ext>
              </a:extLst>
            </p:cNvPr>
            <p:cNvSpPr/>
            <p:nvPr/>
          </p:nvSpPr>
          <p:spPr>
            <a:xfrm>
              <a:off x="5592155" y="2927702"/>
              <a:ext cx="2204235" cy="11550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Diamond 28">
              <a:extLst>
                <a:ext uri="{FF2B5EF4-FFF2-40B4-BE49-F238E27FC236}">
                  <a16:creationId xmlns:a16="http://schemas.microsoft.com/office/drawing/2014/main" id="{E115BBC2-6D0F-A00D-B2FB-1973AA17B0F9}"/>
                </a:ext>
              </a:extLst>
            </p:cNvPr>
            <p:cNvSpPr/>
            <p:nvPr/>
          </p:nvSpPr>
          <p:spPr>
            <a:xfrm>
              <a:off x="11195452" y="3471376"/>
              <a:ext cx="324852" cy="324853"/>
            </a:xfrm>
            <a:prstGeom prst="diamond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Diamond 29">
              <a:extLst>
                <a:ext uri="{FF2B5EF4-FFF2-40B4-BE49-F238E27FC236}">
                  <a16:creationId xmlns:a16="http://schemas.microsoft.com/office/drawing/2014/main" id="{938A6134-817F-9365-BFC8-86DD1052347A}"/>
                </a:ext>
              </a:extLst>
            </p:cNvPr>
            <p:cNvSpPr/>
            <p:nvPr/>
          </p:nvSpPr>
          <p:spPr>
            <a:xfrm>
              <a:off x="7181865" y="2823025"/>
              <a:ext cx="324852" cy="324853"/>
            </a:xfrm>
            <a:prstGeom prst="diamond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8265798-00C7-CE0D-7C51-6CA8D0B882A6}"/>
                </a:ext>
              </a:extLst>
            </p:cNvPr>
            <p:cNvSpPr/>
            <p:nvPr/>
          </p:nvSpPr>
          <p:spPr>
            <a:xfrm>
              <a:off x="8908901" y="2635155"/>
              <a:ext cx="79536" cy="2998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Single Corner Snipped 32">
              <a:extLst>
                <a:ext uri="{FF2B5EF4-FFF2-40B4-BE49-F238E27FC236}">
                  <a16:creationId xmlns:a16="http://schemas.microsoft.com/office/drawing/2014/main" id="{690057C3-1C18-9101-FA64-7B8A7D833F4F}"/>
                </a:ext>
              </a:extLst>
            </p:cNvPr>
            <p:cNvSpPr/>
            <p:nvPr/>
          </p:nvSpPr>
          <p:spPr>
            <a:xfrm flipH="1">
              <a:off x="14303273" y="2737451"/>
              <a:ext cx="3735804" cy="1098746"/>
            </a:xfrm>
            <a:prstGeom prst="snip1Rect">
              <a:avLst>
                <a:gd name="adj" fmla="val 42045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lowchart: Process 33">
              <a:extLst>
                <a:ext uri="{FF2B5EF4-FFF2-40B4-BE49-F238E27FC236}">
                  <a16:creationId xmlns:a16="http://schemas.microsoft.com/office/drawing/2014/main" id="{6EF769F5-6D32-1805-1D32-5CEB34202B1D}"/>
                </a:ext>
              </a:extLst>
            </p:cNvPr>
            <p:cNvSpPr/>
            <p:nvPr/>
          </p:nvSpPr>
          <p:spPr>
            <a:xfrm>
              <a:off x="12833866" y="4163484"/>
              <a:ext cx="1501213" cy="1707519"/>
            </a:xfrm>
            <a:prstGeom prst="flowChartProcess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lowchart: Process 34">
              <a:extLst>
                <a:ext uri="{FF2B5EF4-FFF2-40B4-BE49-F238E27FC236}">
                  <a16:creationId xmlns:a16="http://schemas.microsoft.com/office/drawing/2014/main" id="{5DF08D20-1DB9-8E79-4AF9-C7EA1F14DEE6}"/>
                </a:ext>
              </a:extLst>
            </p:cNvPr>
            <p:cNvSpPr/>
            <p:nvPr/>
          </p:nvSpPr>
          <p:spPr>
            <a:xfrm>
              <a:off x="12962151" y="4301221"/>
              <a:ext cx="1245871" cy="1432044"/>
            </a:xfrm>
            <a:prstGeom prst="flowChart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728026-AA6A-07B3-2E38-90FFE9DABF4B}"/>
                </a:ext>
              </a:extLst>
            </p:cNvPr>
            <p:cNvSpPr/>
            <p:nvPr/>
          </p:nvSpPr>
          <p:spPr>
            <a:xfrm rot="16200000">
              <a:off x="13396963" y="3883960"/>
              <a:ext cx="1098748" cy="1424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C31E4BC-6EA1-1924-C395-24B3F4654947}"/>
                </a:ext>
              </a:extLst>
            </p:cNvPr>
            <p:cNvSpPr/>
            <p:nvPr/>
          </p:nvSpPr>
          <p:spPr>
            <a:xfrm>
              <a:off x="13871388" y="3385492"/>
              <a:ext cx="648377" cy="15151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90E9698-20FB-814B-1348-315F0D329BDE}"/>
                </a:ext>
              </a:extLst>
            </p:cNvPr>
            <p:cNvSpPr/>
            <p:nvPr/>
          </p:nvSpPr>
          <p:spPr>
            <a:xfrm>
              <a:off x="12066785" y="2935012"/>
              <a:ext cx="2784879" cy="12319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lowchart: Terminator 38">
              <a:extLst>
                <a:ext uri="{FF2B5EF4-FFF2-40B4-BE49-F238E27FC236}">
                  <a16:creationId xmlns:a16="http://schemas.microsoft.com/office/drawing/2014/main" id="{A89E8102-C82D-0E0C-49A8-82C93B252631}"/>
                </a:ext>
              </a:extLst>
            </p:cNvPr>
            <p:cNvSpPr/>
            <p:nvPr/>
          </p:nvSpPr>
          <p:spPr>
            <a:xfrm>
              <a:off x="12361141" y="2873058"/>
              <a:ext cx="1912143" cy="259245"/>
            </a:xfrm>
            <a:prstGeom prst="flowChartTermina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Diamond 39">
              <a:extLst>
                <a:ext uri="{FF2B5EF4-FFF2-40B4-BE49-F238E27FC236}">
                  <a16:creationId xmlns:a16="http://schemas.microsoft.com/office/drawing/2014/main" id="{8EA5AEB1-E78D-0EB1-72AA-C762E9735E0C}"/>
                </a:ext>
              </a:extLst>
            </p:cNvPr>
            <p:cNvSpPr/>
            <p:nvPr/>
          </p:nvSpPr>
          <p:spPr>
            <a:xfrm>
              <a:off x="11897327" y="2811595"/>
              <a:ext cx="324852" cy="324853"/>
            </a:xfrm>
            <a:prstGeom prst="diamond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9B4F7316-0D68-6811-D493-FEA689347907}"/>
                </a:ext>
              </a:extLst>
            </p:cNvPr>
            <p:cNvSpPr/>
            <p:nvPr/>
          </p:nvSpPr>
          <p:spPr>
            <a:xfrm rot="5400000">
              <a:off x="14256650" y="3380760"/>
              <a:ext cx="295782" cy="181233"/>
            </a:xfrm>
            <a:prstGeom prst="triangl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7B27D0F-218D-411B-8847-800E6724FE14}"/>
                </a:ext>
              </a:extLst>
            </p:cNvPr>
            <p:cNvGrpSpPr/>
            <p:nvPr/>
          </p:nvGrpSpPr>
          <p:grpSpPr>
            <a:xfrm>
              <a:off x="14521999" y="2899030"/>
              <a:ext cx="2203970" cy="804323"/>
              <a:chOff x="14426062" y="2855828"/>
              <a:chExt cx="2203970" cy="804323"/>
            </a:xfrm>
          </p:grpSpPr>
          <p:sp>
            <p:nvSpPr>
              <p:cNvPr id="143" name="Rectangle: Single Corner Snipped 142">
                <a:extLst>
                  <a:ext uri="{FF2B5EF4-FFF2-40B4-BE49-F238E27FC236}">
                    <a16:creationId xmlns:a16="http://schemas.microsoft.com/office/drawing/2014/main" id="{33DC45B8-5F88-52DB-6A92-DE6CE5327D74}"/>
                  </a:ext>
                </a:extLst>
              </p:cNvPr>
              <p:cNvSpPr/>
              <p:nvPr/>
            </p:nvSpPr>
            <p:spPr>
              <a:xfrm flipH="1">
                <a:off x="14426062" y="2855828"/>
                <a:ext cx="648377" cy="804323"/>
              </a:xfrm>
              <a:prstGeom prst="snip1Rect">
                <a:avLst>
                  <a:gd name="adj" fmla="val 4204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Chord 143">
                <a:extLst>
                  <a:ext uri="{FF2B5EF4-FFF2-40B4-BE49-F238E27FC236}">
                    <a16:creationId xmlns:a16="http://schemas.microsoft.com/office/drawing/2014/main" id="{3743F35D-DBAC-2E53-5C3D-539885B70D0A}"/>
                  </a:ext>
                </a:extLst>
              </p:cNvPr>
              <p:cNvSpPr/>
              <p:nvPr/>
            </p:nvSpPr>
            <p:spPr>
              <a:xfrm>
                <a:off x="14755729" y="2855828"/>
                <a:ext cx="648378" cy="783516"/>
              </a:xfrm>
              <a:prstGeom prst="chord">
                <a:avLst>
                  <a:gd name="adj1" fmla="val 5314083"/>
                  <a:gd name="adj2" fmla="val 1620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8D3D97D5-CDF9-0C4F-F54A-9CA551D5C671}"/>
                  </a:ext>
                </a:extLst>
              </p:cNvPr>
              <p:cNvSpPr/>
              <p:nvPr/>
            </p:nvSpPr>
            <p:spPr>
              <a:xfrm>
                <a:off x="15074440" y="2855828"/>
                <a:ext cx="918315" cy="79007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A6B86A86-E64E-26C0-11BB-8DF20D9885DF}"/>
                  </a:ext>
                </a:extLst>
              </p:cNvPr>
              <p:cNvSpPr/>
              <p:nvPr/>
            </p:nvSpPr>
            <p:spPr>
              <a:xfrm>
                <a:off x="15992756" y="2856315"/>
                <a:ext cx="637276" cy="79007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7C9C6605-9C90-B16B-D3C6-F99DC33A26BB}"/>
                  </a:ext>
                </a:extLst>
              </p:cNvPr>
              <p:cNvSpPr/>
              <p:nvPr/>
            </p:nvSpPr>
            <p:spPr>
              <a:xfrm>
                <a:off x="15861498" y="2867126"/>
                <a:ext cx="131257" cy="775772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99DBB0C0-063A-5142-4BD5-065F7FF14AD4}"/>
                  </a:ext>
                </a:extLst>
              </p:cNvPr>
              <p:cNvSpPr/>
              <p:nvPr/>
            </p:nvSpPr>
            <p:spPr>
              <a:xfrm rot="5400000">
                <a:off x="16221874" y="2912404"/>
                <a:ext cx="172681" cy="64363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621A462C-1C54-BD4B-6F38-039CDC83C79A}"/>
                </a:ext>
              </a:extLst>
            </p:cNvPr>
            <p:cNvSpPr/>
            <p:nvPr/>
          </p:nvSpPr>
          <p:spPr>
            <a:xfrm rot="16200000">
              <a:off x="14382986" y="2912007"/>
              <a:ext cx="295782" cy="181233"/>
            </a:xfrm>
            <a:prstGeom prst="triangl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lowchart: Process 43">
              <a:extLst>
                <a:ext uri="{FF2B5EF4-FFF2-40B4-BE49-F238E27FC236}">
                  <a16:creationId xmlns:a16="http://schemas.microsoft.com/office/drawing/2014/main" id="{B6D92FE1-E0CF-2208-119F-37339060EE46}"/>
                </a:ext>
              </a:extLst>
            </p:cNvPr>
            <p:cNvSpPr/>
            <p:nvPr/>
          </p:nvSpPr>
          <p:spPr>
            <a:xfrm rot="5400000">
              <a:off x="8724342" y="2308783"/>
              <a:ext cx="429371" cy="198783"/>
            </a:xfrm>
            <a:prstGeom prst="flowChartProcess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8C5ACAF-5B1E-7B3E-3BF1-9105B30104CB}"/>
                </a:ext>
              </a:extLst>
            </p:cNvPr>
            <p:cNvSpPr/>
            <p:nvPr/>
          </p:nvSpPr>
          <p:spPr>
            <a:xfrm>
              <a:off x="7789377" y="2649528"/>
              <a:ext cx="79536" cy="2998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lowchart: Process 45">
              <a:extLst>
                <a:ext uri="{FF2B5EF4-FFF2-40B4-BE49-F238E27FC236}">
                  <a16:creationId xmlns:a16="http://schemas.microsoft.com/office/drawing/2014/main" id="{268FE431-D4C5-F020-8134-06BD51714C75}"/>
                </a:ext>
              </a:extLst>
            </p:cNvPr>
            <p:cNvSpPr/>
            <p:nvPr/>
          </p:nvSpPr>
          <p:spPr>
            <a:xfrm rot="5400000">
              <a:off x="7604818" y="2323156"/>
              <a:ext cx="429371" cy="198783"/>
            </a:xfrm>
            <a:prstGeom prst="flowChartProcess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873B7C59-440C-1AA2-A90A-DF917628EDE4}"/>
                </a:ext>
              </a:extLst>
            </p:cNvPr>
            <p:cNvCxnSpPr>
              <a:cxnSpLocks/>
              <a:stCxn id="46" idx="1"/>
            </p:cNvCxnSpPr>
            <p:nvPr/>
          </p:nvCxnSpPr>
          <p:spPr>
            <a:xfrm rot="5400000" flipH="1" flipV="1">
              <a:off x="8387636" y="926713"/>
              <a:ext cx="713017" cy="1849283"/>
            </a:xfrm>
            <a:prstGeom prst="bentConnector2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3198564E-817A-0A01-A960-EB1A7A684B52}"/>
                </a:ext>
              </a:extLst>
            </p:cNvPr>
            <p:cNvCxnSpPr>
              <a:cxnSpLocks/>
              <a:stCxn id="44" idx="1"/>
            </p:cNvCxnSpPr>
            <p:nvPr/>
          </p:nvCxnSpPr>
          <p:spPr>
            <a:xfrm rot="5400000" flipH="1" flipV="1">
              <a:off x="8954585" y="1479289"/>
              <a:ext cx="698643" cy="729759"/>
            </a:xfrm>
            <a:prstGeom prst="bentConnector2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Flowchart: Process 48">
              <a:extLst>
                <a:ext uri="{FF2B5EF4-FFF2-40B4-BE49-F238E27FC236}">
                  <a16:creationId xmlns:a16="http://schemas.microsoft.com/office/drawing/2014/main" id="{996EEC7B-460A-5BC7-994F-FA7E767EA37B}"/>
                </a:ext>
              </a:extLst>
            </p:cNvPr>
            <p:cNvSpPr/>
            <p:nvPr/>
          </p:nvSpPr>
          <p:spPr>
            <a:xfrm>
              <a:off x="8862608" y="1319623"/>
              <a:ext cx="882595" cy="345934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Arduino</a:t>
              </a:r>
              <a:endParaRPr lang="en-US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801C0B87-80A6-A4B2-4879-8F63FAA2855A}"/>
                </a:ext>
              </a:extLst>
            </p:cNvPr>
            <p:cNvSpPr/>
            <p:nvPr/>
          </p:nvSpPr>
          <p:spPr>
            <a:xfrm>
              <a:off x="10079346" y="794837"/>
              <a:ext cx="2010197" cy="894362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Computer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AB8C322-A06E-6836-F301-4460C7153336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>
              <a:off x="9745203" y="1492590"/>
              <a:ext cx="334142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77B829A-8198-9FA9-3B54-B6C7BA32483D}"/>
                </a:ext>
              </a:extLst>
            </p:cNvPr>
            <p:cNvSpPr/>
            <p:nvPr/>
          </p:nvSpPr>
          <p:spPr>
            <a:xfrm>
              <a:off x="10701957" y="2966236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ED0B0DE-70B3-0E2A-6EF9-997D40AF42C8}"/>
                </a:ext>
              </a:extLst>
            </p:cNvPr>
            <p:cNvSpPr/>
            <p:nvPr/>
          </p:nvSpPr>
          <p:spPr>
            <a:xfrm>
              <a:off x="9525458" y="2952982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0CF513F-3D64-8ACC-7852-DBA1A4E63CDF}"/>
                </a:ext>
              </a:extLst>
            </p:cNvPr>
            <p:cNvSpPr/>
            <p:nvPr/>
          </p:nvSpPr>
          <p:spPr>
            <a:xfrm>
              <a:off x="9051280" y="2961617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2AF93A1-091B-45AD-6A88-982D7E47F73D}"/>
                </a:ext>
              </a:extLst>
            </p:cNvPr>
            <p:cNvSpPr/>
            <p:nvPr/>
          </p:nvSpPr>
          <p:spPr>
            <a:xfrm>
              <a:off x="9216546" y="2966670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379E2FE-D4AD-D563-77E9-0E1FFF5F238A}"/>
                </a:ext>
              </a:extLst>
            </p:cNvPr>
            <p:cNvSpPr/>
            <p:nvPr/>
          </p:nvSpPr>
          <p:spPr>
            <a:xfrm>
              <a:off x="10352829" y="2973748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E4D376C-8A1D-7159-084B-97DEAFD9D3B6}"/>
                </a:ext>
              </a:extLst>
            </p:cNvPr>
            <p:cNvSpPr/>
            <p:nvPr/>
          </p:nvSpPr>
          <p:spPr>
            <a:xfrm>
              <a:off x="9367606" y="2954759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43E641B-EA91-BDAD-8489-BE7A2CF3B114}"/>
                </a:ext>
              </a:extLst>
            </p:cNvPr>
            <p:cNvSpPr/>
            <p:nvPr/>
          </p:nvSpPr>
          <p:spPr>
            <a:xfrm>
              <a:off x="11037155" y="4295067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936874F-2741-976F-92EE-0C14F6989607}"/>
                </a:ext>
              </a:extLst>
            </p:cNvPr>
            <p:cNvSpPr/>
            <p:nvPr/>
          </p:nvSpPr>
          <p:spPr>
            <a:xfrm>
              <a:off x="11189555" y="4447467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6779EA-EC9B-142A-504C-0F2ABE5928C8}"/>
                </a:ext>
              </a:extLst>
            </p:cNvPr>
            <p:cNvSpPr/>
            <p:nvPr/>
          </p:nvSpPr>
          <p:spPr>
            <a:xfrm>
              <a:off x="11367005" y="4401748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FB454FE-DBFB-8D6F-FA5A-B5D637BD03FD}"/>
                </a:ext>
              </a:extLst>
            </p:cNvPr>
            <p:cNvSpPr/>
            <p:nvPr/>
          </p:nvSpPr>
          <p:spPr>
            <a:xfrm>
              <a:off x="11205457" y="428790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4119DCC-F07A-DAE5-A78A-98148B3E13AE}"/>
                </a:ext>
              </a:extLst>
            </p:cNvPr>
            <p:cNvSpPr/>
            <p:nvPr/>
          </p:nvSpPr>
          <p:spPr>
            <a:xfrm>
              <a:off x="11037025" y="4493186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EF4256A-984F-0F76-A68A-43D26A0555FA}"/>
                </a:ext>
              </a:extLst>
            </p:cNvPr>
            <p:cNvSpPr/>
            <p:nvPr/>
          </p:nvSpPr>
          <p:spPr>
            <a:xfrm>
              <a:off x="11133896" y="4156286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4BA32F5-5D63-A1D4-ECF4-E984646FDBE1}"/>
                </a:ext>
              </a:extLst>
            </p:cNvPr>
            <p:cNvSpPr/>
            <p:nvPr/>
          </p:nvSpPr>
          <p:spPr>
            <a:xfrm>
              <a:off x="11362690" y="430236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CCC4549-8EFC-8BAE-CD16-9A4F0B48059D}"/>
                </a:ext>
              </a:extLst>
            </p:cNvPr>
            <p:cNvSpPr/>
            <p:nvPr/>
          </p:nvSpPr>
          <p:spPr>
            <a:xfrm>
              <a:off x="11515090" y="445476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D3FC2C7-EA7B-E368-349E-3FBF3306123E}"/>
                </a:ext>
              </a:extLst>
            </p:cNvPr>
            <p:cNvSpPr/>
            <p:nvPr/>
          </p:nvSpPr>
          <p:spPr>
            <a:xfrm>
              <a:off x="11692540" y="4409044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58C660D-2724-7406-F0C3-A7EB7A0070D8}"/>
                </a:ext>
              </a:extLst>
            </p:cNvPr>
            <p:cNvSpPr/>
            <p:nvPr/>
          </p:nvSpPr>
          <p:spPr>
            <a:xfrm>
              <a:off x="11530992" y="4295199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B5D0EE7-55F1-2F8C-7AAE-1A1DAA07E780}"/>
                </a:ext>
              </a:extLst>
            </p:cNvPr>
            <p:cNvSpPr/>
            <p:nvPr/>
          </p:nvSpPr>
          <p:spPr>
            <a:xfrm>
              <a:off x="11362560" y="4500482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7BCD916-7A94-3E59-4E5A-6CB0CAA9F178}"/>
                </a:ext>
              </a:extLst>
            </p:cNvPr>
            <p:cNvSpPr/>
            <p:nvPr/>
          </p:nvSpPr>
          <p:spPr>
            <a:xfrm>
              <a:off x="11459431" y="4163582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3D466A6-A1C3-665D-8076-00A3E7F460E0}"/>
                </a:ext>
              </a:extLst>
            </p:cNvPr>
            <p:cNvSpPr/>
            <p:nvPr/>
          </p:nvSpPr>
          <p:spPr>
            <a:xfrm>
              <a:off x="3696265" y="2867944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EAD74D8-4F8C-A707-E5FE-EF838D79C11E}"/>
                </a:ext>
              </a:extLst>
            </p:cNvPr>
            <p:cNvSpPr/>
            <p:nvPr/>
          </p:nvSpPr>
          <p:spPr>
            <a:xfrm>
              <a:off x="3848665" y="3020344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F1F8EE3-F1EF-44C3-B5F1-3C92117A5FD5}"/>
                </a:ext>
              </a:extLst>
            </p:cNvPr>
            <p:cNvSpPr/>
            <p:nvPr/>
          </p:nvSpPr>
          <p:spPr>
            <a:xfrm>
              <a:off x="4026115" y="2974625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6A7BF8E-34B7-93C1-468F-BA301201292E}"/>
                </a:ext>
              </a:extLst>
            </p:cNvPr>
            <p:cNvSpPr/>
            <p:nvPr/>
          </p:nvSpPr>
          <p:spPr>
            <a:xfrm>
              <a:off x="3864567" y="2860780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9B338C0-51E8-8DE8-5A09-D25DE35ED617}"/>
                </a:ext>
              </a:extLst>
            </p:cNvPr>
            <p:cNvSpPr/>
            <p:nvPr/>
          </p:nvSpPr>
          <p:spPr>
            <a:xfrm>
              <a:off x="3696135" y="306606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14F86E9-48D4-C969-3583-EC1C96E2E5CE}"/>
                </a:ext>
              </a:extLst>
            </p:cNvPr>
            <p:cNvSpPr/>
            <p:nvPr/>
          </p:nvSpPr>
          <p:spPr>
            <a:xfrm>
              <a:off x="3793006" y="272916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330E86A-0577-2975-91DB-75450C66504D}"/>
                </a:ext>
              </a:extLst>
            </p:cNvPr>
            <p:cNvSpPr/>
            <p:nvPr/>
          </p:nvSpPr>
          <p:spPr>
            <a:xfrm>
              <a:off x="4000607" y="2864774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8E0C222F-858D-DB4A-50EE-8E60D3A64985}"/>
                </a:ext>
              </a:extLst>
            </p:cNvPr>
            <p:cNvSpPr/>
            <p:nvPr/>
          </p:nvSpPr>
          <p:spPr>
            <a:xfrm>
              <a:off x="4440435" y="3163482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AEE3571-0108-3D79-FA50-27B522741592}"/>
                </a:ext>
              </a:extLst>
            </p:cNvPr>
            <p:cNvSpPr/>
            <p:nvPr/>
          </p:nvSpPr>
          <p:spPr>
            <a:xfrm>
              <a:off x="4801186" y="2939732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58200E8-3BBB-222F-98B3-39EDA154BF7B}"/>
                </a:ext>
              </a:extLst>
            </p:cNvPr>
            <p:cNvSpPr/>
            <p:nvPr/>
          </p:nvSpPr>
          <p:spPr>
            <a:xfrm>
              <a:off x="4168909" y="2857610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7753F86-5A16-6BA8-2A9C-0B843BD36B94}"/>
                </a:ext>
              </a:extLst>
            </p:cNvPr>
            <p:cNvSpPr/>
            <p:nvPr/>
          </p:nvSpPr>
          <p:spPr>
            <a:xfrm>
              <a:off x="4000477" y="306289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85AC5EC-8003-25BE-9001-C2774E6EB9CC}"/>
                </a:ext>
              </a:extLst>
            </p:cNvPr>
            <p:cNvSpPr/>
            <p:nvPr/>
          </p:nvSpPr>
          <p:spPr>
            <a:xfrm>
              <a:off x="4097348" y="272599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3707E8A1-7F6D-51BF-6631-20CD6B4E7CF2}"/>
                </a:ext>
              </a:extLst>
            </p:cNvPr>
            <p:cNvSpPr/>
            <p:nvPr/>
          </p:nvSpPr>
          <p:spPr>
            <a:xfrm>
              <a:off x="5264686" y="2978619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467732D-BE32-C073-237F-AB5106A669E7}"/>
                </a:ext>
              </a:extLst>
            </p:cNvPr>
            <p:cNvSpPr/>
            <p:nvPr/>
          </p:nvSpPr>
          <p:spPr>
            <a:xfrm>
              <a:off x="5417086" y="3131019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41A5A9D-A1AC-1959-9039-52216C392DDF}"/>
                </a:ext>
              </a:extLst>
            </p:cNvPr>
            <p:cNvSpPr/>
            <p:nvPr/>
          </p:nvSpPr>
          <p:spPr>
            <a:xfrm>
              <a:off x="5594536" y="3085300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674006A3-6E42-9647-EEA8-535CC585AB2A}"/>
                </a:ext>
              </a:extLst>
            </p:cNvPr>
            <p:cNvSpPr/>
            <p:nvPr/>
          </p:nvSpPr>
          <p:spPr>
            <a:xfrm>
              <a:off x="5432988" y="2971455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68C9B95-5755-230B-FAFE-4963C9782885}"/>
                </a:ext>
              </a:extLst>
            </p:cNvPr>
            <p:cNvSpPr/>
            <p:nvPr/>
          </p:nvSpPr>
          <p:spPr>
            <a:xfrm>
              <a:off x="5264556" y="3176738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829B968A-3D76-9D33-09C8-3D582B05DFB6}"/>
                </a:ext>
              </a:extLst>
            </p:cNvPr>
            <p:cNvSpPr/>
            <p:nvPr/>
          </p:nvSpPr>
          <p:spPr>
            <a:xfrm>
              <a:off x="5361427" y="2839838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21562ED-6A48-2AE4-3722-3DCD5AC66734}"/>
                </a:ext>
              </a:extLst>
            </p:cNvPr>
            <p:cNvSpPr/>
            <p:nvPr/>
          </p:nvSpPr>
          <p:spPr>
            <a:xfrm>
              <a:off x="4231320" y="2928322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2B85409-6CE2-06EC-20FC-87BF86E053FE}"/>
                </a:ext>
              </a:extLst>
            </p:cNvPr>
            <p:cNvSpPr/>
            <p:nvPr/>
          </p:nvSpPr>
          <p:spPr>
            <a:xfrm>
              <a:off x="4383720" y="3080722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188EB05-2FB0-3614-E6A1-8B7973F321A4}"/>
                </a:ext>
              </a:extLst>
            </p:cNvPr>
            <p:cNvSpPr/>
            <p:nvPr/>
          </p:nvSpPr>
          <p:spPr>
            <a:xfrm>
              <a:off x="4561170" y="303500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D1B7FD6-C049-BED7-5DCC-2929381AD978}"/>
                </a:ext>
              </a:extLst>
            </p:cNvPr>
            <p:cNvSpPr/>
            <p:nvPr/>
          </p:nvSpPr>
          <p:spPr>
            <a:xfrm>
              <a:off x="4399622" y="2921158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C33551C-9783-2A91-536A-C8C8741724CC}"/>
                </a:ext>
              </a:extLst>
            </p:cNvPr>
            <p:cNvSpPr/>
            <p:nvPr/>
          </p:nvSpPr>
          <p:spPr>
            <a:xfrm>
              <a:off x="4231190" y="3126441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D5932778-F5CD-5D89-BC40-277CF604C6A5}"/>
                </a:ext>
              </a:extLst>
            </p:cNvPr>
            <p:cNvSpPr/>
            <p:nvPr/>
          </p:nvSpPr>
          <p:spPr>
            <a:xfrm>
              <a:off x="4328061" y="2789541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78ADEC4-2DF4-432D-5B1A-A039FD29A677}"/>
                </a:ext>
              </a:extLst>
            </p:cNvPr>
            <p:cNvSpPr/>
            <p:nvPr/>
          </p:nvSpPr>
          <p:spPr>
            <a:xfrm>
              <a:off x="4605950" y="2886042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E9495BFA-E801-57EE-B616-E744F80B24C9}"/>
                </a:ext>
              </a:extLst>
            </p:cNvPr>
            <p:cNvSpPr/>
            <p:nvPr/>
          </p:nvSpPr>
          <p:spPr>
            <a:xfrm>
              <a:off x="4900907" y="3031170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E47B1774-A238-AED6-1C5D-7D1BFD4347D7}"/>
                </a:ext>
              </a:extLst>
            </p:cNvPr>
            <p:cNvSpPr/>
            <p:nvPr/>
          </p:nvSpPr>
          <p:spPr>
            <a:xfrm>
              <a:off x="5078357" y="2985451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EFE7C6A-289F-5E2F-5BC7-B25DB9A4B714}"/>
                </a:ext>
              </a:extLst>
            </p:cNvPr>
            <p:cNvSpPr/>
            <p:nvPr/>
          </p:nvSpPr>
          <p:spPr>
            <a:xfrm>
              <a:off x="4845248" y="2768586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F51CFA1-E93F-ACBB-069A-9E0459FE746F}"/>
                </a:ext>
              </a:extLst>
            </p:cNvPr>
            <p:cNvSpPr/>
            <p:nvPr/>
          </p:nvSpPr>
          <p:spPr>
            <a:xfrm>
              <a:off x="4748377" y="3076889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FB78B3CC-9D5F-617F-75FA-72A8FC2C6AAD}"/>
                </a:ext>
              </a:extLst>
            </p:cNvPr>
            <p:cNvSpPr/>
            <p:nvPr/>
          </p:nvSpPr>
          <p:spPr>
            <a:xfrm>
              <a:off x="4512530" y="2803278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6C7F121A-9E97-CE22-C6A2-028050784339}"/>
                </a:ext>
              </a:extLst>
            </p:cNvPr>
            <p:cNvSpPr/>
            <p:nvPr/>
          </p:nvSpPr>
          <p:spPr>
            <a:xfrm>
              <a:off x="4963051" y="2919644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042A196-1126-160F-81DE-0A862614B37C}"/>
                </a:ext>
              </a:extLst>
            </p:cNvPr>
            <p:cNvSpPr/>
            <p:nvPr/>
          </p:nvSpPr>
          <p:spPr>
            <a:xfrm>
              <a:off x="5115451" y="3072044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A402943-64D5-70D1-AAD2-16F2ED762CCA}"/>
                </a:ext>
              </a:extLst>
            </p:cNvPr>
            <p:cNvSpPr/>
            <p:nvPr/>
          </p:nvSpPr>
          <p:spPr>
            <a:xfrm>
              <a:off x="5292901" y="3026325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3E116B6-EDEA-FBD7-8D42-84D11461D6C6}"/>
                </a:ext>
              </a:extLst>
            </p:cNvPr>
            <p:cNvSpPr/>
            <p:nvPr/>
          </p:nvSpPr>
          <p:spPr>
            <a:xfrm>
              <a:off x="5131353" y="2912480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726E85AA-2CC1-E265-6A49-FAC9417F2951}"/>
                </a:ext>
              </a:extLst>
            </p:cNvPr>
            <p:cNvSpPr/>
            <p:nvPr/>
          </p:nvSpPr>
          <p:spPr>
            <a:xfrm>
              <a:off x="4962921" y="311776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89B2DC29-DD18-F980-B148-EEB2B60ACDB5}"/>
                </a:ext>
              </a:extLst>
            </p:cNvPr>
            <p:cNvSpPr/>
            <p:nvPr/>
          </p:nvSpPr>
          <p:spPr>
            <a:xfrm>
              <a:off x="5059792" y="278086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9F12A999-E4B6-5451-9E11-380E7564593F}"/>
                </a:ext>
              </a:extLst>
            </p:cNvPr>
            <p:cNvSpPr/>
            <p:nvPr/>
          </p:nvSpPr>
          <p:spPr>
            <a:xfrm>
              <a:off x="5696650" y="2970148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C6F2F9AE-60C5-D7E6-2E58-AC3BF130A7CE}"/>
                </a:ext>
              </a:extLst>
            </p:cNvPr>
            <p:cNvSpPr/>
            <p:nvPr/>
          </p:nvSpPr>
          <p:spPr>
            <a:xfrm>
              <a:off x="5802312" y="2947288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B63DC7D3-E1A1-58C0-1FA5-C31853866674}"/>
                </a:ext>
              </a:extLst>
            </p:cNvPr>
            <p:cNvSpPr/>
            <p:nvPr/>
          </p:nvSpPr>
          <p:spPr>
            <a:xfrm>
              <a:off x="6087268" y="2962591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431E9D69-4124-8118-68E7-5D8124A350EB}"/>
                </a:ext>
              </a:extLst>
            </p:cNvPr>
            <p:cNvSpPr/>
            <p:nvPr/>
          </p:nvSpPr>
          <p:spPr>
            <a:xfrm>
              <a:off x="8011815" y="2788735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538F1F34-2ABB-FC45-6265-50EA8562A737}"/>
                </a:ext>
              </a:extLst>
            </p:cNvPr>
            <p:cNvSpPr/>
            <p:nvPr/>
          </p:nvSpPr>
          <p:spPr>
            <a:xfrm>
              <a:off x="8405724" y="2863467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9011FAE7-BB5B-B428-4658-4EAE740E7AB8}"/>
                </a:ext>
              </a:extLst>
            </p:cNvPr>
            <p:cNvSpPr/>
            <p:nvPr/>
          </p:nvSpPr>
          <p:spPr>
            <a:xfrm>
              <a:off x="8581749" y="3025950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02B526AD-40A7-605D-B252-3DD14B409631}"/>
                </a:ext>
              </a:extLst>
            </p:cNvPr>
            <p:cNvSpPr/>
            <p:nvPr/>
          </p:nvSpPr>
          <p:spPr>
            <a:xfrm>
              <a:off x="8735574" y="2970148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160126F5-B50B-F56B-7493-03E617481FC5}"/>
                </a:ext>
              </a:extLst>
            </p:cNvPr>
            <p:cNvSpPr/>
            <p:nvPr/>
          </p:nvSpPr>
          <p:spPr>
            <a:xfrm>
              <a:off x="8574026" y="285630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BF4C1D34-18B3-7DD6-FCB3-201CDD3B3C33}"/>
                </a:ext>
              </a:extLst>
            </p:cNvPr>
            <p:cNvSpPr/>
            <p:nvPr/>
          </p:nvSpPr>
          <p:spPr>
            <a:xfrm>
              <a:off x="8502064" y="3164570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4FD881D8-3CBD-022A-C785-F205C6C165DB}"/>
                </a:ext>
              </a:extLst>
            </p:cNvPr>
            <p:cNvSpPr/>
            <p:nvPr/>
          </p:nvSpPr>
          <p:spPr>
            <a:xfrm>
              <a:off x="8502465" y="2724686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D0A99035-49C8-5196-4AAD-32A3ED2A2D39}"/>
                </a:ext>
              </a:extLst>
            </p:cNvPr>
            <p:cNvSpPr/>
            <p:nvPr/>
          </p:nvSpPr>
          <p:spPr>
            <a:xfrm>
              <a:off x="8047883" y="2967410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6AFB3D6-EF9A-EE2B-F072-6354AF4E2405}"/>
                </a:ext>
              </a:extLst>
            </p:cNvPr>
            <p:cNvSpPr/>
            <p:nvPr/>
          </p:nvSpPr>
          <p:spPr>
            <a:xfrm>
              <a:off x="8223908" y="3129893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3D25CB8-6B09-553E-7B13-3E152B7A3139}"/>
                </a:ext>
              </a:extLst>
            </p:cNvPr>
            <p:cNvSpPr/>
            <p:nvPr/>
          </p:nvSpPr>
          <p:spPr>
            <a:xfrm>
              <a:off x="8377733" y="3074091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15223F65-7BB3-6232-9172-B9C4CE0A965C}"/>
                </a:ext>
              </a:extLst>
            </p:cNvPr>
            <p:cNvSpPr/>
            <p:nvPr/>
          </p:nvSpPr>
          <p:spPr>
            <a:xfrm>
              <a:off x="8216185" y="2960246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40377844-6FB8-F335-99F4-415D12F6C5BE}"/>
                </a:ext>
              </a:extLst>
            </p:cNvPr>
            <p:cNvSpPr/>
            <p:nvPr/>
          </p:nvSpPr>
          <p:spPr>
            <a:xfrm>
              <a:off x="8047753" y="3165529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B8E9041B-8A7F-EB3E-F260-80203146CCEC}"/>
                </a:ext>
              </a:extLst>
            </p:cNvPr>
            <p:cNvSpPr/>
            <p:nvPr/>
          </p:nvSpPr>
          <p:spPr>
            <a:xfrm>
              <a:off x="8144624" y="2828629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1AB07EF1-3AEF-9A0A-FE8A-CA558AAD0BA0}"/>
                </a:ext>
              </a:extLst>
            </p:cNvPr>
            <p:cNvSpPr/>
            <p:nvPr/>
          </p:nvSpPr>
          <p:spPr>
            <a:xfrm>
              <a:off x="6373488" y="2986176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FCB47376-CE41-09C4-041A-EDA368432568}"/>
                </a:ext>
              </a:extLst>
            </p:cNvPr>
            <p:cNvSpPr/>
            <p:nvPr/>
          </p:nvSpPr>
          <p:spPr>
            <a:xfrm>
              <a:off x="6479150" y="2963316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D7182D5-632B-3665-ABDE-8114CC41D744}"/>
                </a:ext>
              </a:extLst>
            </p:cNvPr>
            <p:cNvSpPr/>
            <p:nvPr/>
          </p:nvSpPr>
          <p:spPr>
            <a:xfrm>
              <a:off x="6764106" y="2978619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9B97467-2A4C-9336-4C7D-E52BCFA23661}"/>
                </a:ext>
              </a:extLst>
            </p:cNvPr>
            <p:cNvSpPr/>
            <p:nvPr/>
          </p:nvSpPr>
          <p:spPr>
            <a:xfrm>
              <a:off x="9723047" y="2986176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E3F6A470-93B0-9FB0-E30C-CE5AEA58D72E}"/>
                </a:ext>
              </a:extLst>
            </p:cNvPr>
            <p:cNvSpPr/>
            <p:nvPr/>
          </p:nvSpPr>
          <p:spPr>
            <a:xfrm>
              <a:off x="9828709" y="2963316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118ACC4-6C85-4EE2-4E39-DAC50E1D2D09}"/>
                </a:ext>
              </a:extLst>
            </p:cNvPr>
            <p:cNvSpPr/>
            <p:nvPr/>
          </p:nvSpPr>
          <p:spPr>
            <a:xfrm>
              <a:off x="10113665" y="2978619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363B1687-84FB-1DE9-5A51-513D8A1FE4EB}"/>
                </a:ext>
              </a:extLst>
            </p:cNvPr>
            <p:cNvSpPr/>
            <p:nvPr/>
          </p:nvSpPr>
          <p:spPr>
            <a:xfrm>
              <a:off x="11330047" y="3873164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B8E4E43-32A1-0557-C9F7-887714EB12EA}"/>
                </a:ext>
              </a:extLst>
            </p:cNvPr>
            <p:cNvSpPr/>
            <p:nvPr/>
          </p:nvSpPr>
          <p:spPr>
            <a:xfrm>
              <a:off x="11330048" y="3389061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4D5FF081-21A3-F2C3-287E-0D00791E833E}"/>
                </a:ext>
              </a:extLst>
            </p:cNvPr>
            <p:cNvSpPr/>
            <p:nvPr/>
          </p:nvSpPr>
          <p:spPr>
            <a:xfrm>
              <a:off x="11302219" y="3277720"/>
              <a:ext cx="55659" cy="457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Arrow: Notched Right 130">
              <a:extLst>
                <a:ext uri="{FF2B5EF4-FFF2-40B4-BE49-F238E27FC236}">
                  <a16:creationId xmlns:a16="http://schemas.microsoft.com/office/drawing/2014/main" id="{73178589-F346-D389-15DC-04979B323C3A}"/>
                </a:ext>
              </a:extLst>
            </p:cNvPr>
            <p:cNvSpPr/>
            <p:nvPr/>
          </p:nvSpPr>
          <p:spPr>
            <a:xfrm rot="10800000">
              <a:off x="10342777" y="2539228"/>
              <a:ext cx="2810844" cy="191811"/>
            </a:xfrm>
            <a:prstGeom prst="notched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5799EBD-618D-78C1-083D-2393BAB5F1F0}"/>
                </a:ext>
              </a:extLst>
            </p:cNvPr>
            <p:cNvSpPr txBox="1"/>
            <p:nvPr/>
          </p:nvSpPr>
          <p:spPr>
            <a:xfrm>
              <a:off x="10811430" y="2216531"/>
              <a:ext cx="1786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Direction of Flow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E5FCEDA-A5D7-873E-EBF1-D38CC9EAE5D1}"/>
                </a:ext>
              </a:extLst>
            </p:cNvPr>
            <p:cNvSpPr txBox="1"/>
            <p:nvPr/>
          </p:nvSpPr>
          <p:spPr>
            <a:xfrm>
              <a:off x="5549641" y="1334599"/>
              <a:ext cx="2081565" cy="4345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Pressure Sensor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EF1BF165-0529-1CDB-35A1-FB0679AE870F}"/>
                </a:ext>
              </a:extLst>
            </p:cNvPr>
            <p:cNvCxnSpPr>
              <a:cxnSpLocks/>
              <a:stCxn id="133" idx="2"/>
              <a:endCxn id="46" idx="2"/>
            </p:cNvCxnSpPr>
            <p:nvPr/>
          </p:nvCxnSpPr>
          <p:spPr>
            <a:xfrm>
              <a:off x="6590424" y="1769127"/>
              <a:ext cx="1129688" cy="65342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54B7F5C-DC83-0064-2D07-B4C2E7EC29C8}"/>
                </a:ext>
              </a:extLst>
            </p:cNvPr>
            <p:cNvSpPr txBox="1"/>
            <p:nvPr/>
          </p:nvSpPr>
          <p:spPr>
            <a:xfrm>
              <a:off x="5722325" y="3716847"/>
              <a:ext cx="1783589" cy="434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Ball Valve</a:t>
              </a:r>
            </a:p>
          </p:txBody>
        </p: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5B4C2762-DD91-1CAD-0499-3C5A060334AB}"/>
                </a:ext>
              </a:extLst>
            </p:cNvPr>
            <p:cNvCxnSpPr>
              <a:cxnSpLocks/>
              <a:stCxn id="135" idx="0"/>
            </p:cNvCxnSpPr>
            <p:nvPr/>
          </p:nvCxnSpPr>
          <p:spPr>
            <a:xfrm flipV="1">
              <a:off x="6614119" y="3222456"/>
              <a:ext cx="566219" cy="4943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3D8029D1-2A51-DD0C-0ECE-40A6FFF63971}"/>
                </a:ext>
              </a:extLst>
            </p:cNvPr>
            <p:cNvSpPr txBox="1"/>
            <p:nvPr/>
          </p:nvSpPr>
          <p:spPr>
            <a:xfrm>
              <a:off x="13560223" y="1841877"/>
              <a:ext cx="2183968" cy="4345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Directional Valve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89EE170-E950-D279-FFC4-1EB2D0338AC6}"/>
                </a:ext>
              </a:extLst>
            </p:cNvPr>
            <p:cNvSpPr txBox="1"/>
            <p:nvPr/>
          </p:nvSpPr>
          <p:spPr>
            <a:xfrm>
              <a:off x="3231705" y="2096975"/>
              <a:ext cx="250023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Contaminated Reservoir 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00AB366-A85E-C769-367C-477B57CE8C10}"/>
                </a:ext>
              </a:extLst>
            </p:cNvPr>
            <p:cNvSpPr txBox="1"/>
            <p:nvPr/>
          </p:nvSpPr>
          <p:spPr>
            <a:xfrm>
              <a:off x="12922326" y="4897809"/>
              <a:ext cx="1180390" cy="760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Clean Water 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06C5DA5-0890-E6CD-29FA-F46502C9392C}"/>
                </a:ext>
              </a:extLst>
            </p:cNvPr>
            <p:cNvSpPr txBox="1"/>
            <p:nvPr/>
          </p:nvSpPr>
          <p:spPr>
            <a:xfrm>
              <a:off x="10336000" y="4972924"/>
              <a:ext cx="1999059" cy="68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Mixer with Particles 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EA5901E0-4852-5E23-CB36-24AEA8765045}"/>
                </a:ext>
              </a:extLst>
            </p:cNvPr>
            <p:cNvCxnSpPr/>
            <p:nvPr/>
          </p:nvCxnSpPr>
          <p:spPr>
            <a:xfrm>
              <a:off x="14273284" y="2210608"/>
              <a:ext cx="257593" cy="6320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2727C73-2C50-6379-0615-B8A2205089CB}"/>
                </a:ext>
              </a:extLst>
            </p:cNvPr>
            <p:cNvSpPr txBox="1"/>
            <p:nvPr/>
          </p:nvSpPr>
          <p:spPr>
            <a:xfrm>
              <a:off x="14828511" y="2363208"/>
              <a:ext cx="2345001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Pulsatile (Piston) Pump</a:t>
              </a:r>
            </a:p>
          </p:txBody>
        </p:sp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DFB008C-3E9C-454D-2F91-581882525543}"/>
              </a:ext>
            </a:extLst>
          </p:cNvPr>
          <p:cNvSpPr/>
          <p:nvPr/>
        </p:nvSpPr>
        <p:spPr>
          <a:xfrm>
            <a:off x="3383728" y="2144693"/>
            <a:ext cx="1461856" cy="89726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FAACB9FE-5F62-3D56-2415-D975DF8CEB48}"/>
              </a:ext>
            </a:extLst>
          </p:cNvPr>
          <p:cNvCxnSpPr>
            <a:cxnSpLocks/>
          </p:cNvCxnSpPr>
          <p:nvPr/>
        </p:nvCxnSpPr>
        <p:spPr>
          <a:xfrm>
            <a:off x="4787343" y="3110514"/>
            <a:ext cx="130054" cy="8125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1369C8D-C581-ED76-A88E-7C5BE5395D98}"/>
              </a:ext>
            </a:extLst>
          </p:cNvPr>
          <p:cNvSpPr txBox="1"/>
          <p:nvPr/>
        </p:nvSpPr>
        <p:spPr>
          <a:xfrm>
            <a:off x="11435062" y="6547842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14/40</a:t>
            </a:r>
          </a:p>
        </p:txBody>
      </p:sp>
    </p:spTree>
    <p:extLst>
      <p:ext uri="{BB962C8B-B14F-4D97-AF65-F5344CB8AC3E}">
        <p14:creationId xmlns:p14="http://schemas.microsoft.com/office/powerpoint/2010/main" val="377621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1" grpId="0" animBg="1"/>
      <p:bldP spid="14" grpId="0" animBg="1"/>
      <p:bldP spid="26" grpId="0" animBg="1"/>
      <p:bldP spid="16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632E6-E463-2FB2-3781-E86F7F22A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89926D-3676-6112-1848-C9FAF7FE4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437" y="-174989"/>
            <a:ext cx="10515600" cy="1325563"/>
          </a:xfrm>
        </p:spPr>
        <p:txBody>
          <a:bodyPr/>
          <a:lstStyle/>
          <a:p>
            <a:r>
              <a:rPr lang="en-US" sz="4400" dirty="0">
                <a:latin typeface="Book Antiqua" panose="02040602050305030304" pitchFamily="18" charset="0"/>
                <a:cs typeface="Adobe Hebrew" panose="02040503050201020203" pitchFamily="18" charset="-79"/>
              </a:rPr>
              <a:t>Flow with Tracer Particles</a:t>
            </a:r>
            <a:endParaRPr lang="en-US" dirty="0">
              <a:latin typeface="Book Antiqua" panose="02040602050305030304" pitchFamily="18" charset="0"/>
            </a:endParaRPr>
          </a:p>
        </p:txBody>
      </p:sp>
      <p:pic>
        <p:nvPicPr>
          <p:cNvPr id="3" name="Untitled video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F9A94D24-EEF9-1847-08F0-F31A0746516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>
                  <p14:trim st="10993" end="47176.3333"/>
                </p14:media>
              </p:ext>
            </p:extLst>
          </p:nvPr>
        </p:nvPicPr>
        <p:blipFill>
          <a:blip>
            <a:lum/>
          </a:blip>
          <a:stretch>
            <a:fillRect/>
          </a:stretch>
        </p:blipFill>
        <p:spPr>
          <a:xfrm rot="10800000">
            <a:off x="508614" y="957934"/>
            <a:ext cx="11174772" cy="4541290"/>
          </a:xfrm>
          <a:prstGeom prst="rect">
            <a:avLst/>
          </a:prstGeom>
          <a:ln w="63500" cap="sq">
            <a:solidFill>
              <a:srgbClr val="FFFFFF"/>
            </a:solidFill>
            <a:prstDash val="solid"/>
            <a:miter lim="800000"/>
          </a:ln>
          <a:effectLst/>
          <a:scene3d>
            <a:camera prst="orthographicFront"/>
            <a:lightRig rig="soft" dir="t"/>
          </a:scene3d>
          <a:sp3d contourW="6350">
            <a:contourClr>
              <a:srgbClr val="000000"/>
            </a:contourClr>
          </a:sp3d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4CA36AB0-2DBF-FF09-563C-E20D4C72D7A7}"/>
              </a:ext>
            </a:extLst>
          </p:cNvPr>
          <p:cNvSpPr/>
          <p:nvPr/>
        </p:nvSpPr>
        <p:spPr>
          <a:xfrm rot="10800000">
            <a:off x="1586346" y="5621215"/>
            <a:ext cx="8835527" cy="866606"/>
          </a:xfrm>
          <a:prstGeom prst="leftArrow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29130-15BD-3E1A-4CEC-64E23C751A2E}"/>
              </a:ext>
            </a:extLst>
          </p:cNvPr>
          <p:cNvSpPr txBox="1"/>
          <p:nvPr/>
        </p:nvSpPr>
        <p:spPr>
          <a:xfrm>
            <a:off x="6657914" y="5507424"/>
            <a:ext cx="2828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Testing Region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53F686-1C84-3B76-E078-17FF34260FE2}"/>
              </a:ext>
            </a:extLst>
          </p:cNvPr>
          <p:cNvSpPr/>
          <p:nvPr/>
        </p:nvSpPr>
        <p:spPr>
          <a:xfrm>
            <a:off x="3893093" y="1010332"/>
            <a:ext cx="4177145" cy="4477941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B159B-1927-AF06-D5CB-EBFCFAA2CE27}"/>
              </a:ext>
            </a:extLst>
          </p:cNvPr>
          <p:cNvSpPr txBox="1"/>
          <p:nvPr/>
        </p:nvSpPr>
        <p:spPr>
          <a:xfrm>
            <a:off x="11435062" y="6488668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15/40</a:t>
            </a:r>
          </a:p>
        </p:txBody>
      </p:sp>
    </p:spTree>
    <p:extLst>
      <p:ext uri="{BB962C8B-B14F-4D97-AF65-F5344CB8AC3E}">
        <p14:creationId xmlns:p14="http://schemas.microsoft.com/office/powerpoint/2010/main" val="197544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7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545B-82D0-B836-3973-8BC67338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EE482A-CD84-B1C5-5BDC-29E81B64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430" y="-244015"/>
            <a:ext cx="10515600" cy="1325563"/>
          </a:xfrm>
        </p:spPr>
        <p:txBody>
          <a:bodyPr/>
          <a:lstStyle/>
          <a:p>
            <a:r>
              <a:rPr lang="en-US" dirty="0">
                <a:latin typeface="Book Antiqua" panose="02040602050305030304" pitchFamily="18" charset="0"/>
              </a:rPr>
              <a:t>Streamlines</a:t>
            </a:r>
          </a:p>
        </p:txBody>
      </p:sp>
      <p:pic>
        <p:nvPicPr>
          <p:cNvPr id="15" name="Picture 14" descr="A screen shot of a computer&#10;&#10;Description automatically generated">
            <a:extLst>
              <a:ext uri="{FF2B5EF4-FFF2-40B4-BE49-F238E27FC236}">
                <a16:creationId xmlns:a16="http://schemas.microsoft.com/office/drawing/2014/main" id="{D830BB7E-8676-0F9C-18FE-4B8F66CB67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30" y="786581"/>
            <a:ext cx="11164939" cy="5712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80FCDE-8DDA-0610-9D8E-E0A12BD918C2}"/>
              </a:ext>
            </a:extLst>
          </p:cNvPr>
          <p:cNvSpPr txBox="1"/>
          <p:nvPr/>
        </p:nvSpPr>
        <p:spPr>
          <a:xfrm>
            <a:off x="3358831" y="1167185"/>
            <a:ext cx="2217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Testing Region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A41B58-C824-495D-119D-364844B39D21}"/>
              </a:ext>
            </a:extLst>
          </p:cNvPr>
          <p:cNvSpPr/>
          <p:nvPr/>
        </p:nvSpPr>
        <p:spPr>
          <a:xfrm>
            <a:off x="4467828" y="1608881"/>
            <a:ext cx="3275635" cy="3611302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3E85A-863E-1116-D491-9A9BA52AB069}"/>
              </a:ext>
            </a:extLst>
          </p:cNvPr>
          <p:cNvSpPr txBox="1"/>
          <p:nvPr/>
        </p:nvSpPr>
        <p:spPr>
          <a:xfrm>
            <a:off x="11435062" y="6499453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16/40</a:t>
            </a:r>
          </a:p>
        </p:txBody>
      </p:sp>
    </p:spTree>
    <p:extLst>
      <p:ext uri="{BB962C8B-B14F-4D97-AF65-F5344CB8AC3E}">
        <p14:creationId xmlns:p14="http://schemas.microsoft.com/office/powerpoint/2010/main" val="21272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7128D-698A-E792-CD60-1A7EA0DE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D1496C0-990B-5B19-CF2F-A8C5EE0CE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83" y="-928"/>
            <a:ext cx="8292400" cy="87921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Book Antiqua" panose="02040602050305030304" pitchFamily="18" charset="0"/>
              </a:rPr>
              <a:t>Pressure Measurements </a:t>
            </a:r>
          </a:p>
        </p:txBody>
      </p:sp>
      <p:pic>
        <p:nvPicPr>
          <p:cNvPr id="3" name="Content Placeholder 2" descr="A graph of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FF70C66F-6207-32E5-0C43-35E737A77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3296"/>
            <a:ext cx="8002855" cy="5804704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F4AAB0-E030-DE83-9A5D-11A78AC37C25}"/>
              </a:ext>
            </a:extLst>
          </p:cNvPr>
          <p:cNvSpPr/>
          <p:nvPr/>
        </p:nvSpPr>
        <p:spPr>
          <a:xfrm rot="5400000">
            <a:off x="-55014" y="1076048"/>
            <a:ext cx="410002" cy="2282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51EF09-90E5-7D74-1575-6F4BC86B1F6C}"/>
              </a:ext>
            </a:extLst>
          </p:cNvPr>
          <p:cNvSpPr/>
          <p:nvPr/>
        </p:nvSpPr>
        <p:spPr>
          <a:xfrm rot="5400000">
            <a:off x="38330" y="3961186"/>
            <a:ext cx="410002" cy="444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C43B03-62BF-CECD-974F-CA1541039FE3}"/>
              </a:ext>
            </a:extLst>
          </p:cNvPr>
          <p:cNvGrpSpPr/>
          <p:nvPr/>
        </p:nvGrpSpPr>
        <p:grpSpPr>
          <a:xfrm>
            <a:off x="8155109" y="370780"/>
            <a:ext cx="3845257" cy="6187315"/>
            <a:chOff x="17828070" y="3368690"/>
            <a:chExt cx="6061435" cy="1060116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F2DC94-C873-14F5-28B3-11B27007687A}"/>
                </a:ext>
              </a:extLst>
            </p:cNvPr>
            <p:cNvSpPr/>
            <p:nvPr/>
          </p:nvSpPr>
          <p:spPr>
            <a:xfrm>
              <a:off x="17828070" y="4287716"/>
              <a:ext cx="6061435" cy="894603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571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lowchart: Preparation 11">
              <a:extLst>
                <a:ext uri="{FF2B5EF4-FFF2-40B4-BE49-F238E27FC236}">
                  <a16:creationId xmlns:a16="http://schemas.microsoft.com/office/drawing/2014/main" id="{F75EBA7F-7AE5-F419-06B5-2075A99228B9}"/>
                </a:ext>
              </a:extLst>
            </p:cNvPr>
            <p:cNvSpPr/>
            <p:nvPr/>
          </p:nvSpPr>
          <p:spPr>
            <a:xfrm>
              <a:off x="18376247" y="4737255"/>
              <a:ext cx="4914677" cy="1885624"/>
            </a:xfrm>
            <a:prstGeom prst="flowChartPreparation">
              <a:avLst/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  <a:shade val="30000"/>
                    <a:satMod val="115000"/>
                  </a:schemeClr>
                </a:gs>
                <a:gs pos="50000">
                  <a:schemeClr val="tx2">
                    <a:lumMod val="25000"/>
                    <a:lumOff val="75000"/>
                    <a:shade val="67500"/>
                    <a:satMod val="115000"/>
                  </a:schemeClr>
                </a:gs>
                <a:gs pos="100000">
                  <a:schemeClr val="tx2">
                    <a:lumMod val="25000"/>
                    <a:lumOff val="7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lowchart: Preparation 12">
              <a:extLst>
                <a:ext uri="{FF2B5EF4-FFF2-40B4-BE49-F238E27FC236}">
                  <a16:creationId xmlns:a16="http://schemas.microsoft.com/office/drawing/2014/main" id="{53B97620-DB72-6681-9CAE-421A8A72CE5B}"/>
                </a:ext>
              </a:extLst>
            </p:cNvPr>
            <p:cNvSpPr/>
            <p:nvPr/>
          </p:nvSpPr>
          <p:spPr>
            <a:xfrm>
              <a:off x="18401450" y="6875110"/>
              <a:ext cx="4914677" cy="1885624"/>
            </a:xfrm>
            <a:prstGeom prst="flowChartPreparation">
              <a:avLst/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  <a:shade val="30000"/>
                    <a:satMod val="115000"/>
                  </a:schemeClr>
                </a:gs>
                <a:gs pos="50000">
                  <a:schemeClr val="tx2">
                    <a:lumMod val="25000"/>
                    <a:lumOff val="75000"/>
                    <a:shade val="67500"/>
                    <a:satMod val="115000"/>
                  </a:schemeClr>
                </a:gs>
                <a:gs pos="100000">
                  <a:schemeClr val="tx2">
                    <a:lumMod val="25000"/>
                    <a:lumOff val="7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lowchart: Preparation 13">
              <a:extLst>
                <a:ext uri="{FF2B5EF4-FFF2-40B4-BE49-F238E27FC236}">
                  <a16:creationId xmlns:a16="http://schemas.microsoft.com/office/drawing/2014/main" id="{B831DBF1-8828-6D4A-7143-08E55368C1EE}"/>
                </a:ext>
              </a:extLst>
            </p:cNvPr>
            <p:cNvSpPr/>
            <p:nvPr/>
          </p:nvSpPr>
          <p:spPr>
            <a:xfrm>
              <a:off x="18407753" y="9012965"/>
              <a:ext cx="4914677" cy="1885624"/>
            </a:xfrm>
            <a:prstGeom prst="flowChartPreparation">
              <a:avLst/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  <a:shade val="30000"/>
                    <a:satMod val="115000"/>
                  </a:schemeClr>
                </a:gs>
                <a:gs pos="50000">
                  <a:schemeClr val="tx2">
                    <a:lumMod val="25000"/>
                    <a:lumOff val="75000"/>
                    <a:shade val="67500"/>
                    <a:satMod val="115000"/>
                  </a:schemeClr>
                </a:gs>
                <a:gs pos="100000">
                  <a:schemeClr val="tx2">
                    <a:lumMod val="25000"/>
                    <a:lumOff val="7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lowchart: Preparation 14">
              <a:extLst>
                <a:ext uri="{FF2B5EF4-FFF2-40B4-BE49-F238E27FC236}">
                  <a16:creationId xmlns:a16="http://schemas.microsoft.com/office/drawing/2014/main" id="{31EF56A5-647C-782A-5B6A-A2637446A1B7}"/>
                </a:ext>
              </a:extLst>
            </p:cNvPr>
            <p:cNvSpPr/>
            <p:nvPr/>
          </p:nvSpPr>
          <p:spPr>
            <a:xfrm>
              <a:off x="18432956" y="11150819"/>
              <a:ext cx="4914677" cy="1885624"/>
            </a:xfrm>
            <a:prstGeom prst="flowChartPreparation">
              <a:avLst/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  <a:shade val="30000"/>
                    <a:satMod val="115000"/>
                  </a:schemeClr>
                </a:gs>
                <a:gs pos="50000">
                  <a:schemeClr val="tx2">
                    <a:lumMod val="25000"/>
                    <a:lumOff val="75000"/>
                    <a:shade val="67500"/>
                    <a:satMod val="115000"/>
                  </a:schemeClr>
                </a:gs>
                <a:gs pos="100000">
                  <a:schemeClr val="tx2">
                    <a:lumMod val="25000"/>
                    <a:lumOff val="7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04EECA9-C64D-0EFE-4827-B726A568CC17}"/>
                </a:ext>
              </a:extLst>
            </p:cNvPr>
            <p:cNvSpPr/>
            <p:nvPr/>
          </p:nvSpPr>
          <p:spPr>
            <a:xfrm>
              <a:off x="18369948" y="5494708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C83EA6-1A92-8325-80D4-275B0EE971B3}"/>
                </a:ext>
              </a:extLst>
            </p:cNvPr>
            <p:cNvSpPr/>
            <p:nvPr/>
          </p:nvSpPr>
          <p:spPr>
            <a:xfrm>
              <a:off x="23011578" y="5518558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21F8E7F-CC5B-7801-931D-04FF60B38EED}"/>
                </a:ext>
              </a:extLst>
            </p:cNvPr>
            <p:cNvSpPr/>
            <p:nvPr/>
          </p:nvSpPr>
          <p:spPr>
            <a:xfrm>
              <a:off x="18369948" y="7646804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065B854-0B2A-07EE-9979-296FFCA74F9E}"/>
                </a:ext>
              </a:extLst>
            </p:cNvPr>
            <p:cNvSpPr/>
            <p:nvPr/>
          </p:nvSpPr>
          <p:spPr>
            <a:xfrm>
              <a:off x="23006416" y="7634473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C13DC11-5E4D-FB71-9C2B-E5003CED0DC9}"/>
                </a:ext>
              </a:extLst>
            </p:cNvPr>
            <p:cNvSpPr/>
            <p:nvPr/>
          </p:nvSpPr>
          <p:spPr>
            <a:xfrm>
              <a:off x="18406783" y="9776522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1CEA113-F6B7-7C7E-A3FE-708DF171C163}"/>
                </a:ext>
              </a:extLst>
            </p:cNvPr>
            <p:cNvSpPr/>
            <p:nvPr/>
          </p:nvSpPr>
          <p:spPr>
            <a:xfrm>
              <a:off x="23006416" y="9776522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177856-8149-82E7-8BF0-2933270EF3E9}"/>
                </a:ext>
              </a:extLst>
            </p:cNvPr>
            <p:cNvSpPr/>
            <p:nvPr/>
          </p:nvSpPr>
          <p:spPr>
            <a:xfrm>
              <a:off x="18406783" y="11886916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22332F9-107D-460A-1880-D3B21BAFA71A}"/>
                </a:ext>
              </a:extLst>
            </p:cNvPr>
            <p:cNvSpPr/>
            <p:nvPr/>
          </p:nvSpPr>
          <p:spPr>
            <a:xfrm>
              <a:off x="23006416" y="11910183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33F8D07-1BD6-3BB4-43E0-729C45EFDDDE}"/>
                </a:ext>
              </a:extLst>
            </p:cNvPr>
            <p:cNvSpPr/>
            <p:nvPr/>
          </p:nvSpPr>
          <p:spPr>
            <a:xfrm rot="16200000">
              <a:off x="21937460" y="6556769"/>
              <a:ext cx="2510607" cy="35285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  <a:shade val="30000"/>
                    <a:satMod val="115000"/>
                  </a:schemeClr>
                </a:gs>
                <a:gs pos="50000">
                  <a:schemeClr val="tx2">
                    <a:lumMod val="25000"/>
                    <a:lumOff val="75000"/>
                    <a:shade val="67500"/>
                    <a:satMod val="115000"/>
                  </a:schemeClr>
                </a:gs>
                <a:gs pos="100000">
                  <a:schemeClr val="tx2">
                    <a:lumMod val="25000"/>
                    <a:lumOff val="7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9CF2DDF-A17F-67E2-CA41-F4627E61D448}"/>
                </a:ext>
              </a:extLst>
            </p:cNvPr>
            <p:cNvSpPr/>
            <p:nvPr/>
          </p:nvSpPr>
          <p:spPr>
            <a:xfrm rot="16200000">
              <a:off x="17300988" y="8725681"/>
              <a:ext cx="2510607" cy="35285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  <a:shade val="30000"/>
                    <a:satMod val="115000"/>
                  </a:schemeClr>
                </a:gs>
                <a:gs pos="50000">
                  <a:schemeClr val="tx2">
                    <a:lumMod val="25000"/>
                    <a:lumOff val="75000"/>
                    <a:shade val="67500"/>
                    <a:satMod val="115000"/>
                  </a:schemeClr>
                </a:gs>
                <a:gs pos="100000">
                  <a:schemeClr val="tx2">
                    <a:lumMod val="25000"/>
                    <a:lumOff val="7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B9AEAF9-9D30-529D-0FDB-88CD5C5D749F}"/>
                </a:ext>
              </a:extLst>
            </p:cNvPr>
            <p:cNvSpPr/>
            <p:nvPr/>
          </p:nvSpPr>
          <p:spPr>
            <a:xfrm rot="16200000">
              <a:off x="21927537" y="10829265"/>
              <a:ext cx="2510607" cy="35285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  <a:shade val="30000"/>
                    <a:satMod val="115000"/>
                  </a:schemeClr>
                </a:gs>
                <a:gs pos="50000">
                  <a:schemeClr val="tx2">
                    <a:lumMod val="25000"/>
                    <a:lumOff val="75000"/>
                    <a:shade val="67500"/>
                    <a:satMod val="115000"/>
                  </a:schemeClr>
                </a:gs>
                <a:gs pos="100000">
                  <a:schemeClr val="tx2">
                    <a:lumMod val="25000"/>
                    <a:lumOff val="7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7A8AFA4-4D16-6B6C-8E71-14E699B215DC}"/>
                </a:ext>
              </a:extLst>
            </p:cNvPr>
            <p:cNvSpPr/>
            <p:nvPr/>
          </p:nvSpPr>
          <p:spPr>
            <a:xfrm rot="5400000">
              <a:off x="17548448" y="12795504"/>
              <a:ext cx="2018855" cy="329838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  <a:shade val="30000"/>
                    <a:satMod val="115000"/>
                  </a:schemeClr>
                </a:gs>
                <a:gs pos="50000">
                  <a:schemeClr val="tx2">
                    <a:lumMod val="25000"/>
                    <a:lumOff val="75000"/>
                    <a:shade val="67500"/>
                    <a:satMod val="115000"/>
                  </a:schemeClr>
                </a:gs>
                <a:gs pos="100000">
                  <a:schemeClr val="tx2">
                    <a:lumMod val="25000"/>
                    <a:lumOff val="7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6060A7C-57DE-4ADC-9F13-56AD473D61DF}"/>
                </a:ext>
              </a:extLst>
            </p:cNvPr>
            <p:cNvSpPr/>
            <p:nvPr/>
          </p:nvSpPr>
          <p:spPr>
            <a:xfrm>
              <a:off x="19412910" y="5506889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366E082-CF5A-BD34-85BC-E7FF3F0374A9}"/>
                </a:ext>
              </a:extLst>
            </p:cNvPr>
            <p:cNvSpPr/>
            <p:nvPr/>
          </p:nvSpPr>
          <p:spPr>
            <a:xfrm>
              <a:off x="21951474" y="5494707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1117F83-2F71-B1D5-D1C7-0318953A040A}"/>
                </a:ext>
              </a:extLst>
            </p:cNvPr>
            <p:cNvSpPr/>
            <p:nvPr/>
          </p:nvSpPr>
          <p:spPr>
            <a:xfrm>
              <a:off x="19428756" y="7638667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2890FB9-4CC9-6AD3-F904-E4A6A2252C81}"/>
                </a:ext>
              </a:extLst>
            </p:cNvPr>
            <p:cNvSpPr/>
            <p:nvPr/>
          </p:nvSpPr>
          <p:spPr>
            <a:xfrm>
              <a:off x="21968507" y="7629988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8" name="Oval 2047">
              <a:extLst>
                <a:ext uri="{FF2B5EF4-FFF2-40B4-BE49-F238E27FC236}">
                  <a16:creationId xmlns:a16="http://schemas.microsoft.com/office/drawing/2014/main" id="{EE9B33F6-18D3-3903-371A-1608B6A788FD}"/>
                </a:ext>
              </a:extLst>
            </p:cNvPr>
            <p:cNvSpPr/>
            <p:nvPr/>
          </p:nvSpPr>
          <p:spPr>
            <a:xfrm>
              <a:off x="19452042" y="9790356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9" name="Oval 2048">
              <a:extLst>
                <a:ext uri="{FF2B5EF4-FFF2-40B4-BE49-F238E27FC236}">
                  <a16:creationId xmlns:a16="http://schemas.microsoft.com/office/drawing/2014/main" id="{451B45FE-5939-A4AE-F431-4A654E9E039F}"/>
                </a:ext>
              </a:extLst>
            </p:cNvPr>
            <p:cNvSpPr/>
            <p:nvPr/>
          </p:nvSpPr>
          <p:spPr>
            <a:xfrm>
              <a:off x="21990606" y="9778174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1" name="Oval 2050">
              <a:extLst>
                <a:ext uri="{FF2B5EF4-FFF2-40B4-BE49-F238E27FC236}">
                  <a16:creationId xmlns:a16="http://schemas.microsoft.com/office/drawing/2014/main" id="{1AE26701-6DE7-99EB-CD6B-B7620A108E54}"/>
                </a:ext>
              </a:extLst>
            </p:cNvPr>
            <p:cNvSpPr/>
            <p:nvPr/>
          </p:nvSpPr>
          <p:spPr>
            <a:xfrm>
              <a:off x="19467888" y="11922134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3" name="Oval 2052">
              <a:extLst>
                <a:ext uri="{FF2B5EF4-FFF2-40B4-BE49-F238E27FC236}">
                  <a16:creationId xmlns:a16="http://schemas.microsoft.com/office/drawing/2014/main" id="{F48BE4A2-0EF3-4FAD-FEA6-0BF11081C93E}"/>
                </a:ext>
              </a:extLst>
            </p:cNvPr>
            <p:cNvSpPr/>
            <p:nvPr/>
          </p:nvSpPr>
          <p:spPr>
            <a:xfrm>
              <a:off x="22007639" y="11913455"/>
              <a:ext cx="352848" cy="35851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4" name="Rectangle: Rounded Corners 2053">
              <a:extLst>
                <a:ext uri="{FF2B5EF4-FFF2-40B4-BE49-F238E27FC236}">
                  <a16:creationId xmlns:a16="http://schemas.microsoft.com/office/drawing/2014/main" id="{09246087-40A4-8602-5709-F8B3524701DB}"/>
                </a:ext>
              </a:extLst>
            </p:cNvPr>
            <p:cNvSpPr/>
            <p:nvPr/>
          </p:nvSpPr>
          <p:spPr>
            <a:xfrm rot="16200000">
              <a:off x="17300988" y="4447569"/>
              <a:ext cx="2510607" cy="35285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  <a:shade val="30000"/>
                    <a:satMod val="115000"/>
                  </a:schemeClr>
                </a:gs>
                <a:gs pos="50000">
                  <a:schemeClr val="tx2">
                    <a:lumMod val="25000"/>
                    <a:lumOff val="75000"/>
                    <a:shade val="67500"/>
                    <a:satMod val="115000"/>
                  </a:schemeClr>
                </a:gs>
                <a:gs pos="100000">
                  <a:schemeClr val="tx2">
                    <a:lumMod val="25000"/>
                    <a:lumOff val="7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55" name="TextBox 2054">
            <a:extLst>
              <a:ext uri="{FF2B5EF4-FFF2-40B4-BE49-F238E27FC236}">
                <a16:creationId xmlns:a16="http://schemas.microsoft.com/office/drawing/2014/main" id="{96016303-37D3-D6FB-58A2-EE9B1FF82FB4}"/>
              </a:ext>
            </a:extLst>
          </p:cNvPr>
          <p:cNvSpPr txBox="1"/>
          <p:nvPr/>
        </p:nvSpPr>
        <p:spPr>
          <a:xfrm>
            <a:off x="8694139" y="354374"/>
            <a:ext cx="769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Q(t) </a:t>
            </a:r>
            <a:endParaRPr lang="en-US" sz="2400" dirty="0"/>
          </a:p>
        </p:txBody>
      </p:sp>
      <p:sp>
        <p:nvSpPr>
          <p:cNvPr id="2056" name="Arrow: Down 2055">
            <a:extLst>
              <a:ext uri="{FF2B5EF4-FFF2-40B4-BE49-F238E27FC236}">
                <a16:creationId xmlns:a16="http://schemas.microsoft.com/office/drawing/2014/main" id="{5F0F80A2-4739-984E-C886-EE568AD1B31F}"/>
              </a:ext>
            </a:extLst>
          </p:cNvPr>
          <p:cNvSpPr/>
          <p:nvPr/>
        </p:nvSpPr>
        <p:spPr>
          <a:xfrm>
            <a:off x="8510143" y="246928"/>
            <a:ext cx="221152" cy="474383"/>
          </a:xfrm>
          <a:prstGeom prst="downArrow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OffAxis2Lef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808000"/>
              </a:highlight>
            </a:endParaRPr>
          </a:p>
        </p:txBody>
      </p:sp>
      <p:sp>
        <p:nvSpPr>
          <p:cNvPr id="2057" name="Arrow: Down 2056">
            <a:extLst>
              <a:ext uri="{FF2B5EF4-FFF2-40B4-BE49-F238E27FC236}">
                <a16:creationId xmlns:a16="http://schemas.microsoft.com/office/drawing/2014/main" id="{914C6717-9AE5-2054-6B2E-32B37B36D720}"/>
              </a:ext>
            </a:extLst>
          </p:cNvPr>
          <p:cNvSpPr/>
          <p:nvPr/>
        </p:nvSpPr>
        <p:spPr>
          <a:xfrm>
            <a:off x="8510143" y="6176458"/>
            <a:ext cx="221152" cy="474383"/>
          </a:xfrm>
          <a:prstGeom prst="downArrow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OffAxis2Lef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808000"/>
              </a:highlight>
            </a:endParaRPr>
          </a:p>
        </p:txBody>
      </p:sp>
      <p:cxnSp>
        <p:nvCxnSpPr>
          <p:cNvPr id="2060" name="Straight Arrow Connector 2059">
            <a:extLst>
              <a:ext uri="{FF2B5EF4-FFF2-40B4-BE49-F238E27FC236}">
                <a16:creationId xmlns:a16="http://schemas.microsoft.com/office/drawing/2014/main" id="{2465C9A0-B164-6B56-BA51-6CBFD354AABE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7809890" y="1323931"/>
            <a:ext cx="2961027" cy="39231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Arrow Connector 2061">
            <a:extLst>
              <a:ext uri="{FF2B5EF4-FFF2-40B4-BE49-F238E27FC236}">
                <a16:creationId xmlns:a16="http://schemas.microsoft.com/office/drawing/2014/main" id="{B3B17BFF-F36C-1CEA-B843-91F0523CBDC1}"/>
              </a:ext>
            </a:extLst>
          </p:cNvPr>
          <p:cNvCxnSpPr>
            <a:cxnSpLocks/>
          </p:cNvCxnSpPr>
          <p:nvPr/>
        </p:nvCxnSpPr>
        <p:spPr>
          <a:xfrm>
            <a:off x="7768118" y="1590986"/>
            <a:ext cx="1504303" cy="123272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Arrow Connector 2063">
            <a:extLst>
              <a:ext uri="{FF2B5EF4-FFF2-40B4-BE49-F238E27FC236}">
                <a16:creationId xmlns:a16="http://schemas.microsoft.com/office/drawing/2014/main" id="{79AF0BEC-F1D8-3578-5583-E7614F27D5F8}"/>
              </a:ext>
            </a:extLst>
          </p:cNvPr>
          <p:cNvCxnSpPr>
            <a:cxnSpLocks/>
            <a:endCxn id="2051" idx="0"/>
          </p:cNvCxnSpPr>
          <p:nvPr/>
        </p:nvCxnSpPr>
        <p:spPr>
          <a:xfrm>
            <a:off x="7772199" y="2222427"/>
            <a:ext cx="1535099" cy="314052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0" name="Straight Arrow Connector 2069">
            <a:extLst>
              <a:ext uri="{FF2B5EF4-FFF2-40B4-BE49-F238E27FC236}">
                <a16:creationId xmlns:a16="http://schemas.microsoft.com/office/drawing/2014/main" id="{2CD409B9-7438-809A-2957-C47E7B02DFA0}"/>
              </a:ext>
            </a:extLst>
          </p:cNvPr>
          <p:cNvCxnSpPr>
            <a:cxnSpLocks/>
            <a:endCxn id="2049" idx="7"/>
          </p:cNvCxnSpPr>
          <p:nvPr/>
        </p:nvCxnSpPr>
        <p:spPr>
          <a:xfrm>
            <a:off x="7750444" y="2011039"/>
            <a:ext cx="3236356" cy="213124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4627113D-9820-1F9C-63A1-B1A826AF3B2B}"/>
              </a:ext>
            </a:extLst>
          </p:cNvPr>
          <p:cNvSpPr/>
          <p:nvPr/>
        </p:nvSpPr>
        <p:spPr>
          <a:xfrm rot="5400000">
            <a:off x="2611060" y="1542200"/>
            <a:ext cx="2896374" cy="7735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77" name="Straight Arrow Connector 2076">
            <a:extLst>
              <a:ext uri="{FF2B5EF4-FFF2-40B4-BE49-F238E27FC236}">
                <a16:creationId xmlns:a16="http://schemas.microsoft.com/office/drawing/2014/main" id="{78897EB3-D3B7-8583-66C2-38177670E25C}"/>
              </a:ext>
            </a:extLst>
          </p:cNvPr>
          <p:cNvCxnSpPr>
            <a:cxnSpLocks/>
          </p:cNvCxnSpPr>
          <p:nvPr/>
        </p:nvCxnSpPr>
        <p:spPr>
          <a:xfrm>
            <a:off x="7798749" y="1815386"/>
            <a:ext cx="1595644" cy="2339009"/>
          </a:xfrm>
          <a:prstGeom prst="straightConnector1">
            <a:avLst/>
          </a:prstGeom>
          <a:ln w="76200">
            <a:solidFill>
              <a:srgbClr val="AB28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AAC257E-387D-8CD8-E716-E0C4A8C6E2B3}"/>
              </a:ext>
            </a:extLst>
          </p:cNvPr>
          <p:cNvSpPr txBox="1"/>
          <p:nvPr/>
        </p:nvSpPr>
        <p:spPr>
          <a:xfrm>
            <a:off x="11440151" y="6536668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17/40</a:t>
            </a:r>
          </a:p>
        </p:txBody>
      </p:sp>
    </p:spTree>
    <p:extLst>
      <p:ext uri="{BB962C8B-B14F-4D97-AF65-F5344CB8AC3E}">
        <p14:creationId xmlns:p14="http://schemas.microsoft.com/office/powerpoint/2010/main" val="263128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5" grpId="0" animBg="1"/>
      <p:bldP spid="2075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918C2-FF40-04F2-4395-B110A5F4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609FADE-86DC-046F-3FC3-9A981561B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7" y="1581183"/>
            <a:ext cx="10515600" cy="324534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Book Antiqua" panose="02040602050305030304" pitchFamily="18" charset="0"/>
              </a:rPr>
              <a:t>Chapter 2</a:t>
            </a:r>
            <a:r>
              <a:rPr lang="en-US" sz="5400" dirty="0">
                <a:latin typeface="Book Antiqua" panose="02040602050305030304" pitchFamily="18" charset="0"/>
              </a:rPr>
              <a:t>: Poiseuille Flow with a Stretching Bottom Wall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05022-A66E-A6B4-2265-FEBCCC87E003}"/>
              </a:ext>
            </a:extLst>
          </p:cNvPr>
          <p:cNvSpPr txBox="1"/>
          <p:nvPr/>
        </p:nvSpPr>
        <p:spPr>
          <a:xfrm>
            <a:off x="11435062" y="6488668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18/40</a:t>
            </a:r>
          </a:p>
        </p:txBody>
      </p:sp>
    </p:spTree>
    <p:extLst>
      <p:ext uri="{BB962C8B-B14F-4D97-AF65-F5344CB8AC3E}">
        <p14:creationId xmlns:p14="http://schemas.microsoft.com/office/powerpoint/2010/main" val="363933292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A542F-8DA4-BB13-43DC-3A3D7667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DD04EAE-460D-EDF1-8ABD-5CBAB750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881" y="-780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Book Antiqua" panose="02040602050305030304" pitchFamily="18" charset="0"/>
              </a:rPr>
              <a:t>Background</a:t>
            </a:r>
            <a:r>
              <a:rPr lang="en-US" sz="3200" dirty="0"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EE1FE9-FCCE-4257-BB1A-6B7AEE3FF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466" y="1522031"/>
            <a:ext cx="5080607" cy="4448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Heart pumps blood through the body </a:t>
            </a:r>
          </a:p>
          <a:p>
            <a:pPr lvl="1"/>
            <a:r>
              <a:rPr lang="en-US" sz="2800" dirty="0"/>
              <a:t>Contraction and relaxation of the heart leads to periodic fluctuations in the blood flow.</a:t>
            </a:r>
            <a:br>
              <a:rPr lang="en-US" sz="2800" dirty="0"/>
            </a:br>
            <a:r>
              <a:rPr lang="en-US" sz="2800" dirty="0"/>
              <a:t> </a:t>
            </a:r>
          </a:p>
          <a:p>
            <a:r>
              <a:rPr lang="en-US" dirty="0"/>
              <a:t>Endothelial cells that line the blood vessels can sense changes in flow through mechanical loads.</a:t>
            </a:r>
            <a:endParaRPr lang="en-US" sz="3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563332-3C25-210B-9CB1-A40DCD4B2A05}"/>
              </a:ext>
            </a:extLst>
          </p:cNvPr>
          <p:cNvGrpSpPr/>
          <p:nvPr/>
        </p:nvGrpSpPr>
        <p:grpSpPr>
          <a:xfrm>
            <a:off x="5217158" y="1484886"/>
            <a:ext cx="6839485" cy="4167408"/>
            <a:chOff x="3435632" y="2719951"/>
            <a:chExt cx="8060792" cy="482113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D3AE415-F7DD-8595-7B21-D80915FEABE9}"/>
                </a:ext>
              </a:extLst>
            </p:cNvPr>
            <p:cNvGrpSpPr/>
            <p:nvPr/>
          </p:nvGrpSpPr>
          <p:grpSpPr>
            <a:xfrm>
              <a:off x="3435632" y="2806695"/>
              <a:ext cx="7173223" cy="4734389"/>
              <a:chOff x="3435632" y="2806695"/>
              <a:chExt cx="7173223" cy="4734389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C63DA3E-11DD-22AF-2A0A-6A4371A8B654}"/>
                  </a:ext>
                </a:extLst>
              </p:cNvPr>
              <p:cNvSpPr txBox="1"/>
              <p:nvPr/>
            </p:nvSpPr>
            <p:spPr>
              <a:xfrm>
                <a:off x="3524654" y="2861341"/>
                <a:ext cx="3768169" cy="4628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i="1" dirty="0">
                    <a:cs typeface="Adobe Hebrew" panose="02040503050201020203" pitchFamily="18" charset="-79"/>
                  </a:rPr>
                  <a:t>Section of Blood Vessel</a:t>
                </a:r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06CBFFEB-45CB-CB09-0DC7-22C300580D08}"/>
                  </a:ext>
                </a:extLst>
              </p:cNvPr>
              <p:cNvGrpSpPr/>
              <p:nvPr/>
            </p:nvGrpSpPr>
            <p:grpSpPr>
              <a:xfrm>
                <a:off x="4011152" y="4425941"/>
                <a:ext cx="2186756" cy="1558053"/>
                <a:chOff x="3868712" y="4406460"/>
                <a:chExt cx="2706317" cy="1975191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6FB12F45-FA26-1BE8-24E1-D1292F052E67}"/>
                    </a:ext>
                  </a:extLst>
                </p:cNvPr>
                <p:cNvGrpSpPr/>
                <p:nvPr/>
              </p:nvGrpSpPr>
              <p:grpSpPr>
                <a:xfrm>
                  <a:off x="3868712" y="4406460"/>
                  <a:ext cx="2706317" cy="1975191"/>
                  <a:chOff x="3230795" y="4516963"/>
                  <a:chExt cx="2543044" cy="1809439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17" name="Cylinder 116">
                    <a:extLst>
                      <a:ext uri="{FF2B5EF4-FFF2-40B4-BE49-F238E27FC236}">
                        <a16:creationId xmlns:a16="http://schemas.microsoft.com/office/drawing/2014/main" id="{65F7EED4-B4E0-F7B2-9669-F9FCED76494F}"/>
                      </a:ext>
                    </a:extLst>
                  </p:cNvPr>
                  <p:cNvSpPr/>
                  <p:nvPr/>
                </p:nvSpPr>
                <p:spPr>
                  <a:xfrm rot="7248844">
                    <a:off x="3719430" y="4028328"/>
                    <a:ext cx="1565773" cy="2543044"/>
                  </a:xfrm>
                  <a:prstGeom prst="can">
                    <a:avLst>
                      <a:gd name="adj" fmla="val 75351"/>
                    </a:avLst>
                  </a:prstGeom>
                  <a:ln>
                    <a:solidFill>
                      <a:schemeClr val="tx1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18" name="Oval 117">
                    <a:extLst>
                      <a:ext uri="{FF2B5EF4-FFF2-40B4-BE49-F238E27FC236}">
                        <a16:creationId xmlns:a16="http://schemas.microsoft.com/office/drawing/2014/main" id="{C99B8E5B-7833-FC51-DC08-51704E251744}"/>
                      </a:ext>
                    </a:extLst>
                  </p:cNvPr>
                  <p:cNvSpPr/>
                  <p:nvPr/>
                </p:nvSpPr>
                <p:spPr>
                  <a:xfrm rot="1754795">
                    <a:off x="4589976" y="4967841"/>
                    <a:ext cx="987693" cy="1358561"/>
                  </a:xfrm>
                  <a:prstGeom prst="ellipse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scene3d>
                    <a:camera prst="orthographicFront"/>
                    <a:lightRig rig="threePt" dir="t"/>
                  </a:scene3d>
                  <a:sp3d>
                    <a:bevelT w="152400" h="50800" prst="softRound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131795D8-911A-76AB-28FA-A09E8928D0F5}"/>
                    </a:ext>
                  </a:extLst>
                </p:cNvPr>
                <p:cNvSpPr/>
                <p:nvPr/>
              </p:nvSpPr>
              <p:spPr>
                <a:xfrm rot="1754795">
                  <a:off x="5389897" y="4995490"/>
                  <a:ext cx="901627" cy="1313281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scene3d>
                  <a:camera prst="orthographicFront"/>
                  <a:lightRig rig="threePt" dir="t"/>
                </a:scene3d>
                <a:sp3d>
                  <a:bevelT w="152400" h="50800" prst="softRound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0D096D51-7024-F08B-3914-9D8DBF2E61E8}"/>
                    </a:ext>
                  </a:extLst>
                </p:cNvPr>
                <p:cNvSpPr/>
                <p:nvPr/>
              </p:nvSpPr>
              <p:spPr>
                <a:xfrm rot="1754795">
                  <a:off x="5516524" y="5169541"/>
                  <a:ext cx="687228" cy="99586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scene3d>
                  <a:camera prst="orthographicFront"/>
                  <a:lightRig rig="threePt" dir="t"/>
                </a:scene3d>
                <a:sp3d>
                  <a:bevelT w="152400" h="50800" prst="softRound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99BBCB32-7CB3-8928-BCFF-B05368B9B1D6}"/>
                    </a:ext>
                  </a:extLst>
                </p:cNvPr>
                <p:cNvSpPr/>
                <p:nvPr/>
              </p:nvSpPr>
              <p:spPr>
                <a:xfrm rot="1754795">
                  <a:off x="5611393" y="5298122"/>
                  <a:ext cx="514306" cy="761686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w="152400" h="50800" prst="softRound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707BBC08-44F9-597E-48CB-A55D6D5DFD03}"/>
                    </a:ext>
                  </a:extLst>
                </p:cNvPr>
                <p:cNvSpPr/>
                <p:nvPr/>
              </p:nvSpPr>
              <p:spPr>
                <a:xfrm>
                  <a:off x="5784581" y="5256975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400997C8-8E82-BCCC-313D-B2066CFA1C45}"/>
                    </a:ext>
                  </a:extLst>
                </p:cNvPr>
                <p:cNvSpPr/>
                <p:nvPr/>
              </p:nvSpPr>
              <p:spPr>
                <a:xfrm>
                  <a:off x="5855631" y="5242329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3892C3DC-50BF-F161-37C7-8349A6EABA3C}"/>
                    </a:ext>
                  </a:extLst>
                </p:cNvPr>
                <p:cNvSpPr/>
                <p:nvPr/>
              </p:nvSpPr>
              <p:spPr>
                <a:xfrm rot="1780318">
                  <a:off x="5936372" y="5242457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17D09761-CCBA-078C-07F7-DF2FFCB4ABDF}"/>
                    </a:ext>
                  </a:extLst>
                </p:cNvPr>
                <p:cNvSpPr/>
                <p:nvPr/>
              </p:nvSpPr>
              <p:spPr>
                <a:xfrm rot="2170756">
                  <a:off x="6018797" y="5263884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5F467683-1014-EAB6-B2FD-3CD903D3E398}"/>
                    </a:ext>
                  </a:extLst>
                </p:cNvPr>
                <p:cNvSpPr/>
                <p:nvPr/>
              </p:nvSpPr>
              <p:spPr>
                <a:xfrm rot="4177595">
                  <a:off x="6080732" y="5325362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21F907F0-5037-9CD7-8EA4-C1686884B840}"/>
                    </a:ext>
                  </a:extLst>
                </p:cNvPr>
                <p:cNvSpPr/>
                <p:nvPr/>
              </p:nvSpPr>
              <p:spPr>
                <a:xfrm rot="16566885">
                  <a:off x="6113150" y="5415363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1AD23F26-7FD6-C466-2AC5-BB53C002ED54}"/>
                    </a:ext>
                  </a:extLst>
                </p:cNvPr>
                <p:cNvSpPr/>
                <p:nvPr/>
              </p:nvSpPr>
              <p:spPr>
                <a:xfrm rot="18951371">
                  <a:off x="6128078" y="5508597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5859496A-1E51-F585-D439-7218AA68901F}"/>
                    </a:ext>
                  </a:extLst>
                </p:cNvPr>
                <p:cNvSpPr/>
                <p:nvPr/>
              </p:nvSpPr>
              <p:spPr>
                <a:xfrm rot="18562826">
                  <a:off x="6110738" y="5621142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D4EB5B93-CCF8-BD56-5576-DD42FAE7000F}"/>
                    </a:ext>
                  </a:extLst>
                </p:cNvPr>
                <p:cNvSpPr/>
                <p:nvPr/>
              </p:nvSpPr>
              <p:spPr>
                <a:xfrm rot="18562826">
                  <a:off x="6075151" y="5703906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C5C92C8E-8778-4C1E-3CFA-8EBC0CA19B50}"/>
                    </a:ext>
                  </a:extLst>
                </p:cNvPr>
                <p:cNvSpPr/>
                <p:nvPr/>
              </p:nvSpPr>
              <p:spPr>
                <a:xfrm rot="18562826">
                  <a:off x="6015720" y="5785378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F28AA3B7-A441-069B-1A3B-6D65D9511296}"/>
                    </a:ext>
                  </a:extLst>
                </p:cNvPr>
                <p:cNvSpPr/>
                <p:nvPr/>
              </p:nvSpPr>
              <p:spPr>
                <a:xfrm rot="20015710">
                  <a:off x="5982175" y="5851200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59D45612-0115-1BB0-971C-60AEF039CD7A}"/>
                    </a:ext>
                  </a:extLst>
                </p:cNvPr>
                <p:cNvSpPr/>
                <p:nvPr/>
              </p:nvSpPr>
              <p:spPr>
                <a:xfrm rot="19523177">
                  <a:off x="5936695" y="5899475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303A0EC2-2870-5AE6-4674-A8BA5904FC0F}"/>
                    </a:ext>
                  </a:extLst>
                </p:cNvPr>
                <p:cNvSpPr/>
                <p:nvPr/>
              </p:nvSpPr>
              <p:spPr>
                <a:xfrm rot="1096365">
                  <a:off x="5862946" y="5956910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115D5738-079C-340B-B1D9-0D26AC444E4B}"/>
                    </a:ext>
                  </a:extLst>
                </p:cNvPr>
                <p:cNvSpPr/>
                <p:nvPr/>
              </p:nvSpPr>
              <p:spPr>
                <a:xfrm rot="421530">
                  <a:off x="5772942" y="5998309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DA54E4FD-F896-53D3-FB46-4E2C42460F3C}"/>
                    </a:ext>
                  </a:extLst>
                </p:cNvPr>
                <p:cNvSpPr/>
                <p:nvPr/>
              </p:nvSpPr>
              <p:spPr>
                <a:xfrm rot="13055024">
                  <a:off x="5680413" y="5989364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2006BFD5-F118-218C-8DED-BAFA2D884A1E}"/>
                    </a:ext>
                  </a:extLst>
                </p:cNvPr>
                <p:cNvSpPr/>
                <p:nvPr/>
              </p:nvSpPr>
              <p:spPr>
                <a:xfrm rot="13196443">
                  <a:off x="5582659" y="5941551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BDA12071-6767-6B30-31BF-BB09D826B6CD}"/>
                    </a:ext>
                  </a:extLst>
                </p:cNvPr>
                <p:cNvSpPr/>
                <p:nvPr/>
              </p:nvSpPr>
              <p:spPr>
                <a:xfrm rot="18433116">
                  <a:off x="5518087" y="5858825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54B76485-B11E-E709-AF5E-8F0EF7BA2B63}"/>
                    </a:ext>
                  </a:extLst>
                </p:cNvPr>
                <p:cNvSpPr/>
                <p:nvPr/>
              </p:nvSpPr>
              <p:spPr>
                <a:xfrm rot="17777700">
                  <a:off x="5503548" y="5760253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A555C205-E9FB-49D0-7327-535C669878E8}"/>
                    </a:ext>
                  </a:extLst>
                </p:cNvPr>
                <p:cNvSpPr/>
                <p:nvPr/>
              </p:nvSpPr>
              <p:spPr>
                <a:xfrm rot="18562826">
                  <a:off x="5511722" y="5672385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26959B06-CD3F-B8DA-DA2F-26100CA38CB6}"/>
                    </a:ext>
                  </a:extLst>
                </p:cNvPr>
                <p:cNvSpPr/>
                <p:nvPr/>
              </p:nvSpPr>
              <p:spPr>
                <a:xfrm rot="18562826">
                  <a:off x="5520141" y="5575197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EA0A8F93-4D0C-3296-6523-1D8C5224D23F}"/>
                    </a:ext>
                  </a:extLst>
                </p:cNvPr>
                <p:cNvSpPr/>
                <p:nvPr/>
              </p:nvSpPr>
              <p:spPr>
                <a:xfrm rot="19267113">
                  <a:off x="5559761" y="5495729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DC72E45D-2206-92F5-5B95-75B02381CEAD}"/>
                    </a:ext>
                  </a:extLst>
                </p:cNvPr>
                <p:cNvSpPr/>
                <p:nvPr/>
              </p:nvSpPr>
              <p:spPr>
                <a:xfrm rot="19626626">
                  <a:off x="5593245" y="5412033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A9D903C5-2594-9493-DC25-847F12CA6F03}"/>
                    </a:ext>
                  </a:extLst>
                </p:cNvPr>
                <p:cNvSpPr/>
                <p:nvPr/>
              </p:nvSpPr>
              <p:spPr>
                <a:xfrm rot="19749620">
                  <a:off x="5655394" y="5344943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0D3B6DD2-C78C-C799-2ED9-04BF3A73033B}"/>
                    </a:ext>
                  </a:extLst>
                </p:cNvPr>
                <p:cNvSpPr/>
                <p:nvPr/>
              </p:nvSpPr>
              <p:spPr>
                <a:xfrm rot="20385711">
                  <a:off x="5721544" y="5298198"/>
                  <a:ext cx="112257" cy="97010"/>
                </a:xfrm>
                <a:custGeom>
                  <a:avLst/>
                  <a:gdLst>
                    <a:gd name="connsiteX0" fmla="*/ 3229 w 112257"/>
                    <a:gd name="connsiteY0" fmla="*/ 90237 h 97010"/>
                    <a:gd name="connsiteX1" fmla="*/ 21277 w 112257"/>
                    <a:gd name="connsiteY1" fmla="*/ 18048 h 97010"/>
                    <a:gd name="connsiteX2" fmla="*/ 57371 w 112257"/>
                    <a:gd name="connsiteY2" fmla="*/ 6016 h 97010"/>
                    <a:gd name="connsiteX3" fmla="*/ 75419 w 112257"/>
                    <a:gd name="connsiteY3" fmla="*/ 0 h 97010"/>
                    <a:gd name="connsiteX4" fmla="*/ 99482 w 112257"/>
                    <a:gd name="connsiteY4" fmla="*/ 12032 h 97010"/>
                    <a:gd name="connsiteX5" fmla="*/ 105498 w 112257"/>
                    <a:gd name="connsiteY5" fmla="*/ 66174 h 97010"/>
                    <a:gd name="connsiteX6" fmla="*/ 75419 w 112257"/>
                    <a:gd name="connsiteY6" fmla="*/ 84221 h 97010"/>
                    <a:gd name="connsiteX7" fmla="*/ 3229 w 112257"/>
                    <a:gd name="connsiteY7" fmla="*/ 90237 h 97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257" h="97010">
                      <a:moveTo>
                        <a:pt x="3229" y="90237"/>
                      </a:moveTo>
                      <a:cubicBezTo>
                        <a:pt x="-5795" y="79208"/>
                        <a:pt x="5336" y="30004"/>
                        <a:pt x="21277" y="18048"/>
                      </a:cubicBezTo>
                      <a:cubicBezTo>
                        <a:pt x="31423" y="10439"/>
                        <a:pt x="45340" y="10027"/>
                        <a:pt x="57371" y="6016"/>
                      </a:cubicBezTo>
                      <a:lnTo>
                        <a:pt x="75419" y="0"/>
                      </a:lnTo>
                      <a:cubicBezTo>
                        <a:pt x="83440" y="4011"/>
                        <a:pt x="93141" y="5691"/>
                        <a:pt x="99482" y="12032"/>
                      </a:cubicBezTo>
                      <a:cubicBezTo>
                        <a:pt x="112486" y="25037"/>
                        <a:pt x="117375" y="50337"/>
                        <a:pt x="105498" y="66174"/>
                      </a:cubicBezTo>
                      <a:cubicBezTo>
                        <a:pt x="98483" y="75528"/>
                        <a:pt x="85640" y="78543"/>
                        <a:pt x="75419" y="84221"/>
                      </a:cubicBezTo>
                      <a:cubicBezTo>
                        <a:pt x="49679" y="98521"/>
                        <a:pt x="12253" y="101266"/>
                        <a:pt x="3229" y="902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35933B4-3440-E814-AF48-6B3F9DA533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56717" y="3414132"/>
                <a:ext cx="1880363" cy="1770206"/>
              </a:xfrm>
              <a:prstGeom prst="straightConnector1">
                <a:avLst/>
              </a:prstGeom>
              <a:ln w="127000">
                <a:solidFill>
                  <a:schemeClr val="accent4">
                    <a:lumMod val="75000"/>
                  </a:schemeClr>
                </a:solidFill>
                <a:tailEnd type="triangle"/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3CFC856-D326-39C4-A2C2-D19F8A65E7DD}"/>
                  </a:ext>
                </a:extLst>
              </p:cNvPr>
              <p:cNvSpPr txBox="1"/>
              <p:nvPr/>
            </p:nvSpPr>
            <p:spPr>
              <a:xfrm>
                <a:off x="7994651" y="2806695"/>
                <a:ext cx="2614204" cy="4628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i="1" dirty="0">
                    <a:cs typeface="Adobe Hebrew" panose="02040503050201020203" pitchFamily="18" charset="-79"/>
                  </a:rPr>
                  <a:t>Endothelium</a:t>
                </a:r>
                <a:r>
                  <a:rPr lang="en-US" sz="2000" dirty="0"/>
                  <a:t> </a:t>
                </a:r>
              </a:p>
            </p:txBody>
          </p:sp>
          <p:sp>
            <p:nvSpPr>
              <p:cNvPr id="87" name="Arrow: Right 86">
                <a:extLst>
                  <a:ext uri="{FF2B5EF4-FFF2-40B4-BE49-F238E27FC236}">
                    <a16:creationId xmlns:a16="http://schemas.microsoft.com/office/drawing/2014/main" id="{EA17D5E6-19C5-9079-433C-79110DFD4DAB}"/>
                  </a:ext>
                </a:extLst>
              </p:cNvPr>
              <p:cNvSpPr/>
              <p:nvPr/>
            </p:nvSpPr>
            <p:spPr>
              <a:xfrm rot="1871812">
                <a:off x="3435632" y="5544428"/>
                <a:ext cx="1824573" cy="928841"/>
              </a:xfrm>
              <a:prstGeom prst="rightArrow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i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dobe Hebrew" panose="02040503050201020203" pitchFamily="18" charset="-79"/>
                    <a:cs typeface="Adobe Hebrew" panose="02040503050201020203" pitchFamily="18" charset="-79"/>
                  </a:rPr>
                  <a:t>FLOW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4FB3E8A-7FD5-7120-7B09-EE568ABF4E80}"/>
                  </a:ext>
                </a:extLst>
              </p:cNvPr>
              <p:cNvSpPr txBox="1"/>
              <p:nvPr/>
            </p:nvSpPr>
            <p:spPr>
              <a:xfrm>
                <a:off x="7275188" y="7078210"/>
                <a:ext cx="3132766" cy="4628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>
                    <a:cs typeface="Adobe Hebrew" panose="02040503050201020203" pitchFamily="18" charset="-79"/>
                  </a:rPr>
                  <a:t>Endothelial Cells </a:t>
                </a:r>
                <a:r>
                  <a:rPr lang="en-US" sz="2000" dirty="0"/>
                  <a:t> 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1F94FA3-8DA8-EFA6-2B72-3935F02C6011}"/>
                </a:ext>
              </a:extLst>
            </p:cNvPr>
            <p:cNvGrpSpPr/>
            <p:nvPr/>
          </p:nvGrpSpPr>
          <p:grpSpPr>
            <a:xfrm>
              <a:off x="6997862" y="2719951"/>
              <a:ext cx="4498562" cy="4244482"/>
              <a:chOff x="7384580" y="4772776"/>
              <a:chExt cx="2455141" cy="176575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3DA1DCA-B7DF-818D-2E0D-FD00EB926770}"/>
                  </a:ext>
                </a:extLst>
              </p:cNvPr>
              <p:cNvGrpSpPr/>
              <p:nvPr/>
            </p:nvGrpSpPr>
            <p:grpSpPr>
              <a:xfrm>
                <a:off x="7384580" y="5545880"/>
                <a:ext cx="2236601" cy="650908"/>
                <a:chOff x="8460890" y="5550037"/>
                <a:chExt cx="1915074" cy="650908"/>
              </a:xfr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DEDB86A9-46EB-4558-FC0E-C89415EF1F19}"/>
                    </a:ext>
                  </a:extLst>
                </p:cNvPr>
                <p:cNvGrpSpPr/>
                <p:nvPr/>
              </p:nvGrpSpPr>
              <p:grpSpPr>
                <a:xfrm rot="21397435">
                  <a:off x="8460890" y="5550037"/>
                  <a:ext cx="1915074" cy="650908"/>
                  <a:chOff x="8767695" y="5772711"/>
                  <a:chExt cx="1915074" cy="650908"/>
                </a:xfrm>
                <a:grpFill/>
              </p:grpSpPr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7BBE69FF-A0E9-9ADE-9E5C-6D8BF8070877}"/>
                      </a:ext>
                    </a:extLst>
                  </p:cNvPr>
                  <p:cNvGrpSpPr/>
                  <p:nvPr/>
                </p:nvGrpSpPr>
                <p:grpSpPr>
                  <a:xfrm>
                    <a:off x="8767695" y="5772711"/>
                    <a:ext cx="1766543" cy="639911"/>
                    <a:chOff x="8767695" y="5772711"/>
                    <a:chExt cx="1766543" cy="639911"/>
                  </a:xfrm>
                  <a:grpFill/>
                </p:grpSpPr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B1DF8FCA-F48D-2FE2-BA51-2A4158CD37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67695" y="5772711"/>
                      <a:ext cx="1372155" cy="570353"/>
                      <a:chOff x="8621362" y="5775251"/>
                      <a:chExt cx="581823" cy="245428"/>
                    </a:xfrm>
                    <a:grpFill/>
                  </p:grpSpPr>
                  <p:sp>
                    <p:nvSpPr>
                      <p:cNvPr id="75" name="Freeform: Shape 74">
                        <a:extLst>
                          <a:ext uri="{FF2B5EF4-FFF2-40B4-BE49-F238E27FC236}">
                            <a16:creationId xmlns:a16="http://schemas.microsoft.com/office/drawing/2014/main" id="{8551D3E9-74EF-3259-6FB5-EB12C28FEB1C}"/>
                          </a:ext>
                        </a:extLst>
                      </p:cNvPr>
                      <p:cNvSpPr/>
                      <p:nvPr/>
                    </p:nvSpPr>
                    <p:spPr>
                      <a:xfrm rot="20015710">
                        <a:off x="9090928" y="580972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6" name="Freeform: Shape 75">
                        <a:extLst>
                          <a:ext uri="{FF2B5EF4-FFF2-40B4-BE49-F238E27FC236}">
                            <a16:creationId xmlns:a16="http://schemas.microsoft.com/office/drawing/2014/main" id="{E43603A9-9F55-53B7-A007-4129E784F06B}"/>
                          </a:ext>
                        </a:extLst>
                      </p:cNvPr>
                      <p:cNvSpPr/>
                      <p:nvPr/>
                    </p:nvSpPr>
                    <p:spPr>
                      <a:xfrm rot="19523177">
                        <a:off x="9045448" y="585799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77" name="Freeform: Shape 76">
                        <a:extLst>
                          <a:ext uri="{FF2B5EF4-FFF2-40B4-BE49-F238E27FC236}">
                            <a16:creationId xmlns:a16="http://schemas.microsoft.com/office/drawing/2014/main" id="{145C153E-53E2-6346-B936-FC7F705C78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90544" y="589633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8" name="Freeform: Shape 77">
                        <a:extLst>
                          <a:ext uri="{FF2B5EF4-FFF2-40B4-BE49-F238E27FC236}">
                            <a16:creationId xmlns:a16="http://schemas.microsoft.com/office/drawing/2014/main" id="{1825609F-D2AE-5A44-0441-BEAC450F6488}"/>
                          </a:ext>
                        </a:extLst>
                      </p:cNvPr>
                      <p:cNvSpPr/>
                      <p:nvPr/>
                    </p:nvSpPr>
                    <p:spPr>
                      <a:xfrm rot="421530">
                        <a:off x="8893075" y="5923669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9" name="Freeform: Shape 78">
                        <a:extLst>
                          <a:ext uri="{FF2B5EF4-FFF2-40B4-BE49-F238E27FC236}">
                            <a16:creationId xmlns:a16="http://schemas.microsoft.com/office/drawing/2014/main" id="{61F8C620-AE04-DA11-B034-1A9BBB674D00}"/>
                          </a:ext>
                        </a:extLst>
                      </p:cNvPr>
                      <p:cNvSpPr/>
                      <p:nvPr/>
                    </p:nvSpPr>
                    <p:spPr>
                      <a:xfrm rot="13055024">
                        <a:off x="8800546" y="591472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0" name="Freeform: Shape 79">
                        <a:extLst>
                          <a:ext uri="{FF2B5EF4-FFF2-40B4-BE49-F238E27FC236}">
                            <a16:creationId xmlns:a16="http://schemas.microsoft.com/office/drawing/2014/main" id="{30DFDB73-986D-9C88-BADC-0097C3D30BCE}"/>
                          </a:ext>
                        </a:extLst>
                      </p:cNvPr>
                      <p:cNvSpPr/>
                      <p:nvPr/>
                    </p:nvSpPr>
                    <p:spPr>
                      <a:xfrm rot="13196443">
                        <a:off x="8720746" y="5882280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1" name="Freeform: Shape 80">
                        <a:extLst>
                          <a:ext uri="{FF2B5EF4-FFF2-40B4-BE49-F238E27FC236}">
                            <a16:creationId xmlns:a16="http://schemas.microsoft.com/office/drawing/2014/main" id="{3DC36C83-DDA0-3AAC-C127-FD3FF03E8605}"/>
                          </a:ext>
                        </a:extLst>
                      </p:cNvPr>
                      <p:cNvSpPr/>
                      <p:nvPr/>
                    </p:nvSpPr>
                    <p:spPr>
                      <a:xfrm rot="14843661">
                        <a:off x="8648105" y="583470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2" name="Freeform: Shape 81">
                        <a:extLst>
                          <a:ext uri="{FF2B5EF4-FFF2-40B4-BE49-F238E27FC236}">
                            <a16:creationId xmlns:a16="http://schemas.microsoft.com/office/drawing/2014/main" id="{A5B4E03E-3B6D-EAFF-EA94-BE41141E84A6}"/>
                          </a:ext>
                        </a:extLst>
                      </p:cNvPr>
                      <p:cNvSpPr/>
                      <p:nvPr/>
                    </p:nvSpPr>
                    <p:spPr>
                      <a:xfrm rot="15857614">
                        <a:off x="8613738" y="578287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48" name="Group 47">
                      <a:extLst>
                        <a:ext uri="{FF2B5EF4-FFF2-40B4-BE49-F238E27FC236}">
                          <a16:creationId xmlns:a16="http://schemas.microsoft.com/office/drawing/2014/main" id="{9023CDD4-CBF8-B44E-2C01-E57F6DDCF9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882090" y="5805711"/>
                      <a:ext cx="1372160" cy="570353"/>
                      <a:chOff x="8621362" y="5775251"/>
                      <a:chExt cx="581825" cy="245428"/>
                    </a:xfrm>
                    <a:grpFill/>
                  </p:grpSpPr>
                  <p:sp>
                    <p:nvSpPr>
                      <p:cNvPr id="67" name="Freeform: Shape 66">
                        <a:extLst>
                          <a:ext uri="{FF2B5EF4-FFF2-40B4-BE49-F238E27FC236}">
                            <a16:creationId xmlns:a16="http://schemas.microsoft.com/office/drawing/2014/main" id="{7762323D-B25A-68BE-38D6-AC96F81F5983}"/>
                          </a:ext>
                        </a:extLst>
                      </p:cNvPr>
                      <p:cNvSpPr/>
                      <p:nvPr/>
                    </p:nvSpPr>
                    <p:spPr>
                      <a:xfrm rot="20015710">
                        <a:off x="9090930" y="580972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8" name="Freeform: Shape 67">
                        <a:extLst>
                          <a:ext uri="{FF2B5EF4-FFF2-40B4-BE49-F238E27FC236}">
                            <a16:creationId xmlns:a16="http://schemas.microsoft.com/office/drawing/2014/main" id="{BEC5AC02-81D6-162B-3563-6A0C8A64DA2C}"/>
                          </a:ext>
                        </a:extLst>
                      </p:cNvPr>
                      <p:cNvSpPr/>
                      <p:nvPr/>
                    </p:nvSpPr>
                    <p:spPr>
                      <a:xfrm rot="19523177">
                        <a:off x="9045448" y="585799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9" name="Freeform: Shape 68">
                        <a:extLst>
                          <a:ext uri="{FF2B5EF4-FFF2-40B4-BE49-F238E27FC236}">
                            <a16:creationId xmlns:a16="http://schemas.microsoft.com/office/drawing/2014/main" id="{11999C6B-1BC0-C4A3-88A8-FE87AB37EF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90544" y="589633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0" name="Freeform: Shape 69">
                        <a:extLst>
                          <a:ext uri="{FF2B5EF4-FFF2-40B4-BE49-F238E27FC236}">
                            <a16:creationId xmlns:a16="http://schemas.microsoft.com/office/drawing/2014/main" id="{477C5F74-E2E0-B4B5-306F-9846469A817C}"/>
                          </a:ext>
                        </a:extLst>
                      </p:cNvPr>
                      <p:cNvSpPr/>
                      <p:nvPr/>
                    </p:nvSpPr>
                    <p:spPr>
                      <a:xfrm rot="421530">
                        <a:off x="8893075" y="5923669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1" name="Freeform: Shape 70">
                        <a:extLst>
                          <a:ext uri="{FF2B5EF4-FFF2-40B4-BE49-F238E27FC236}">
                            <a16:creationId xmlns:a16="http://schemas.microsoft.com/office/drawing/2014/main" id="{D17C9363-1000-A9DA-4E0A-BD5F33700463}"/>
                          </a:ext>
                        </a:extLst>
                      </p:cNvPr>
                      <p:cNvSpPr/>
                      <p:nvPr/>
                    </p:nvSpPr>
                    <p:spPr>
                      <a:xfrm rot="13055024">
                        <a:off x="8800546" y="591472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2" name="Freeform: Shape 71">
                        <a:extLst>
                          <a:ext uri="{FF2B5EF4-FFF2-40B4-BE49-F238E27FC236}">
                            <a16:creationId xmlns:a16="http://schemas.microsoft.com/office/drawing/2014/main" id="{D578C432-D508-BF70-4165-017408BF789E}"/>
                          </a:ext>
                        </a:extLst>
                      </p:cNvPr>
                      <p:cNvSpPr/>
                      <p:nvPr/>
                    </p:nvSpPr>
                    <p:spPr>
                      <a:xfrm rot="13196443">
                        <a:off x="8720746" y="5882280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3" name="Freeform: Shape 72">
                        <a:extLst>
                          <a:ext uri="{FF2B5EF4-FFF2-40B4-BE49-F238E27FC236}">
                            <a16:creationId xmlns:a16="http://schemas.microsoft.com/office/drawing/2014/main" id="{575F6B90-1924-8C13-5D7D-0FA4E70EBF02}"/>
                          </a:ext>
                        </a:extLst>
                      </p:cNvPr>
                      <p:cNvSpPr/>
                      <p:nvPr/>
                    </p:nvSpPr>
                    <p:spPr>
                      <a:xfrm rot="14843661">
                        <a:off x="8648105" y="583470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4" name="Freeform: Shape 73">
                        <a:extLst>
                          <a:ext uri="{FF2B5EF4-FFF2-40B4-BE49-F238E27FC236}">
                            <a16:creationId xmlns:a16="http://schemas.microsoft.com/office/drawing/2014/main" id="{DDBEE96A-4494-F6A1-344D-F15EC7D30FFD}"/>
                          </a:ext>
                        </a:extLst>
                      </p:cNvPr>
                      <p:cNvSpPr/>
                      <p:nvPr/>
                    </p:nvSpPr>
                    <p:spPr>
                      <a:xfrm rot="15857614">
                        <a:off x="8613738" y="578287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D5F9E5FB-8E13-E6ED-61A4-7A361FE018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008883" y="5828030"/>
                      <a:ext cx="1372155" cy="570353"/>
                      <a:chOff x="8621362" y="5775251"/>
                      <a:chExt cx="581823" cy="245428"/>
                    </a:xfrm>
                    <a:grpFill/>
                  </p:grpSpPr>
                  <p:sp>
                    <p:nvSpPr>
                      <p:cNvPr id="59" name="Freeform: Shape 58">
                        <a:extLst>
                          <a:ext uri="{FF2B5EF4-FFF2-40B4-BE49-F238E27FC236}">
                            <a16:creationId xmlns:a16="http://schemas.microsoft.com/office/drawing/2014/main" id="{F60480EB-BE3E-CF89-106A-F6D20D5151DE}"/>
                          </a:ext>
                        </a:extLst>
                      </p:cNvPr>
                      <p:cNvSpPr/>
                      <p:nvPr/>
                    </p:nvSpPr>
                    <p:spPr>
                      <a:xfrm rot="20015710">
                        <a:off x="9090928" y="580972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0" name="Freeform: Shape 59">
                        <a:extLst>
                          <a:ext uri="{FF2B5EF4-FFF2-40B4-BE49-F238E27FC236}">
                            <a16:creationId xmlns:a16="http://schemas.microsoft.com/office/drawing/2014/main" id="{053FA219-9ECA-F978-85D6-359C448B86C8}"/>
                          </a:ext>
                        </a:extLst>
                      </p:cNvPr>
                      <p:cNvSpPr/>
                      <p:nvPr/>
                    </p:nvSpPr>
                    <p:spPr>
                      <a:xfrm rot="19523177">
                        <a:off x="9045448" y="585799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61" name="Freeform: Shape 60">
                        <a:extLst>
                          <a:ext uri="{FF2B5EF4-FFF2-40B4-BE49-F238E27FC236}">
                            <a16:creationId xmlns:a16="http://schemas.microsoft.com/office/drawing/2014/main" id="{B15258F5-6238-7D6B-508C-31A270B2DD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90544" y="589633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2" name="Freeform: Shape 61">
                        <a:extLst>
                          <a:ext uri="{FF2B5EF4-FFF2-40B4-BE49-F238E27FC236}">
                            <a16:creationId xmlns:a16="http://schemas.microsoft.com/office/drawing/2014/main" id="{7CBE19EA-477B-007E-2898-062848EE2A52}"/>
                          </a:ext>
                        </a:extLst>
                      </p:cNvPr>
                      <p:cNvSpPr/>
                      <p:nvPr/>
                    </p:nvSpPr>
                    <p:spPr>
                      <a:xfrm rot="421530">
                        <a:off x="8893075" y="5923669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3" name="Freeform: Shape 62">
                        <a:extLst>
                          <a:ext uri="{FF2B5EF4-FFF2-40B4-BE49-F238E27FC236}">
                            <a16:creationId xmlns:a16="http://schemas.microsoft.com/office/drawing/2014/main" id="{77AE24E0-EA20-C82A-F26C-76B6EA407EBD}"/>
                          </a:ext>
                        </a:extLst>
                      </p:cNvPr>
                      <p:cNvSpPr/>
                      <p:nvPr/>
                    </p:nvSpPr>
                    <p:spPr>
                      <a:xfrm rot="13055024">
                        <a:off x="8800546" y="591472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4" name="Freeform: Shape 63">
                        <a:extLst>
                          <a:ext uri="{FF2B5EF4-FFF2-40B4-BE49-F238E27FC236}">
                            <a16:creationId xmlns:a16="http://schemas.microsoft.com/office/drawing/2014/main" id="{C2D8662F-6C32-2381-2D0A-22B7962BFE31}"/>
                          </a:ext>
                        </a:extLst>
                      </p:cNvPr>
                      <p:cNvSpPr/>
                      <p:nvPr/>
                    </p:nvSpPr>
                    <p:spPr>
                      <a:xfrm rot="13196443">
                        <a:off x="8720746" y="5882280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5" name="Freeform: Shape 64">
                        <a:extLst>
                          <a:ext uri="{FF2B5EF4-FFF2-40B4-BE49-F238E27FC236}">
                            <a16:creationId xmlns:a16="http://schemas.microsoft.com/office/drawing/2014/main" id="{4E749B09-7880-D120-367E-B1C07E8F5B41}"/>
                          </a:ext>
                        </a:extLst>
                      </p:cNvPr>
                      <p:cNvSpPr/>
                      <p:nvPr/>
                    </p:nvSpPr>
                    <p:spPr>
                      <a:xfrm rot="14843661">
                        <a:off x="8648105" y="583470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6" name="Freeform: Shape 65">
                        <a:extLst>
                          <a:ext uri="{FF2B5EF4-FFF2-40B4-BE49-F238E27FC236}">
                            <a16:creationId xmlns:a16="http://schemas.microsoft.com/office/drawing/2014/main" id="{B092A6FD-9EEF-8F8F-F023-364909DF8DA5}"/>
                          </a:ext>
                        </a:extLst>
                      </p:cNvPr>
                      <p:cNvSpPr/>
                      <p:nvPr/>
                    </p:nvSpPr>
                    <p:spPr>
                      <a:xfrm rot="15857614">
                        <a:off x="8613738" y="578287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50" name="Group 49">
                      <a:extLst>
                        <a:ext uri="{FF2B5EF4-FFF2-40B4-BE49-F238E27FC236}">
                          <a16:creationId xmlns:a16="http://schemas.microsoft.com/office/drawing/2014/main" id="{9968DD13-F552-4F84-BDBF-8B8E4C6181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62083" y="5842269"/>
                      <a:ext cx="1372155" cy="570353"/>
                      <a:chOff x="8621362" y="5775251"/>
                      <a:chExt cx="581823" cy="245428"/>
                    </a:xfrm>
                    <a:grpFill/>
                  </p:grpSpPr>
                  <p:sp>
                    <p:nvSpPr>
                      <p:cNvPr id="51" name="Freeform: Shape 50">
                        <a:extLst>
                          <a:ext uri="{FF2B5EF4-FFF2-40B4-BE49-F238E27FC236}">
                            <a16:creationId xmlns:a16="http://schemas.microsoft.com/office/drawing/2014/main" id="{919E7536-3FBB-3A75-941C-F335B35AB0DE}"/>
                          </a:ext>
                        </a:extLst>
                      </p:cNvPr>
                      <p:cNvSpPr/>
                      <p:nvPr/>
                    </p:nvSpPr>
                    <p:spPr>
                      <a:xfrm rot="20015710">
                        <a:off x="9090928" y="580972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2" name="Freeform: Shape 51">
                        <a:extLst>
                          <a:ext uri="{FF2B5EF4-FFF2-40B4-BE49-F238E27FC236}">
                            <a16:creationId xmlns:a16="http://schemas.microsoft.com/office/drawing/2014/main" id="{6C61A0CB-DB1B-AF53-2E8F-68EA584BDD38}"/>
                          </a:ext>
                        </a:extLst>
                      </p:cNvPr>
                      <p:cNvSpPr/>
                      <p:nvPr/>
                    </p:nvSpPr>
                    <p:spPr>
                      <a:xfrm rot="19523177">
                        <a:off x="9045448" y="585799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53" name="Freeform: Shape 52">
                        <a:extLst>
                          <a:ext uri="{FF2B5EF4-FFF2-40B4-BE49-F238E27FC236}">
                            <a16:creationId xmlns:a16="http://schemas.microsoft.com/office/drawing/2014/main" id="{5B6382B2-DF15-5F3E-F873-A538433D4F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90544" y="5896332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4" name="Freeform: Shape 53">
                        <a:extLst>
                          <a:ext uri="{FF2B5EF4-FFF2-40B4-BE49-F238E27FC236}">
                            <a16:creationId xmlns:a16="http://schemas.microsoft.com/office/drawing/2014/main" id="{9E0B7A8E-B450-E2FB-D462-2B8C9CCD06F7}"/>
                          </a:ext>
                        </a:extLst>
                      </p:cNvPr>
                      <p:cNvSpPr/>
                      <p:nvPr/>
                    </p:nvSpPr>
                    <p:spPr>
                      <a:xfrm rot="421530">
                        <a:off x="8893075" y="5923669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5" name="Freeform: Shape 54">
                        <a:extLst>
                          <a:ext uri="{FF2B5EF4-FFF2-40B4-BE49-F238E27FC236}">
                            <a16:creationId xmlns:a16="http://schemas.microsoft.com/office/drawing/2014/main" id="{5845ACBB-F2F3-2325-BB98-3B4190BC2B77}"/>
                          </a:ext>
                        </a:extLst>
                      </p:cNvPr>
                      <p:cNvSpPr/>
                      <p:nvPr/>
                    </p:nvSpPr>
                    <p:spPr>
                      <a:xfrm rot="13055024">
                        <a:off x="8800546" y="591472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6" name="Freeform: Shape 55">
                        <a:extLst>
                          <a:ext uri="{FF2B5EF4-FFF2-40B4-BE49-F238E27FC236}">
                            <a16:creationId xmlns:a16="http://schemas.microsoft.com/office/drawing/2014/main" id="{28EFEAA0-1F84-6835-FD21-2E6E1AA11B0E}"/>
                          </a:ext>
                        </a:extLst>
                      </p:cNvPr>
                      <p:cNvSpPr/>
                      <p:nvPr/>
                    </p:nvSpPr>
                    <p:spPr>
                      <a:xfrm rot="13196443">
                        <a:off x="8720746" y="5882280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7" name="Freeform: Shape 56">
                        <a:extLst>
                          <a:ext uri="{FF2B5EF4-FFF2-40B4-BE49-F238E27FC236}">
                            <a16:creationId xmlns:a16="http://schemas.microsoft.com/office/drawing/2014/main" id="{EDBAF69A-E764-B58B-4136-7DFDE1960176}"/>
                          </a:ext>
                        </a:extLst>
                      </p:cNvPr>
                      <p:cNvSpPr/>
                      <p:nvPr/>
                    </p:nvSpPr>
                    <p:spPr>
                      <a:xfrm rot="14843661">
                        <a:off x="8648105" y="5834707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8" name="Freeform: Shape 57">
                        <a:extLst>
                          <a:ext uri="{FF2B5EF4-FFF2-40B4-BE49-F238E27FC236}">
                            <a16:creationId xmlns:a16="http://schemas.microsoft.com/office/drawing/2014/main" id="{EAD6B52C-2614-2F94-04E8-24EE6ED104D3}"/>
                          </a:ext>
                        </a:extLst>
                      </p:cNvPr>
                      <p:cNvSpPr/>
                      <p:nvPr/>
                    </p:nvSpPr>
                    <p:spPr>
                      <a:xfrm rot="15857614">
                        <a:off x="8613738" y="5782875"/>
                        <a:ext cx="112257" cy="97010"/>
                      </a:xfrm>
                      <a:custGeom>
                        <a:avLst/>
                        <a:gdLst>
                          <a:gd name="connsiteX0" fmla="*/ 3229 w 112257"/>
                          <a:gd name="connsiteY0" fmla="*/ 90237 h 97010"/>
                          <a:gd name="connsiteX1" fmla="*/ 21277 w 112257"/>
                          <a:gd name="connsiteY1" fmla="*/ 18048 h 97010"/>
                          <a:gd name="connsiteX2" fmla="*/ 57371 w 112257"/>
                          <a:gd name="connsiteY2" fmla="*/ 6016 h 97010"/>
                          <a:gd name="connsiteX3" fmla="*/ 75419 w 112257"/>
                          <a:gd name="connsiteY3" fmla="*/ 0 h 97010"/>
                          <a:gd name="connsiteX4" fmla="*/ 99482 w 112257"/>
                          <a:gd name="connsiteY4" fmla="*/ 12032 h 97010"/>
                          <a:gd name="connsiteX5" fmla="*/ 105498 w 112257"/>
                          <a:gd name="connsiteY5" fmla="*/ 66174 h 97010"/>
                          <a:gd name="connsiteX6" fmla="*/ 75419 w 112257"/>
                          <a:gd name="connsiteY6" fmla="*/ 84221 h 97010"/>
                          <a:gd name="connsiteX7" fmla="*/ 3229 w 112257"/>
                          <a:gd name="connsiteY7" fmla="*/ 90237 h 97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12257" h="97010">
                            <a:moveTo>
                              <a:pt x="3229" y="90237"/>
                            </a:moveTo>
                            <a:cubicBezTo>
                              <a:pt x="-5795" y="79208"/>
                              <a:pt x="5336" y="30004"/>
                              <a:pt x="21277" y="18048"/>
                            </a:cubicBezTo>
                            <a:cubicBezTo>
                              <a:pt x="31423" y="10439"/>
                              <a:pt x="45340" y="10027"/>
                              <a:pt x="57371" y="6016"/>
                            </a:cubicBezTo>
                            <a:lnTo>
                              <a:pt x="75419" y="0"/>
                            </a:lnTo>
                            <a:cubicBezTo>
                              <a:pt x="83440" y="4011"/>
                              <a:pt x="93141" y="5691"/>
                              <a:pt x="99482" y="12032"/>
                            </a:cubicBezTo>
                            <a:cubicBezTo>
                              <a:pt x="112486" y="25037"/>
                              <a:pt x="117375" y="50337"/>
                              <a:pt x="105498" y="66174"/>
                            </a:cubicBezTo>
                            <a:cubicBezTo>
                              <a:pt x="98483" y="75528"/>
                              <a:pt x="85640" y="78543"/>
                              <a:pt x="75419" y="84221"/>
                            </a:cubicBezTo>
                            <a:cubicBezTo>
                              <a:pt x="49679" y="98521"/>
                              <a:pt x="12253" y="101266"/>
                              <a:pt x="3229" y="90237"/>
                            </a:cubicBezTo>
                            <a:close/>
                          </a:path>
                        </a:pathLst>
                      </a:cu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50B17749-E6F1-328B-C3BE-4DEB1061BA6E}"/>
                      </a:ext>
                    </a:extLst>
                  </p:cNvPr>
                  <p:cNvGrpSpPr/>
                  <p:nvPr/>
                </p:nvGrpSpPr>
                <p:grpSpPr>
                  <a:xfrm>
                    <a:off x="9310614" y="5853266"/>
                    <a:ext cx="1372155" cy="570353"/>
                    <a:chOff x="8621362" y="5775251"/>
                    <a:chExt cx="581823" cy="245428"/>
                  </a:xfrm>
                  <a:grpFill/>
                </p:grpSpPr>
                <p:sp>
                  <p:nvSpPr>
                    <p:cNvPr id="39" name="Freeform: Shape 38">
                      <a:extLst>
                        <a:ext uri="{FF2B5EF4-FFF2-40B4-BE49-F238E27FC236}">
                          <a16:creationId xmlns:a16="http://schemas.microsoft.com/office/drawing/2014/main" id="{F597EC9A-119A-9CA5-511F-3089D84562DC}"/>
                        </a:ext>
                      </a:extLst>
                    </p:cNvPr>
                    <p:cNvSpPr/>
                    <p:nvPr/>
                  </p:nvSpPr>
                  <p:spPr>
                    <a:xfrm rot="20015710">
                      <a:off x="9090928" y="5809722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0" name="Freeform: Shape 39">
                      <a:extLst>
                        <a:ext uri="{FF2B5EF4-FFF2-40B4-BE49-F238E27FC236}">
                          <a16:creationId xmlns:a16="http://schemas.microsoft.com/office/drawing/2014/main" id="{D75A1499-0F25-0262-6E14-ED7E64806252}"/>
                        </a:ext>
                      </a:extLst>
                    </p:cNvPr>
                    <p:cNvSpPr/>
                    <p:nvPr/>
                  </p:nvSpPr>
                  <p:spPr>
                    <a:xfrm rot="19523177">
                      <a:off x="9045448" y="5857997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1" name="Freeform: Shape 40">
                      <a:extLst>
                        <a:ext uri="{FF2B5EF4-FFF2-40B4-BE49-F238E27FC236}">
                          <a16:creationId xmlns:a16="http://schemas.microsoft.com/office/drawing/2014/main" id="{7C226F57-6611-95CC-8AB3-811A3123A6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0544" y="5896332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2" name="Freeform: Shape 41">
                      <a:extLst>
                        <a:ext uri="{FF2B5EF4-FFF2-40B4-BE49-F238E27FC236}">
                          <a16:creationId xmlns:a16="http://schemas.microsoft.com/office/drawing/2014/main" id="{18241CA6-2881-7F87-785D-86C43D4FF7B9}"/>
                        </a:ext>
                      </a:extLst>
                    </p:cNvPr>
                    <p:cNvSpPr/>
                    <p:nvPr/>
                  </p:nvSpPr>
                  <p:spPr>
                    <a:xfrm rot="421530">
                      <a:off x="8893075" y="5923669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3" name="Freeform: Shape 42">
                      <a:extLst>
                        <a:ext uri="{FF2B5EF4-FFF2-40B4-BE49-F238E27FC236}">
                          <a16:creationId xmlns:a16="http://schemas.microsoft.com/office/drawing/2014/main" id="{92C7F22F-4010-1BD4-CC01-E56B42C60C9A}"/>
                        </a:ext>
                      </a:extLst>
                    </p:cNvPr>
                    <p:cNvSpPr/>
                    <p:nvPr/>
                  </p:nvSpPr>
                  <p:spPr>
                    <a:xfrm rot="13055024">
                      <a:off x="8800546" y="5914725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4" name="Freeform: Shape 43">
                      <a:extLst>
                        <a:ext uri="{FF2B5EF4-FFF2-40B4-BE49-F238E27FC236}">
                          <a16:creationId xmlns:a16="http://schemas.microsoft.com/office/drawing/2014/main" id="{74632916-CBD8-257F-9FC0-44E07D12CCA9}"/>
                        </a:ext>
                      </a:extLst>
                    </p:cNvPr>
                    <p:cNvSpPr/>
                    <p:nvPr/>
                  </p:nvSpPr>
                  <p:spPr>
                    <a:xfrm rot="13196443">
                      <a:off x="8720746" y="5882280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5" name="Freeform: Shape 44">
                      <a:extLst>
                        <a:ext uri="{FF2B5EF4-FFF2-40B4-BE49-F238E27FC236}">
                          <a16:creationId xmlns:a16="http://schemas.microsoft.com/office/drawing/2014/main" id="{D4807FD3-8B23-A980-107B-A98B48ACBDC1}"/>
                        </a:ext>
                      </a:extLst>
                    </p:cNvPr>
                    <p:cNvSpPr/>
                    <p:nvPr/>
                  </p:nvSpPr>
                  <p:spPr>
                    <a:xfrm rot="14843661">
                      <a:off x="8648105" y="5834707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6" name="Freeform: Shape 45">
                      <a:extLst>
                        <a:ext uri="{FF2B5EF4-FFF2-40B4-BE49-F238E27FC236}">
                          <a16:creationId xmlns:a16="http://schemas.microsoft.com/office/drawing/2014/main" id="{AAD02CFF-9426-FF84-6DA1-031C8BEE56D8}"/>
                        </a:ext>
                      </a:extLst>
                    </p:cNvPr>
                    <p:cNvSpPr/>
                    <p:nvPr/>
                  </p:nvSpPr>
                  <p:spPr>
                    <a:xfrm rot="15857614">
                      <a:off x="8613738" y="5782875"/>
                      <a:ext cx="112257" cy="97010"/>
                    </a:xfrm>
                    <a:custGeom>
                      <a:avLst/>
                      <a:gdLst>
                        <a:gd name="connsiteX0" fmla="*/ 3229 w 112257"/>
                        <a:gd name="connsiteY0" fmla="*/ 90237 h 97010"/>
                        <a:gd name="connsiteX1" fmla="*/ 21277 w 112257"/>
                        <a:gd name="connsiteY1" fmla="*/ 18048 h 97010"/>
                        <a:gd name="connsiteX2" fmla="*/ 57371 w 112257"/>
                        <a:gd name="connsiteY2" fmla="*/ 6016 h 97010"/>
                        <a:gd name="connsiteX3" fmla="*/ 75419 w 112257"/>
                        <a:gd name="connsiteY3" fmla="*/ 0 h 97010"/>
                        <a:gd name="connsiteX4" fmla="*/ 99482 w 112257"/>
                        <a:gd name="connsiteY4" fmla="*/ 12032 h 97010"/>
                        <a:gd name="connsiteX5" fmla="*/ 105498 w 112257"/>
                        <a:gd name="connsiteY5" fmla="*/ 66174 h 97010"/>
                        <a:gd name="connsiteX6" fmla="*/ 75419 w 112257"/>
                        <a:gd name="connsiteY6" fmla="*/ 84221 h 97010"/>
                        <a:gd name="connsiteX7" fmla="*/ 3229 w 112257"/>
                        <a:gd name="connsiteY7" fmla="*/ 90237 h 97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57" h="97010">
                          <a:moveTo>
                            <a:pt x="3229" y="90237"/>
                          </a:moveTo>
                          <a:cubicBezTo>
                            <a:pt x="-5795" y="79208"/>
                            <a:pt x="5336" y="30004"/>
                            <a:pt x="21277" y="18048"/>
                          </a:cubicBezTo>
                          <a:cubicBezTo>
                            <a:pt x="31423" y="10439"/>
                            <a:pt x="45340" y="10027"/>
                            <a:pt x="57371" y="6016"/>
                          </a:cubicBezTo>
                          <a:lnTo>
                            <a:pt x="75419" y="0"/>
                          </a:lnTo>
                          <a:cubicBezTo>
                            <a:pt x="83440" y="4011"/>
                            <a:pt x="93141" y="5691"/>
                            <a:pt x="99482" y="12032"/>
                          </a:cubicBezTo>
                          <a:cubicBezTo>
                            <a:pt x="112486" y="25037"/>
                            <a:pt x="117375" y="50337"/>
                            <a:pt x="105498" y="66174"/>
                          </a:cubicBezTo>
                          <a:cubicBezTo>
                            <a:pt x="98483" y="75528"/>
                            <a:pt x="85640" y="78543"/>
                            <a:pt x="75419" y="84221"/>
                          </a:cubicBezTo>
                          <a:cubicBezTo>
                            <a:pt x="49679" y="98521"/>
                            <a:pt x="12253" y="101266"/>
                            <a:pt x="3229" y="90237"/>
                          </a:cubicBezTo>
                          <a:close/>
                        </a:path>
                      </a:pathLst>
                    </a:cu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A4CFC2D-9D3E-49A8-AF6A-6CD6EDAD8C17}"/>
                    </a:ext>
                  </a:extLst>
                </p:cNvPr>
                <p:cNvSpPr/>
                <p:nvPr/>
              </p:nvSpPr>
              <p:spPr>
                <a:xfrm>
                  <a:off x="8502723" y="5673071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A0891EC3-1294-3D18-6DCF-6A22744E7A09}"/>
                    </a:ext>
                  </a:extLst>
                </p:cNvPr>
                <p:cNvSpPr/>
                <p:nvPr/>
              </p:nvSpPr>
              <p:spPr>
                <a:xfrm>
                  <a:off x="8625389" y="5752875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966963A4-5F24-88AA-7933-CA2BB00BE1A3}"/>
                    </a:ext>
                  </a:extLst>
                </p:cNvPr>
                <p:cNvSpPr/>
                <p:nvPr/>
              </p:nvSpPr>
              <p:spPr>
                <a:xfrm>
                  <a:off x="8763281" y="5729358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769CC62-FB1C-1E88-0188-258800459324}"/>
                    </a:ext>
                  </a:extLst>
                </p:cNvPr>
                <p:cNvSpPr/>
                <p:nvPr/>
              </p:nvSpPr>
              <p:spPr>
                <a:xfrm>
                  <a:off x="8926694" y="5759605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51E3652D-7FF6-0E5E-0FFF-1B7BE9DFAFCE}"/>
                    </a:ext>
                  </a:extLst>
                </p:cNvPr>
                <p:cNvSpPr/>
                <p:nvPr/>
              </p:nvSpPr>
              <p:spPr>
                <a:xfrm>
                  <a:off x="9094802" y="5724171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B88A8F2-1870-F3A4-1456-74DA12694B09}"/>
                    </a:ext>
                  </a:extLst>
                </p:cNvPr>
                <p:cNvSpPr/>
                <p:nvPr/>
              </p:nvSpPr>
              <p:spPr>
                <a:xfrm>
                  <a:off x="8608122" y="5891807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F7C16503-18EB-5CA6-F20C-F85C8512D4DF}"/>
                    </a:ext>
                  </a:extLst>
                </p:cNvPr>
                <p:cNvSpPr/>
                <p:nvPr/>
              </p:nvSpPr>
              <p:spPr>
                <a:xfrm>
                  <a:off x="9365675" y="5938765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40195027-22D3-22E4-02C7-7DD7C41B6673}"/>
                    </a:ext>
                  </a:extLst>
                </p:cNvPr>
                <p:cNvSpPr/>
                <p:nvPr/>
              </p:nvSpPr>
              <p:spPr>
                <a:xfrm>
                  <a:off x="9184096" y="5916404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23AB48AF-18CA-03F0-D23C-EEBD70ED85F4}"/>
                    </a:ext>
                  </a:extLst>
                </p:cNvPr>
                <p:cNvSpPr/>
                <p:nvPr/>
              </p:nvSpPr>
              <p:spPr>
                <a:xfrm>
                  <a:off x="9557533" y="6023953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3499E28D-7BDC-286F-CCF3-94EF01F5590F}"/>
                    </a:ext>
                  </a:extLst>
                </p:cNvPr>
                <p:cNvSpPr/>
                <p:nvPr/>
              </p:nvSpPr>
              <p:spPr>
                <a:xfrm>
                  <a:off x="9786240" y="6011977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0C9BD4A4-219C-D1AD-A13C-1E2C6B7199E4}"/>
                    </a:ext>
                  </a:extLst>
                </p:cNvPr>
                <p:cNvSpPr/>
                <p:nvPr/>
              </p:nvSpPr>
              <p:spPr>
                <a:xfrm>
                  <a:off x="10014348" y="5976083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AE48EF55-8235-A040-AD42-73028844B896}"/>
                    </a:ext>
                  </a:extLst>
                </p:cNvPr>
                <p:cNvSpPr/>
                <p:nvPr/>
              </p:nvSpPr>
              <p:spPr>
                <a:xfrm>
                  <a:off x="9659494" y="5656248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AE950F71-9024-85BD-4859-8B0AC0188AAB}"/>
                    </a:ext>
                  </a:extLst>
                </p:cNvPr>
                <p:cNvSpPr/>
                <p:nvPr/>
              </p:nvSpPr>
              <p:spPr>
                <a:xfrm rot="1951660">
                  <a:off x="9569621" y="5753991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9CE86432-D15F-1FE6-3F5F-601E3AE2DE9F}"/>
                    </a:ext>
                  </a:extLst>
                </p:cNvPr>
                <p:cNvSpPr/>
                <p:nvPr/>
              </p:nvSpPr>
              <p:spPr>
                <a:xfrm>
                  <a:off x="9972186" y="5789395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8375E8F7-54C3-92BD-C3EE-CEDD5B1D6EA7}"/>
                    </a:ext>
                  </a:extLst>
                </p:cNvPr>
                <p:cNvSpPr/>
                <p:nvPr/>
              </p:nvSpPr>
              <p:spPr>
                <a:xfrm>
                  <a:off x="9821435" y="5788386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929C4256-0338-10C2-F7AB-68F8DE3FF582}"/>
                    </a:ext>
                  </a:extLst>
                </p:cNvPr>
                <p:cNvSpPr/>
                <p:nvPr/>
              </p:nvSpPr>
              <p:spPr>
                <a:xfrm>
                  <a:off x="10207580" y="5711513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A34B1EAB-FD1D-C8BD-A32C-942DFAEDE0F3}"/>
                    </a:ext>
                  </a:extLst>
                </p:cNvPr>
                <p:cNvSpPr/>
                <p:nvPr/>
              </p:nvSpPr>
              <p:spPr>
                <a:xfrm>
                  <a:off x="9017364" y="6024141"/>
                  <a:ext cx="64435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5383C866-549E-97B4-F32E-1E2E94726EA4}"/>
                    </a:ext>
                  </a:extLst>
                </p:cNvPr>
                <p:cNvSpPr/>
                <p:nvPr/>
              </p:nvSpPr>
              <p:spPr>
                <a:xfrm>
                  <a:off x="8871492" y="5912559"/>
                  <a:ext cx="45719" cy="57563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9DE3B04E-4DC6-12D0-296F-E1B1F0D92A78}"/>
                  </a:ext>
                </a:extLst>
              </p:cNvPr>
              <p:cNvSpPr/>
              <p:nvPr/>
            </p:nvSpPr>
            <p:spPr>
              <a:xfrm rot="6203823">
                <a:off x="8251711" y="4791355"/>
                <a:ext cx="1361368" cy="1324209"/>
              </a:xfrm>
              <a:prstGeom prst="arc">
                <a:avLst>
                  <a:gd name="adj1" fmla="val 18391004"/>
                  <a:gd name="adj2" fmla="val 1162027"/>
                </a:avLst>
              </a:prstGeom>
              <a:ln w="19050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n w="38100">
                    <a:solidFill>
                      <a:schemeClr val="tx1"/>
                    </a:solidFill>
                  </a:ln>
                </a:endParaRP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96B3404F-DC08-9BCB-22E1-D98CA91828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68589" y="5684578"/>
                <a:ext cx="28823" cy="37953"/>
              </a:xfrm>
              <a:prstGeom prst="straightConnector1">
                <a:avLst/>
              </a:prstGeom>
              <a:ln w="190500">
                <a:solidFill>
                  <a:schemeClr val="tx1"/>
                </a:solidFill>
                <a:tailEnd type="triangle"/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A1777178-B34D-7435-7C18-2179B738F1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23969" y="5886773"/>
                <a:ext cx="61412" cy="42264"/>
              </a:xfrm>
              <a:prstGeom prst="straightConnector1">
                <a:avLst/>
              </a:prstGeom>
              <a:ln w="190500">
                <a:solidFill>
                  <a:schemeClr val="tx1"/>
                </a:solidFill>
                <a:tailEnd type="triangle"/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A9400354-7064-E009-457E-58CA384F6A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40522" y="6108835"/>
                <a:ext cx="188303" cy="429694"/>
              </a:xfrm>
              <a:prstGeom prst="straightConnector1">
                <a:avLst/>
              </a:prstGeom>
              <a:ln w="127000">
                <a:solidFill>
                  <a:schemeClr val="accent4">
                    <a:lumMod val="75000"/>
                  </a:schemeClr>
                </a:solidFill>
                <a:tailEnd type="triangle"/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273F711-D83F-5631-3FEF-46A36C8626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2153" y="5405586"/>
                <a:ext cx="12341" cy="448809"/>
              </a:xfrm>
              <a:prstGeom prst="straightConnector1">
                <a:avLst/>
              </a:prstGeom>
              <a:ln w="190500">
                <a:solidFill>
                  <a:schemeClr val="accent4">
                    <a:lumMod val="50000"/>
                  </a:schemeClr>
                </a:solidFill>
                <a:tailEnd type="triangle"/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B750F4-FCFD-981F-B599-DA581C79E5C0}"/>
                  </a:ext>
                </a:extLst>
              </p:cNvPr>
              <p:cNvSpPr txBox="1"/>
              <p:nvPr/>
            </p:nvSpPr>
            <p:spPr>
              <a:xfrm>
                <a:off x="8709899" y="5624877"/>
                <a:ext cx="914815" cy="340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4"/>
                    </a:solidFill>
                    <a:cs typeface="Adobe Arabic" panose="02040503050201020203" pitchFamily="18" charset="-78"/>
                  </a:rPr>
                  <a:t>Shear Stress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F5E290-7A7E-C676-158E-C972AAF810F8}"/>
                  </a:ext>
                </a:extLst>
              </p:cNvPr>
              <p:cNvSpPr txBox="1"/>
              <p:nvPr/>
            </p:nvSpPr>
            <p:spPr>
              <a:xfrm>
                <a:off x="8420323" y="5119363"/>
                <a:ext cx="1419398" cy="340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  <a:cs typeface="Adobe Arabic" panose="02040503050201020203" pitchFamily="18" charset="-78"/>
                  </a:rPr>
                  <a:t>Pressure </a:t>
                </a:r>
              </a:p>
              <a:p>
                <a:pPr algn="ctr"/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  <a:cs typeface="Adobe Arabic" panose="02040503050201020203" pitchFamily="18" charset="-78"/>
                  </a:rPr>
                  <a:t>(Normal Stress)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B0F9F6-3BC6-F43D-C395-B0094B60259B}"/>
                  </a:ext>
                </a:extLst>
              </p:cNvPr>
              <p:cNvSpPr txBox="1"/>
              <p:nvPr/>
            </p:nvSpPr>
            <p:spPr>
              <a:xfrm>
                <a:off x="8631033" y="6191193"/>
                <a:ext cx="846721" cy="1925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cs typeface="Adobe Arabic" panose="02040503050201020203" pitchFamily="18" charset="-78"/>
                  </a:rPr>
                  <a:t>Stretching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1141C8A-8956-5008-88F1-495C9D433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7254" y="5852214"/>
                <a:ext cx="485816" cy="89526"/>
              </a:xfrm>
              <a:prstGeom prst="straightConnector1">
                <a:avLst/>
              </a:prstGeom>
              <a:ln w="190500">
                <a:solidFill>
                  <a:schemeClr val="accent4">
                    <a:lumMod val="60000"/>
                    <a:lumOff val="40000"/>
                  </a:schemeClr>
                </a:solidFill>
                <a:tailEnd type="triangle"/>
              </a:ln>
              <a:scene3d>
                <a:camera prst="isometricOffAxis2Top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552FD5B3-9D41-2DCD-6679-9D55C890C452}"/>
              </a:ext>
            </a:extLst>
          </p:cNvPr>
          <p:cNvSpPr txBox="1"/>
          <p:nvPr/>
        </p:nvSpPr>
        <p:spPr>
          <a:xfrm>
            <a:off x="6612594" y="4273365"/>
            <a:ext cx="148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cs typeface="Adobe Hebrew" panose="02040503050201020203" pitchFamily="18" charset="-79"/>
              </a:rPr>
              <a:t>~2.5cm</a:t>
            </a:r>
            <a:endParaRPr lang="en-US" sz="1800" b="1" i="1" dirty="0">
              <a:cs typeface="Adobe Hebrew" panose="02040503050201020203" pitchFamily="18" charset="-79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D51C1F7-404B-93D6-04CE-DC574DE8A1EA}"/>
              </a:ext>
            </a:extLst>
          </p:cNvPr>
          <p:cNvSpPr txBox="1"/>
          <p:nvPr/>
        </p:nvSpPr>
        <p:spPr>
          <a:xfrm>
            <a:off x="11558493" y="652833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4/40</a:t>
            </a:r>
          </a:p>
        </p:txBody>
      </p:sp>
    </p:spTree>
    <p:extLst>
      <p:ext uri="{BB962C8B-B14F-4D97-AF65-F5344CB8AC3E}">
        <p14:creationId xmlns:p14="http://schemas.microsoft.com/office/powerpoint/2010/main" val="103132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C29F5-5F9B-9B4A-12E7-3E036F49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9E3388-299A-E82D-84D1-7A5611EC24B4}"/>
                  </a:ext>
                </a:extLst>
              </p14:cNvPr>
              <p14:cNvContentPartPr/>
              <p14:nvPr/>
            </p14:nvContentPartPr>
            <p14:xfrm>
              <a:off x="5488104" y="1627560"/>
              <a:ext cx="216" cy="216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9E3388-299A-E82D-84D1-7A5611EC24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4432" y="1623888"/>
                <a:ext cx="7560" cy="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B81116-25FA-21BB-080F-F701F2968F47}"/>
                  </a:ext>
                </a:extLst>
              </p14:cNvPr>
              <p14:cNvContentPartPr/>
              <p14:nvPr/>
            </p14:nvContentPartPr>
            <p14:xfrm>
              <a:off x="5641896" y="1739880"/>
              <a:ext cx="7344" cy="3888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B81116-25FA-21BB-080F-F701F2968F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35951" y="1733871"/>
                <a:ext cx="19234" cy="159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74528B1-81A8-1910-A443-8E0F706D1510}"/>
                  </a:ext>
                </a:extLst>
              </p14:cNvPr>
              <p14:cNvContentPartPr/>
              <p14:nvPr/>
            </p14:nvContentPartPr>
            <p14:xfrm>
              <a:off x="5259144" y="6170256"/>
              <a:ext cx="216" cy="3456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74528B1-81A8-1910-A443-8E0F706D151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55472" y="6164381"/>
                <a:ext cx="7560" cy="15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0FC266E-5D95-EBC6-A5B3-037EC6763C67}"/>
                  </a:ext>
                </a:extLst>
              </p14:cNvPr>
              <p14:cNvContentPartPr/>
              <p14:nvPr/>
            </p14:nvContentPartPr>
            <p14:xfrm>
              <a:off x="5922264" y="6583464"/>
              <a:ext cx="7344" cy="3672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0FC266E-5D95-EBC6-A5B3-037EC6763C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16319" y="6577789"/>
                <a:ext cx="19234" cy="15022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 descr="Diagram of a diagram of a flow&#10;&#10;AI-generated content may be incorrect.">
            <a:extLst>
              <a:ext uri="{FF2B5EF4-FFF2-40B4-BE49-F238E27FC236}">
                <a16:creationId xmlns:a16="http://schemas.microsoft.com/office/drawing/2014/main" id="{E57AD9A0-E6FF-5777-DBC7-FF5BEC926B8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94253" y="270864"/>
            <a:ext cx="9056068" cy="5657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40F19D3-45A8-B4E6-D6C7-8011C5DED22F}"/>
              </a:ext>
            </a:extLst>
          </p:cNvPr>
          <p:cNvSpPr/>
          <p:nvPr/>
        </p:nvSpPr>
        <p:spPr>
          <a:xfrm>
            <a:off x="8847786" y="1107583"/>
            <a:ext cx="2002535" cy="360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Stretching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81AA48-0F7B-2D23-2054-897A3885CB52}"/>
              </a:ext>
            </a:extLst>
          </p:cNvPr>
          <p:cNvSpPr txBox="1"/>
          <p:nvPr/>
        </p:nvSpPr>
        <p:spPr>
          <a:xfrm>
            <a:off x="11435062" y="6542543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19/40</a:t>
            </a:r>
          </a:p>
        </p:txBody>
      </p:sp>
    </p:spTree>
    <p:extLst>
      <p:ext uri="{BB962C8B-B14F-4D97-AF65-F5344CB8AC3E}">
        <p14:creationId xmlns:p14="http://schemas.microsoft.com/office/powerpoint/2010/main" val="802180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5FE4EF48-393A-977D-3659-BB1BEAE215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71" r="8900" b="67437"/>
          <a:stretch>
            <a:fillRect/>
          </a:stretch>
        </p:blipFill>
        <p:spPr>
          <a:xfrm>
            <a:off x="0" y="3283673"/>
            <a:ext cx="11916585" cy="30872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D2535A-510C-4F4F-1189-E56364939DB6}"/>
              </a:ext>
            </a:extLst>
          </p:cNvPr>
          <p:cNvSpPr txBox="1"/>
          <p:nvPr/>
        </p:nvSpPr>
        <p:spPr>
          <a:xfrm>
            <a:off x="275415" y="346105"/>
            <a:ext cx="30716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 is</a:t>
            </a:r>
            <a:br>
              <a:rPr lang="en-US" dirty="0"/>
            </a:br>
            <a:r>
              <a:rPr lang="en-US" dirty="0"/>
              <a:t> similar as before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Lubrication problem </a:t>
            </a:r>
            <a:br>
              <a:rPr lang="en-US" dirty="0"/>
            </a:br>
            <a:r>
              <a:rPr lang="en-US" dirty="0"/>
              <a:t>due to Hele-Shaw cell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EEB6B-6E5E-9809-30EC-8832E42280AB}"/>
              </a:ext>
            </a:extLst>
          </p:cNvPr>
          <p:cNvSpPr txBox="1"/>
          <p:nvPr/>
        </p:nvSpPr>
        <p:spPr>
          <a:xfrm>
            <a:off x="2702417" y="3574726"/>
            <a:ext cx="29798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Transverse Flow: Leading Order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202F16-3A57-DB37-95B4-1BCE70E933B8}"/>
              </a:ext>
            </a:extLst>
          </p:cNvPr>
          <p:cNvSpPr txBox="1"/>
          <p:nvPr/>
        </p:nvSpPr>
        <p:spPr>
          <a:xfrm>
            <a:off x="11435062" y="6488668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20/40</a:t>
            </a:r>
          </a:p>
        </p:txBody>
      </p:sp>
      <p:pic>
        <p:nvPicPr>
          <p:cNvPr id="13" name="Picture 12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0BB36336-6E18-82DD-9824-2994FF6DB8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1921"/>
          <a:stretch>
            <a:fillRect/>
          </a:stretch>
        </p:blipFill>
        <p:spPr>
          <a:xfrm>
            <a:off x="6641137" y="346105"/>
            <a:ext cx="5027189" cy="10705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F27B58-D3C5-6D82-5985-57FC7D5857CD}"/>
              </a:ext>
            </a:extLst>
          </p:cNvPr>
          <p:cNvSpPr txBox="1"/>
          <p:nvPr/>
        </p:nvSpPr>
        <p:spPr>
          <a:xfrm>
            <a:off x="3037268" y="84095"/>
            <a:ext cx="61174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Moving lower boundary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Longitudinal flow is </a:t>
            </a:r>
            <a:br>
              <a:rPr lang="en-US" dirty="0"/>
            </a:br>
            <a:r>
              <a:rPr lang="en-US" dirty="0"/>
              <a:t>uncoupled </a:t>
            </a:r>
          </a:p>
        </p:txBody>
      </p:sp>
    </p:spTree>
    <p:extLst>
      <p:ext uri="{BB962C8B-B14F-4D97-AF65-F5344CB8AC3E}">
        <p14:creationId xmlns:p14="http://schemas.microsoft.com/office/powerpoint/2010/main" val="17882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C096F-1A51-C919-3149-6709E91B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rawing of a rectangular object&#10;&#10;AI-generated content may be incorrect.">
            <a:extLst>
              <a:ext uri="{FF2B5EF4-FFF2-40B4-BE49-F238E27FC236}">
                <a16:creationId xmlns:a16="http://schemas.microsoft.com/office/drawing/2014/main" id="{CE2F3924-AD37-9517-8889-080E4AB552B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1315" y="2744678"/>
            <a:ext cx="6669200" cy="3832367"/>
          </a:xfrm>
          <a:prstGeom prst="rect">
            <a:avLst/>
          </a:prstGeom>
        </p:spPr>
      </p:pic>
      <p:pic>
        <p:nvPicPr>
          <p:cNvPr id="8" name="Picture 7" descr="A blue and red piece of equipment&#10;&#10;AI-generated content may be incorrect.">
            <a:extLst>
              <a:ext uri="{FF2B5EF4-FFF2-40B4-BE49-F238E27FC236}">
                <a16:creationId xmlns:a16="http://schemas.microsoft.com/office/drawing/2014/main" id="{D096A977-6710-24E4-9C5F-B8B1EFD1289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8377" y="9701"/>
            <a:ext cx="6729349" cy="44234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70BBE-D96B-DBE9-0098-227286FBB7EE}"/>
              </a:ext>
            </a:extLst>
          </p:cNvPr>
          <p:cNvCxnSpPr>
            <a:cxnSpLocks/>
          </p:cNvCxnSpPr>
          <p:nvPr/>
        </p:nvCxnSpPr>
        <p:spPr>
          <a:xfrm>
            <a:off x="1894574" y="4990339"/>
            <a:ext cx="176157" cy="1293856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E9AB6F-E50F-FEA7-FBAB-98CB47B8A359}"/>
              </a:ext>
            </a:extLst>
          </p:cNvPr>
          <p:cNvCxnSpPr>
            <a:cxnSpLocks/>
          </p:cNvCxnSpPr>
          <p:nvPr/>
        </p:nvCxnSpPr>
        <p:spPr>
          <a:xfrm flipH="1">
            <a:off x="4114398" y="6288632"/>
            <a:ext cx="586941" cy="34807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F9C76E-2F2D-CBBD-7674-9C613F23B7B0}"/>
              </a:ext>
            </a:extLst>
          </p:cNvPr>
          <p:cNvCxnSpPr>
            <a:cxnSpLocks/>
          </p:cNvCxnSpPr>
          <p:nvPr/>
        </p:nvCxnSpPr>
        <p:spPr>
          <a:xfrm flipH="1">
            <a:off x="2677216" y="6323439"/>
            <a:ext cx="1443713" cy="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07A3CE-A164-24AB-4680-5C88613D0C22}"/>
              </a:ext>
            </a:extLst>
          </p:cNvPr>
          <p:cNvCxnSpPr>
            <a:cxnSpLocks/>
          </p:cNvCxnSpPr>
          <p:nvPr/>
        </p:nvCxnSpPr>
        <p:spPr>
          <a:xfrm>
            <a:off x="2070731" y="6284195"/>
            <a:ext cx="606485" cy="39245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0F289E-4C34-7DB5-CDC6-F73E11EEB792}"/>
              </a:ext>
            </a:extLst>
          </p:cNvPr>
          <p:cNvCxnSpPr>
            <a:cxnSpLocks/>
          </p:cNvCxnSpPr>
          <p:nvPr/>
        </p:nvCxnSpPr>
        <p:spPr>
          <a:xfrm flipH="1">
            <a:off x="4701338" y="5015465"/>
            <a:ext cx="182880" cy="126873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0FC8C59-4904-F4C8-AED9-DB587E63C734}"/>
              </a:ext>
            </a:extLst>
          </p:cNvPr>
          <p:cNvCxnSpPr>
            <a:cxnSpLocks/>
          </p:cNvCxnSpPr>
          <p:nvPr/>
        </p:nvCxnSpPr>
        <p:spPr>
          <a:xfrm flipH="1">
            <a:off x="4906066" y="4824708"/>
            <a:ext cx="1244831" cy="142771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6B2B041-3C46-EEB0-8373-881741BEA452}"/>
              </a:ext>
            </a:extLst>
          </p:cNvPr>
          <p:cNvCxnSpPr>
            <a:cxnSpLocks/>
          </p:cNvCxnSpPr>
          <p:nvPr/>
        </p:nvCxnSpPr>
        <p:spPr>
          <a:xfrm flipH="1" flipV="1">
            <a:off x="622312" y="4824708"/>
            <a:ext cx="1272262" cy="165631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4AA2252-FB7C-C8A4-922B-DBB33B79FAC7}"/>
              </a:ext>
            </a:extLst>
          </p:cNvPr>
          <p:cNvCxnSpPr>
            <a:cxnSpLocks/>
          </p:cNvCxnSpPr>
          <p:nvPr/>
        </p:nvCxnSpPr>
        <p:spPr>
          <a:xfrm>
            <a:off x="5693104" y="4678368"/>
            <a:ext cx="457793" cy="944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61C9ECA-F345-413A-40D7-58C3857D89CC}"/>
              </a:ext>
            </a:extLst>
          </p:cNvPr>
          <p:cNvSpPr txBox="1"/>
          <p:nvPr/>
        </p:nvSpPr>
        <p:spPr>
          <a:xfrm>
            <a:off x="4128907" y="4444979"/>
            <a:ext cx="1835759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dirty="0"/>
              <a:t>Membrane Holder on Motor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7AD85E9-A76B-C98C-21E2-C404AFD87238}"/>
              </a:ext>
            </a:extLst>
          </p:cNvPr>
          <p:cNvCxnSpPr>
            <a:cxnSpLocks/>
          </p:cNvCxnSpPr>
          <p:nvPr/>
        </p:nvCxnSpPr>
        <p:spPr>
          <a:xfrm flipH="1">
            <a:off x="1982652" y="5035045"/>
            <a:ext cx="439666" cy="253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B143FB9-DFBD-B075-BC87-C0467AD82CB8}"/>
              </a:ext>
            </a:extLst>
          </p:cNvPr>
          <p:cNvSpPr txBox="1"/>
          <p:nvPr/>
        </p:nvSpPr>
        <p:spPr>
          <a:xfrm>
            <a:off x="2428697" y="4896094"/>
            <a:ext cx="1789272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dirty="0"/>
              <a:t>Membrane Through Device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A3F56B0-C4FD-0415-7D97-EAA7EC726A47}"/>
              </a:ext>
            </a:extLst>
          </p:cNvPr>
          <p:cNvSpPr txBox="1"/>
          <p:nvPr/>
        </p:nvSpPr>
        <p:spPr>
          <a:xfrm>
            <a:off x="0" y="23854"/>
            <a:ext cx="117852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Orthogonal View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3B14DD5-860C-15B6-5818-ACF1F315E243}"/>
              </a:ext>
            </a:extLst>
          </p:cNvPr>
          <p:cNvSpPr txBox="1"/>
          <p:nvPr/>
        </p:nvSpPr>
        <p:spPr>
          <a:xfrm>
            <a:off x="1" y="6599468"/>
            <a:ext cx="1967205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Transverse of Flow Slice View 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DCA6035-0D9E-59DD-E632-C60C80430489}"/>
              </a:ext>
            </a:extLst>
          </p:cNvPr>
          <p:cNvCxnSpPr>
            <a:cxnSpLocks/>
          </p:cNvCxnSpPr>
          <p:nvPr/>
        </p:nvCxnSpPr>
        <p:spPr>
          <a:xfrm flipH="1">
            <a:off x="3924676" y="1471263"/>
            <a:ext cx="296505" cy="69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E9C1D6E-107D-763C-FA31-44E5AE553068}"/>
              </a:ext>
            </a:extLst>
          </p:cNvPr>
          <p:cNvSpPr txBox="1"/>
          <p:nvPr/>
        </p:nvSpPr>
        <p:spPr>
          <a:xfrm>
            <a:off x="3976478" y="1266390"/>
            <a:ext cx="746708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80" dirty="0"/>
              <a:t>Rollers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28E6A44-898E-2501-EFF0-B213F58E6EF2}"/>
              </a:ext>
            </a:extLst>
          </p:cNvPr>
          <p:cNvCxnSpPr>
            <a:cxnSpLocks/>
          </p:cNvCxnSpPr>
          <p:nvPr/>
        </p:nvCxnSpPr>
        <p:spPr>
          <a:xfrm flipH="1" flipV="1">
            <a:off x="1335358" y="3906134"/>
            <a:ext cx="965582" cy="278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202B25DA-430C-507C-FD82-76BE5C698995}"/>
              </a:ext>
            </a:extLst>
          </p:cNvPr>
          <p:cNvSpPr txBox="1"/>
          <p:nvPr/>
        </p:nvSpPr>
        <p:spPr>
          <a:xfrm>
            <a:off x="1772188" y="4179449"/>
            <a:ext cx="1987895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80" dirty="0"/>
              <a:t>Motors with Membrane Holder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27DB4DA-C099-D836-52CB-7F06DA503718}"/>
              </a:ext>
            </a:extLst>
          </p:cNvPr>
          <p:cNvSpPr txBox="1"/>
          <p:nvPr/>
        </p:nvSpPr>
        <p:spPr>
          <a:xfrm>
            <a:off x="4249305" y="3080888"/>
            <a:ext cx="46839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dirty="0"/>
              <a:t>Tank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343D44-A97F-3A1D-C0C3-C71D05DA3357}"/>
              </a:ext>
            </a:extLst>
          </p:cNvPr>
          <p:cNvSpPr/>
          <p:nvPr/>
        </p:nvSpPr>
        <p:spPr>
          <a:xfrm>
            <a:off x="2632652" y="6208469"/>
            <a:ext cx="1496255" cy="197264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80">
              <a:solidFill>
                <a:sysClr val="windowText" lastClr="00000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333AD7D-334F-1427-C3C4-70189A5589C9}"/>
              </a:ext>
            </a:extLst>
          </p:cNvPr>
          <p:cNvCxnSpPr>
            <a:cxnSpLocks/>
          </p:cNvCxnSpPr>
          <p:nvPr/>
        </p:nvCxnSpPr>
        <p:spPr>
          <a:xfrm flipH="1">
            <a:off x="4203555" y="6323440"/>
            <a:ext cx="1354555" cy="822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1E8AE95-E3BB-B103-5A6E-6B3EC23918FE}"/>
              </a:ext>
            </a:extLst>
          </p:cNvPr>
          <p:cNvSpPr txBox="1"/>
          <p:nvPr/>
        </p:nvSpPr>
        <p:spPr>
          <a:xfrm>
            <a:off x="5558110" y="5976539"/>
            <a:ext cx="111761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dirty="0"/>
              <a:t>Flow Chamber </a:t>
            </a:r>
          </a:p>
          <a:p>
            <a:r>
              <a:rPr lang="en-US" sz="1080" dirty="0"/>
              <a:t>with Membrane</a:t>
            </a:r>
          </a:p>
        </p:txBody>
      </p:sp>
      <p:pic>
        <p:nvPicPr>
          <p:cNvPr id="4" name="90D7E747-A96A-444D-936A-858F648C8477_CFA57385-2FD6-43F9-8813-5386052F352D.mp4">
            <a:hlinkClick r:id="" action="ppaction://media"/>
            <a:extLst>
              <a:ext uri="{FF2B5EF4-FFF2-40B4-BE49-F238E27FC236}">
                <a16:creationId xmlns:a16="http://schemas.microsoft.com/office/drawing/2014/main" id="{AE44AEC4-B258-A52A-B965-FE1D54E0BB9F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6771575" y="3847857"/>
            <a:ext cx="5402723" cy="3039032"/>
          </a:xfrm>
          <a:prstGeom prst="rect">
            <a:avLst/>
          </a:prstGeom>
        </p:spPr>
      </p:pic>
      <p:pic>
        <p:nvPicPr>
          <p:cNvPr id="5" name="Picture 4" descr="A plastic container with white paper rolls&#10;&#10;AI-generated content may be incorrect.">
            <a:extLst>
              <a:ext uri="{FF2B5EF4-FFF2-40B4-BE49-F238E27FC236}">
                <a16:creationId xmlns:a16="http://schemas.microsoft.com/office/drawing/2014/main" id="{FA165910-85F2-B3A1-B001-302BE6A2981E}"/>
              </a:ext>
            </a:extLst>
          </p:cNvPr>
          <p:cNvPicPr>
            <a:picLocks noChangeAspect="1"/>
          </p:cNvPicPr>
          <p:nvPr/>
        </p:nvPicPr>
        <p:blipFill>
          <a:blip/>
          <a:srcRect t="18310" b="13146"/>
          <a:stretch>
            <a:fillRect/>
          </a:stretch>
        </p:blipFill>
        <p:spPr>
          <a:xfrm>
            <a:off x="7389954" y="23854"/>
            <a:ext cx="4184141" cy="3824003"/>
          </a:xfrm>
          <a:prstGeom prst="rect">
            <a:avLst/>
          </a:prstGeom>
        </p:spPr>
      </p:pic>
      <p:pic>
        <p:nvPicPr>
          <p:cNvPr id="7" name="Picture 6" descr="A road with yellow lines&#10;&#10;AI-generated content may be incorrect.">
            <a:extLst>
              <a:ext uri="{FF2B5EF4-FFF2-40B4-BE49-F238E27FC236}">
                <a16:creationId xmlns:a16="http://schemas.microsoft.com/office/drawing/2014/main" id="{1F93170B-BFBF-E88D-378F-A133D240576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1315" y="2987894"/>
            <a:ext cx="11115332" cy="14449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A749C9A-9617-44CA-201B-D0F41FFD670E}"/>
              </a:ext>
            </a:extLst>
          </p:cNvPr>
          <p:cNvSpPr txBox="1"/>
          <p:nvPr/>
        </p:nvSpPr>
        <p:spPr>
          <a:xfrm>
            <a:off x="11372046" y="6392379"/>
            <a:ext cx="816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21/40</a:t>
            </a:r>
          </a:p>
        </p:txBody>
      </p:sp>
    </p:spTree>
    <p:extLst>
      <p:ext uri="{BB962C8B-B14F-4D97-AF65-F5344CB8AC3E}">
        <p14:creationId xmlns:p14="http://schemas.microsoft.com/office/powerpoint/2010/main" val="35703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4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20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A0CF-F7F6-EE02-98E1-A8449232C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A768535-B8EF-69D6-C302-D05E72A64B36}"/>
              </a:ext>
            </a:extLst>
          </p:cNvPr>
          <p:cNvGrpSpPr/>
          <p:nvPr/>
        </p:nvGrpSpPr>
        <p:grpSpPr>
          <a:xfrm>
            <a:off x="1018254" y="591670"/>
            <a:ext cx="10371406" cy="6010835"/>
            <a:chOff x="3613536" y="2177235"/>
            <a:chExt cx="5620993" cy="26362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9B3C61-2ED3-A21A-0CA7-66210F159429}"/>
                </a:ext>
              </a:extLst>
            </p:cNvPr>
            <p:cNvSpPr/>
            <p:nvPr/>
          </p:nvSpPr>
          <p:spPr>
            <a:xfrm>
              <a:off x="4218682" y="3429001"/>
              <a:ext cx="4050607" cy="7529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E44D879-AEBD-0385-6841-9493FDA20A6D}"/>
                </a:ext>
              </a:extLst>
            </p:cNvPr>
            <p:cNvSpPr/>
            <p:nvPr/>
          </p:nvSpPr>
          <p:spPr>
            <a:xfrm rot="5400000">
              <a:off x="3439071" y="3462830"/>
              <a:ext cx="915817" cy="8118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395918-CCCB-C618-E76F-7453A90DE9DB}"/>
                </a:ext>
              </a:extLst>
            </p:cNvPr>
            <p:cNvSpPr/>
            <p:nvPr/>
          </p:nvSpPr>
          <p:spPr>
            <a:xfrm rot="10800000">
              <a:off x="3896979" y="3045511"/>
              <a:ext cx="484052" cy="7464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30CAA20-855A-B26C-4A6A-6BE65A387EF9}"/>
                </a:ext>
              </a:extLst>
            </p:cNvPr>
            <p:cNvSpPr/>
            <p:nvPr/>
          </p:nvSpPr>
          <p:spPr>
            <a:xfrm rot="5400000">
              <a:off x="3758679" y="3559629"/>
              <a:ext cx="1153264" cy="9144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EE52948-D315-FF0A-42EC-CD751204AEAB}"/>
                </a:ext>
              </a:extLst>
            </p:cNvPr>
            <p:cNvSpPr/>
            <p:nvPr/>
          </p:nvSpPr>
          <p:spPr>
            <a:xfrm rot="10800000" flipV="1">
              <a:off x="3856391" y="3023118"/>
              <a:ext cx="100775" cy="11887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A73B4F5-EA0C-CE87-5773-6C2B3C56D170}"/>
                </a:ext>
              </a:extLst>
            </p:cNvPr>
            <p:cNvSpPr/>
            <p:nvPr/>
          </p:nvSpPr>
          <p:spPr>
            <a:xfrm rot="10800000" flipH="1">
              <a:off x="4269995" y="3023118"/>
              <a:ext cx="111036" cy="11887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C2A6A2F-F67B-028E-C95F-E4CF9E28AB52}"/>
                </a:ext>
              </a:extLst>
            </p:cNvPr>
            <p:cNvCxnSpPr>
              <a:cxnSpLocks/>
            </p:cNvCxnSpPr>
            <p:nvPr/>
          </p:nvCxnSpPr>
          <p:spPr>
            <a:xfrm>
              <a:off x="4984993" y="3435998"/>
              <a:ext cx="0" cy="43335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9B3A27E-3E03-9B81-5C9E-8B45F74EEF92}"/>
                </a:ext>
              </a:extLst>
            </p:cNvPr>
            <p:cNvCxnSpPr>
              <a:cxnSpLocks/>
            </p:cNvCxnSpPr>
            <p:nvPr/>
          </p:nvCxnSpPr>
          <p:spPr>
            <a:xfrm>
              <a:off x="7700897" y="3429000"/>
              <a:ext cx="0" cy="4403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3A6913F-6417-A475-62E8-74B40980266F}"/>
                </a:ext>
              </a:extLst>
            </p:cNvPr>
            <p:cNvSpPr/>
            <p:nvPr/>
          </p:nvSpPr>
          <p:spPr>
            <a:xfrm>
              <a:off x="3684504" y="3812489"/>
              <a:ext cx="416146" cy="33318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F2AFF67-B73B-22D7-E5A2-1A1A2E24F656}"/>
                </a:ext>
              </a:extLst>
            </p:cNvPr>
            <p:cNvGrpSpPr/>
            <p:nvPr/>
          </p:nvGrpSpPr>
          <p:grpSpPr>
            <a:xfrm>
              <a:off x="8269290" y="4054231"/>
              <a:ext cx="965239" cy="459077"/>
              <a:chOff x="7067940" y="6817564"/>
              <a:chExt cx="1608731" cy="76512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7AF1723-B62A-BF11-6AF2-295AA1F1B2C9}"/>
                  </a:ext>
                </a:extLst>
              </p:cNvPr>
              <p:cNvSpPr/>
              <p:nvPr/>
            </p:nvSpPr>
            <p:spPr>
              <a:xfrm rot="10800000">
                <a:off x="7067940" y="6826898"/>
                <a:ext cx="1149976" cy="1430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677FA85-190D-7AF2-158F-809AA3B75188}"/>
                  </a:ext>
                </a:extLst>
              </p:cNvPr>
              <p:cNvSpPr/>
              <p:nvPr/>
            </p:nvSpPr>
            <p:spPr>
              <a:xfrm>
                <a:off x="7759160" y="7430289"/>
                <a:ext cx="917511" cy="152403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8A261D2-F7BD-B7AE-B3B0-53C5C6CF4D70}"/>
                  </a:ext>
                </a:extLst>
              </p:cNvPr>
              <p:cNvSpPr/>
              <p:nvPr/>
            </p:nvSpPr>
            <p:spPr>
              <a:xfrm rot="5400000">
                <a:off x="7800386" y="7123927"/>
                <a:ext cx="746459" cy="152402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D837AD5-0745-F8F5-9105-750CFAB2F377}"/>
                  </a:ext>
                </a:extLst>
              </p:cNvPr>
              <p:cNvSpPr/>
              <p:nvPr/>
            </p:nvSpPr>
            <p:spPr>
              <a:xfrm rot="10800000" flipH="1" flipV="1">
                <a:off x="8097413" y="6817564"/>
                <a:ext cx="152402" cy="16173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466EC16-351F-DB71-2D7A-EDFDB8C0A9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3554" y="3860050"/>
              <a:ext cx="27173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6A0A625-79A1-F2A8-DEB9-9D0E3F4D94C8}"/>
                </a:ext>
              </a:extLst>
            </p:cNvPr>
            <p:cNvCxnSpPr/>
            <p:nvPr/>
          </p:nvCxnSpPr>
          <p:spPr>
            <a:xfrm>
              <a:off x="4984993" y="4022937"/>
              <a:ext cx="2715905" cy="0"/>
            </a:xfrm>
            <a:prstGeom prst="line">
              <a:avLst/>
            </a:prstGeom>
            <a:ln w="28575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27F0658-31BE-6967-81C2-692F3950FE27}"/>
                </a:ext>
              </a:extLst>
            </p:cNvPr>
            <p:cNvCxnSpPr/>
            <p:nvPr/>
          </p:nvCxnSpPr>
          <p:spPr>
            <a:xfrm flipH="1">
              <a:off x="7519277" y="2890826"/>
              <a:ext cx="288268" cy="9113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9D0F3EB-2EBC-72C6-32A3-A0D3F57E20CF}"/>
                </a:ext>
              </a:extLst>
            </p:cNvPr>
            <p:cNvSpPr txBox="1"/>
            <p:nvPr/>
          </p:nvSpPr>
          <p:spPr>
            <a:xfrm>
              <a:off x="7532905" y="2650508"/>
              <a:ext cx="1059906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80" dirty="0"/>
                <a:t>Flow Chamber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B3108CB-3A50-818F-800A-04E57300D0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8771" y="4074259"/>
              <a:ext cx="144134" cy="3933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F7EDD3F-BB01-93DD-E302-42EACF4FA42B}"/>
                </a:ext>
              </a:extLst>
            </p:cNvPr>
            <p:cNvSpPr txBox="1"/>
            <p:nvPr/>
          </p:nvSpPr>
          <p:spPr>
            <a:xfrm>
              <a:off x="7035696" y="4467587"/>
              <a:ext cx="833883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80" dirty="0"/>
                <a:t>Membrane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9A741CF-17AD-AEAE-7622-6B0FC8978CDA}"/>
                </a:ext>
              </a:extLst>
            </p:cNvPr>
            <p:cNvSpPr txBox="1"/>
            <p:nvPr/>
          </p:nvSpPr>
          <p:spPr>
            <a:xfrm>
              <a:off x="8717289" y="4554906"/>
              <a:ext cx="510076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80" dirty="0"/>
                <a:t>Drain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698900B-C5F2-B876-1DB9-0647988E6961}"/>
                </a:ext>
              </a:extLst>
            </p:cNvPr>
            <p:cNvSpPr txBox="1"/>
            <p:nvPr/>
          </p:nvSpPr>
          <p:spPr>
            <a:xfrm>
              <a:off x="3613536" y="4333307"/>
              <a:ext cx="537327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80" dirty="0"/>
                <a:t>Pump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0F9E9A0-5FDE-28BA-C30C-8F225A3831DC}"/>
                </a:ext>
              </a:extLst>
            </p:cNvPr>
            <p:cNvCxnSpPr>
              <a:cxnSpLocks/>
            </p:cNvCxnSpPr>
            <p:nvPr/>
          </p:nvCxnSpPr>
          <p:spPr>
            <a:xfrm>
              <a:off x="4869745" y="3916703"/>
              <a:ext cx="300446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80FC4A0-58B9-131A-A8E9-CF94B22811E0}"/>
                </a:ext>
              </a:extLst>
            </p:cNvPr>
            <p:cNvCxnSpPr>
              <a:cxnSpLocks/>
            </p:cNvCxnSpPr>
            <p:nvPr/>
          </p:nvCxnSpPr>
          <p:spPr>
            <a:xfrm>
              <a:off x="4878711" y="2552620"/>
              <a:ext cx="0" cy="1377877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0E4E4B9-0E8C-B9DB-0A82-E128C7472823}"/>
                </a:ext>
              </a:extLst>
            </p:cNvPr>
            <p:cNvCxnSpPr>
              <a:cxnSpLocks/>
            </p:cNvCxnSpPr>
            <p:nvPr/>
          </p:nvCxnSpPr>
          <p:spPr>
            <a:xfrm>
              <a:off x="4816807" y="3987845"/>
              <a:ext cx="300446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7E01C5C-BA20-9EE6-1C5C-F3DC772C6D95}"/>
                </a:ext>
              </a:extLst>
            </p:cNvPr>
            <p:cNvCxnSpPr>
              <a:cxnSpLocks/>
            </p:cNvCxnSpPr>
            <p:nvPr/>
          </p:nvCxnSpPr>
          <p:spPr>
            <a:xfrm>
              <a:off x="4825772" y="2552620"/>
              <a:ext cx="0" cy="1449019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7586370-B509-61CB-CB77-DEAFCA7402D1}"/>
                </a:ext>
              </a:extLst>
            </p:cNvPr>
            <p:cNvSpPr/>
            <p:nvPr/>
          </p:nvSpPr>
          <p:spPr>
            <a:xfrm>
              <a:off x="4618842" y="2177235"/>
              <a:ext cx="498410" cy="37538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Dye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4367B861-F5BA-0A4F-11BD-8D1D5B0B7FCD}"/>
                </a:ext>
              </a:extLst>
            </p:cNvPr>
            <p:cNvSpPr/>
            <p:nvPr/>
          </p:nvSpPr>
          <p:spPr>
            <a:xfrm>
              <a:off x="5461927" y="2724066"/>
              <a:ext cx="1460506" cy="20872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Camera</a:t>
              </a:r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57B19FEF-9AA2-26BE-C135-27AA1A1EA92F}"/>
                </a:ext>
              </a:extLst>
            </p:cNvPr>
            <p:cNvSpPr/>
            <p:nvPr/>
          </p:nvSpPr>
          <p:spPr>
            <a:xfrm>
              <a:off x="5736442" y="2942282"/>
              <a:ext cx="832855" cy="152120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9CFF5A7-97A5-7678-9AB2-5B1C05F52E8D}"/>
                </a:ext>
              </a:extLst>
            </p:cNvPr>
            <p:cNvCxnSpPr/>
            <p:nvPr/>
          </p:nvCxnSpPr>
          <p:spPr>
            <a:xfrm flipH="1">
              <a:off x="5654338" y="3112460"/>
              <a:ext cx="107581" cy="14985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E333CC5-407E-AE61-60F8-A509586C2C95}"/>
                </a:ext>
              </a:extLst>
            </p:cNvPr>
            <p:cNvCxnSpPr>
              <a:cxnSpLocks/>
            </p:cNvCxnSpPr>
            <p:nvPr/>
          </p:nvCxnSpPr>
          <p:spPr>
            <a:xfrm>
              <a:off x="6531626" y="3113882"/>
              <a:ext cx="112368" cy="1642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100EC6B-14DA-E2A5-D453-FFDA77FFF836}"/>
                </a:ext>
              </a:extLst>
            </p:cNvPr>
            <p:cNvCxnSpPr>
              <a:cxnSpLocks/>
            </p:cNvCxnSpPr>
            <p:nvPr/>
          </p:nvCxnSpPr>
          <p:spPr>
            <a:xfrm>
              <a:off x="4983553" y="3863893"/>
              <a:ext cx="0" cy="318088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A6BC9F5-C67C-7FC0-9125-72DA044D6DE8}"/>
                </a:ext>
              </a:extLst>
            </p:cNvPr>
            <p:cNvCxnSpPr>
              <a:cxnSpLocks/>
            </p:cNvCxnSpPr>
            <p:nvPr/>
          </p:nvCxnSpPr>
          <p:spPr>
            <a:xfrm>
              <a:off x="7700897" y="3877382"/>
              <a:ext cx="0" cy="318088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F006658-46C5-314E-C2BC-235262414DCC}"/>
                </a:ext>
              </a:extLst>
            </p:cNvPr>
            <p:cNvSpPr txBox="1"/>
            <p:nvPr/>
          </p:nvSpPr>
          <p:spPr>
            <a:xfrm>
              <a:off x="7866053" y="3494549"/>
              <a:ext cx="468398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80" dirty="0"/>
                <a:t>Tank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CA10511-E30C-9497-C648-11F551915A74}"/>
                </a:ext>
              </a:extLst>
            </p:cNvPr>
            <p:cNvSpPr/>
            <p:nvPr/>
          </p:nvSpPr>
          <p:spPr>
            <a:xfrm>
              <a:off x="3684504" y="3262311"/>
              <a:ext cx="490205" cy="3753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Flow Meter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99C911D-E86D-D9B6-8373-EB4DD45CDF28}"/>
              </a:ext>
            </a:extLst>
          </p:cNvPr>
          <p:cNvSpPr txBox="1"/>
          <p:nvPr/>
        </p:nvSpPr>
        <p:spPr>
          <a:xfrm>
            <a:off x="11389660" y="6528339"/>
            <a:ext cx="92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22/40</a:t>
            </a:r>
          </a:p>
        </p:txBody>
      </p:sp>
    </p:spTree>
    <p:extLst>
      <p:ext uri="{BB962C8B-B14F-4D97-AF65-F5344CB8AC3E}">
        <p14:creationId xmlns:p14="http://schemas.microsoft.com/office/powerpoint/2010/main" val="4254081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B12A6-F052-4E2F-AB25-94763F17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_1652_ABED9A95-AC76-48FD-B566-0B7728600041.mp4">
            <a:hlinkClick r:id="" action="ppaction://media"/>
            <a:extLst>
              <a:ext uri="{FF2B5EF4-FFF2-40B4-BE49-F238E27FC236}">
                <a16:creationId xmlns:a16="http://schemas.microsoft.com/office/drawing/2014/main" id="{D0E99009-F4F9-A260-95A5-D2614977A98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>
                  <p14:trim st="30615.7256"/>
                </p14:media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1869824" y="334851"/>
            <a:ext cx="2611072" cy="6523150"/>
          </a:xfrm>
          <a:prstGeom prst="rect">
            <a:avLst/>
          </a:prstGeom>
        </p:spPr>
      </p:pic>
      <p:pic>
        <p:nvPicPr>
          <p:cNvPr id="2" name="IMG_1651_78CAB241-4149-402A-9349-CA1A831E80FA.mp4">
            <a:hlinkClick r:id="" action="ppaction://media"/>
            <a:extLst>
              <a:ext uri="{FF2B5EF4-FFF2-40B4-BE49-F238E27FC236}">
                <a16:creationId xmlns:a16="http://schemas.microsoft.com/office/drawing/2014/main" id="{A4E7F03B-579F-B67B-13BE-810377DFA0B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>
                  <p14:trim st="34544.8339"/>
                </p14:media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4766002" y="334851"/>
            <a:ext cx="2659995" cy="6523149"/>
          </a:xfrm>
          <a:prstGeom prst="rect">
            <a:avLst/>
          </a:prstGeom>
        </p:spPr>
      </p:pic>
      <p:pic>
        <p:nvPicPr>
          <p:cNvPr id="5" name="IMG_1649_F37C913A-2142-441C-940A-BCD3B4E7F167.mp4">
            <a:hlinkClick r:id="" action="ppaction://media"/>
            <a:extLst>
              <a:ext uri="{FF2B5EF4-FFF2-40B4-BE49-F238E27FC236}">
                <a16:creationId xmlns:a16="http://schemas.microsoft.com/office/drawing/2014/main" id="{4973B78A-32E3-FACC-D7F9-D1A357D4765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>
                  <p14:trim st="6495.2511"/>
                </p14:media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7938305" y="334850"/>
            <a:ext cx="2693819" cy="6523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DFDC57-2213-64CB-27D3-85DF22952554}"/>
              </a:ext>
            </a:extLst>
          </p:cNvPr>
          <p:cNvSpPr txBox="1"/>
          <p:nvPr/>
        </p:nvSpPr>
        <p:spPr>
          <a:xfrm>
            <a:off x="2775779" y="8708"/>
            <a:ext cx="1002112" cy="326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71" b="1" u="sng" dirty="0">
                <a:solidFill>
                  <a:srgbClr val="0070C0"/>
                </a:solidFill>
              </a:rPr>
              <a:t>Upper Dye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82268F-1F95-D24C-E36B-0ECAE885C6B3}"/>
              </a:ext>
            </a:extLst>
          </p:cNvPr>
          <p:cNvSpPr txBox="1"/>
          <p:nvPr/>
        </p:nvSpPr>
        <p:spPr>
          <a:xfrm>
            <a:off x="5700040" y="23424"/>
            <a:ext cx="998281" cy="326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71" b="1" u="sng" dirty="0">
                <a:solidFill>
                  <a:srgbClr val="FF0000"/>
                </a:solidFill>
              </a:rPr>
              <a:t>Lower Dye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28D25-12A5-4B27-2C4E-2E060B113B6B}"/>
              </a:ext>
            </a:extLst>
          </p:cNvPr>
          <p:cNvSpPr txBox="1"/>
          <p:nvPr/>
        </p:nvSpPr>
        <p:spPr>
          <a:xfrm>
            <a:off x="8787989" y="23424"/>
            <a:ext cx="736099" cy="2571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71" b="1" u="sng" dirty="0"/>
              <a:t>Together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748CF7-9258-98F7-7C62-D3AC39DD1B0B}"/>
              </a:ext>
            </a:extLst>
          </p:cNvPr>
          <p:cNvCxnSpPr>
            <a:cxnSpLocks/>
          </p:cNvCxnSpPr>
          <p:nvPr/>
        </p:nvCxnSpPr>
        <p:spPr>
          <a:xfrm>
            <a:off x="3881130" y="3996813"/>
            <a:ext cx="0" cy="1106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52990D-93EB-F57C-335A-473627EB6D5E}"/>
              </a:ext>
            </a:extLst>
          </p:cNvPr>
          <p:cNvCxnSpPr>
            <a:cxnSpLocks/>
          </p:cNvCxnSpPr>
          <p:nvPr/>
        </p:nvCxnSpPr>
        <p:spPr>
          <a:xfrm>
            <a:off x="6698321" y="3996813"/>
            <a:ext cx="0" cy="11626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D8AA43-F89E-DDBD-6498-8243AB6809A4}"/>
              </a:ext>
            </a:extLst>
          </p:cNvPr>
          <p:cNvCxnSpPr>
            <a:cxnSpLocks/>
          </p:cNvCxnSpPr>
          <p:nvPr/>
        </p:nvCxnSpPr>
        <p:spPr>
          <a:xfrm>
            <a:off x="9932886" y="3996813"/>
            <a:ext cx="0" cy="11626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540400-3A04-B9B6-E872-F58664940327}"/>
              </a:ext>
            </a:extLst>
          </p:cNvPr>
          <p:cNvSpPr txBox="1"/>
          <p:nvPr/>
        </p:nvSpPr>
        <p:spPr>
          <a:xfrm>
            <a:off x="11500834" y="6528339"/>
            <a:ext cx="814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23/40</a:t>
            </a:r>
          </a:p>
        </p:txBody>
      </p:sp>
    </p:spTree>
    <p:extLst>
      <p:ext uri="{BB962C8B-B14F-4D97-AF65-F5344CB8AC3E}">
        <p14:creationId xmlns:p14="http://schemas.microsoft.com/office/powerpoint/2010/main" val="241952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7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65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55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26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8DF3F-D386-F0E3-3A4B-E8EF394AA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D189FEC-D8AD-3E9D-26A0-AEE5B5EB9272}"/>
              </a:ext>
            </a:extLst>
          </p:cNvPr>
          <p:cNvGrpSpPr/>
          <p:nvPr/>
        </p:nvGrpSpPr>
        <p:grpSpPr>
          <a:xfrm>
            <a:off x="233516" y="0"/>
            <a:ext cx="11100231" cy="5775158"/>
            <a:chOff x="2146270" y="1722998"/>
            <a:chExt cx="7958951" cy="4541857"/>
          </a:xfrm>
        </p:grpSpPr>
        <p:pic>
          <p:nvPicPr>
            <p:cNvPr id="10" name="Picture 9" descr="A white board with black dots and red lines&#10;&#10;AI-generated content may be incorrect.">
              <a:extLst>
                <a:ext uri="{FF2B5EF4-FFF2-40B4-BE49-F238E27FC236}">
                  <a16:creationId xmlns:a16="http://schemas.microsoft.com/office/drawing/2014/main" id="{3FA2F242-AC7B-6D60-71B9-4BC49E8A5304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t="1654"/>
            <a:stretch>
              <a:fillRect/>
            </a:stretch>
          </p:blipFill>
          <p:spPr>
            <a:xfrm flipV="1">
              <a:off x="2333982" y="2210414"/>
              <a:ext cx="1201220" cy="300277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DFB66C-426E-FF35-A3CB-3E59EB812A0E}"/>
                </a:ext>
              </a:extLst>
            </p:cNvPr>
            <p:cNvSpPr/>
            <p:nvPr/>
          </p:nvSpPr>
          <p:spPr>
            <a:xfrm>
              <a:off x="2333982" y="3562738"/>
              <a:ext cx="1201220" cy="58366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DE96A2-8195-FBFC-3216-2986F2B4E7CA}"/>
                </a:ext>
              </a:extLst>
            </p:cNvPr>
            <p:cNvSpPr/>
            <p:nvPr/>
          </p:nvSpPr>
          <p:spPr>
            <a:xfrm>
              <a:off x="2333982" y="3711897"/>
              <a:ext cx="1201220" cy="8351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1E3FA3-619F-00D4-3CB6-33CE3D2C7704}"/>
                </a:ext>
              </a:extLst>
            </p:cNvPr>
            <p:cNvSpPr/>
            <p:nvPr/>
          </p:nvSpPr>
          <p:spPr>
            <a:xfrm>
              <a:off x="2333982" y="3857016"/>
              <a:ext cx="1201220" cy="8351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730F60-A42E-3B08-1158-BB603F61D419}"/>
                </a:ext>
              </a:extLst>
            </p:cNvPr>
            <p:cNvSpPr/>
            <p:nvPr/>
          </p:nvSpPr>
          <p:spPr>
            <a:xfrm>
              <a:off x="2333982" y="4002135"/>
              <a:ext cx="1201220" cy="58366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D00944-FF2B-0AD4-23F0-E7C9EDE42BF3}"/>
                </a:ext>
              </a:extLst>
            </p:cNvPr>
            <p:cNvSpPr/>
            <p:nvPr/>
          </p:nvSpPr>
          <p:spPr>
            <a:xfrm>
              <a:off x="2333982" y="4151352"/>
              <a:ext cx="1201220" cy="58366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9E2A08D-63D9-5526-62EB-F3FAFE41D9B7}"/>
                </a:ext>
              </a:extLst>
            </p:cNvPr>
            <p:cNvSpPr/>
            <p:nvPr/>
          </p:nvSpPr>
          <p:spPr>
            <a:xfrm>
              <a:off x="2333982" y="4293200"/>
              <a:ext cx="1201220" cy="58366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CA6662C-82C6-E614-2610-E6C024FF3749}"/>
                </a:ext>
              </a:extLst>
            </p:cNvPr>
            <p:cNvSpPr txBox="1"/>
            <p:nvPr/>
          </p:nvSpPr>
          <p:spPr>
            <a:xfrm>
              <a:off x="4805189" y="1938248"/>
              <a:ext cx="72808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u="sng" dirty="0"/>
                <a:t>Reference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2429C40-8508-6BEE-45A0-1F78587788DA}"/>
                </a:ext>
              </a:extLst>
            </p:cNvPr>
            <p:cNvSpPr txBox="1"/>
            <p:nvPr/>
          </p:nvSpPr>
          <p:spPr>
            <a:xfrm>
              <a:off x="6683262" y="1928502"/>
              <a:ext cx="7344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u="sng" dirty="0">
                  <a:solidFill>
                    <a:srgbClr val="0070C0"/>
                  </a:solidFill>
                </a:rPr>
                <a:t>Upper Dye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F0967A-9032-AD39-9192-430399D455BA}"/>
                </a:ext>
              </a:extLst>
            </p:cNvPr>
            <p:cNvSpPr txBox="1"/>
            <p:nvPr/>
          </p:nvSpPr>
          <p:spPr>
            <a:xfrm>
              <a:off x="8739177" y="1938248"/>
              <a:ext cx="73289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u="sng" dirty="0">
                  <a:solidFill>
                    <a:srgbClr val="FF0000"/>
                  </a:solidFill>
                </a:rPr>
                <a:t>Lower Dye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B8E493-386D-D6F2-28A6-D63B6B67800E}"/>
                </a:ext>
              </a:extLst>
            </p:cNvPr>
            <p:cNvSpPr txBox="1"/>
            <p:nvPr/>
          </p:nvSpPr>
          <p:spPr>
            <a:xfrm>
              <a:off x="2428776" y="1995805"/>
              <a:ext cx="11528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u="sng" dirty="0"/>
                <a:t>For a Single Frame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30B0DAD-6ED9-06B4-BF35-6486B6953534}"/>
                </a:ext>
              </a:extLst>
            </p:cNvPr>
            <p:cNvCxnSpPr/>
            <p:nvPr/>
          </p:nvCxnSpPr>
          <p:spPr>
            <a:xfrm>
              <a:off x="2333982" y="5390065"/>
              <a:ext cx="1201220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EB83308-9448-2786-0118-096B377A4CA8}"/>
                </a:ext>
              </a:extLst>
            </p:cNvPr>
            <p:cNvSpPr txBox="1"/>
            <p:nvPr/>
          </p:nvSpPr>
          <p:spPr>
            <a:xfrm>
              <a:off x="2666474" y="5459330"/>
              <a:ext cx="5870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100 mm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D2A862F-E8B4-0D01-04C2-AB8ADF5D30A9}"/>
                </a:ext>
              </a:extLst>
            </p:cNvPr>
            <p:cNvSpPr txBox="1"/>
            <p:nvPr/>
          </p:nvSpPr>
          <p:spPr>
            <a:xfrm>
              <a:off x="5809042" y="1776666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Single </a:t>
              </a:r>
              <a:br>
                <a:rPr lang="en-US" sz="900" dirty="0"/>
              </a:br>
              <a:r>
                <a:rPr lang="en-US" sz="900" dirty="0"/>
                <a:t>Cycle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30CE9AB-C1CF-6B26-0896-8C541DC5A72B}"/>
                </a:ext>
              </a:extLst>
            </p:cNvPr>
            <p:cNvSpPr txBox="1"/>
            <p:nvPr/>
          </p:nvSpPr>
          <p:spPr>
            <a:xfrm>
              <a:off x="2146270" y="1722998"/>
              <a:ext cx="2792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a)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9DBD43C-4A0C-CC9C-E4A4-5EFE1BF84200}"/>
                </a:ext>
              </a:extLst>
            </p:cNvPr>
            <p:cNvSpPr txBox="1"/>
            <p:nvPr/>
          </p:nvSpPr>
          <p:spPr>
            <a:xfrm flipH="1">
              <a:off x="3900285" y="1753582"/>
              <a:ext cx="6476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b)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8813174-E99E-9D4A-28A0-37F8F98944C3}"/>
                </a:ext>
              </a:extLst>
            </p:cNvPr>
            <p:cNvCxnSpPr/>
            <p:nvPr/>
          </p:nvCxnSpPr>
          <p:spPr>
            <a:xfrm>
              <a:off x="2333982" y="5310341"/>
              <a:ext cx="0" cy="1489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Picture 2" descr="A black and white image of a column&#10;&#10;AI-generated content may be incorrect.">
              <a:extLst>
                <a:ext uri="{FF2B5EF4-FFF2-40B4-BE49-F238E27FC236}">
                  <a16:creationId xmlns:a16="http://schemas.microsoft.com/office/drawing/2014/main" id="{7AB65E97-DCBC-D7F1-23B3-FAFD66414FD9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l="19324" t="8421" r="29008"/>
            <a:stretch>
              <a:fillRect/>
            </a:stretch>
          </p:blipFill>
          <p:spPr>
            <a:xfrm>
              <a:off x="8105391" y="2190420"/>
              <a:ext cx="1999830" cy="4074435"/>
            </a:xfrm>
            <a:prstGeom prst="rect">
              <a:avLst/>
            </a:prstGeom>
          </p:spPr>
        </p:pic>
        <p:pic>
          <p:nvPicPr>
            <p:cNvPr id="13" name="Picture 12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D03CCE63-4CCD-78D8-8AED-C7774EB48683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t="9203" r="88251"/>
            <a:stretch>
              <a:fillRect/>
            </a:stretch>
          </p:blipFill>
          <p:spPr>
            <a:xfrm>
              <a:off x="3874335" y="2120008"/>
              <a:ext cx="456578" cy="4055980"/>
            </a:xfrm>
            <a:prstGeom prst="rect">
              <a:avLst/>
            </a:prstGeom>
          </p:spPr>
        </p:pic>
        <p:pic>
          <p:nvPicPr>
            <p:cNvPr id="22" name="Picture 21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D68126AE-FA45-0C1A-3EB5-4864343D33AE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l="26677" t="8789" r="26399"/>
            <a:stretch>
              <a:fillRect/>
            </a:stretch>
          </p:blipFill>
          <p:spPr>
            <a:xfrm>
              <a:off x="6137809" y="2190419"/>
              <a:ext cx="1823567" cy="4074435"/>
            </a:xfrm>
            <a:prstGeom prst="rect">
              <a:avLst/>
            </a:prstGeom>
          </p:spPr>
        </p:pic>
        <p:pic>
          <p:nvPicPr>
            <p:cNvPr id="25" name="Picture 24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63070823-B955-F2D3-ADCD-389345F75B7F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l="32612" t="9203" r="29464"/>
            <a:stretch>
              <a:fillRect/>
            </a:stretch>
          </p:blipFill>
          <p:spPr>
            <a:xfrm>
              <a:off x="4423557" y="2190419"/>
              <a:ext cx="1473807" cy="4055980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9D9FEF9-3FAF-66F3-E6DF-958810192D82}"/>
                </a:ext>
              </a:extLst>
            </p:cNvPr>
            <p:cNvCxnSpPr>
              <a:cxnSpLocks/>
            </p:cNvCxnSpPr>
            <p:nvPr/>
          </p:nvCxnSpPr>
          <p:spPr>
            <a:xfrm>
              <a:off x="5016988" y="2409523"/>
              <a:ext cx="490564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69E1F29-973C-B8E8-313B-D1D654B4BA20}"/>
                </a:ext>
              </a:extLst>
            </p:cNvPr>
            <p:cNvCxnSpPr>
              <a:cxnSpLocks/>
            </p:cNvCxnSpPr>
            <p:nvPr/>
          </p:nvCxnSpPr>
          <p:spPr>
            <a:xfrm>
              <a:off x="5016988" y="2679757"/>
              <a:ext cx="490564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36C71FF-2954-3228-BAE6-C20AC27329B4}"/>
                </a:ext>
              </a:extLst>
            </p:cNvPr>
            <p:cNvCxnSpPr/>
            <p:nvPr/>
          </p:nvCxnSpPr>
          <p:spPr>
            <a:xfrm>
              <a:off x="6137810" y="2148466"/>
              <a:ext cx="232145" cy="1743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3F921A1-8FDC-D9B3-6745-7BDB467A97E5}"/>
              </a:ext>
            </a:extLst>
          </p:cNvPr>
          <p:cNvSpPr txBox="1"/>
          <p:nvPr/>
        </p:nvSpPr>
        <p:spPr>
          <a:xfrm>
            <a:off x="11449318" y="6528339"/>
            <a:ext cx="86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24/40</a:t>
            </a:r>
          </a:p>
        </p:txBody>
      </p:sp>
      <p:pic>
        <p:nvPicPr>
          <p:cNvPr id="7" name="Picture 6" descr="A close-up of a label&#10;&#10;AI-generated content may be incorrect.">
            <a:extLst>
              <a:ext uri="{FF2B5EF4-FFF2-40B4-BE49-F238E27FC236}">
                <a16:creationId xmlns:a16="http://schemas.microsoft.com/office/drawing/2014/main" id="{61782207-57F5-A440-AD87-AC5A6D83C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634" y="5553311"/>
            <a:ext cx="5042946" cy="1304689"/>
          </a:xfrm>
          <a:prstGeom prst="rect">
            <a:avLst/>
          </a:prstGeom>
        </p:spPr>
      </p:pic>
      <p:pic>
        <p:nvPicPr>
          <p:cNvPr id="9" name="Picture 8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EB9E37CB-CEA3-3C4C-A480-B36D47D2CC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2574"/>
          <a:stretch>
            <a:fillRect/>
          </a:stretch>
        </p:blipFill>
        <p:spPr>
          <a:xfrm>
            <a:off x="110158" y="5566132"/>
            <a:ext cx="4250539" cy="89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6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CEDFC3B-10FE-EFA2-53A8-BC9F6678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7" y="1581183"/>
            <a:ext cx="10515600" cy="3245341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Book Antiqua" panose="02040602050305030304" pitchFamily="18" charset="0"/>
              </a:rPr>
              <a:t>Part 2</a:t>
            </a:r>
            <a:r>
              <a:rPr lang="en-US" sz="4400" dirty="0">
                <a:latin typeface="Book Antiqua" panose="02040602050305030304" pitchFamily="18" charset="0"/>
              </a:rPr>
              <a:t>: Cerebrospinal Fluid (CSF) </a:t>
            </a:r>
            <a:r>
              <a:rPr lang="en-US" dirty="0">
                <a:latin typeface="Book Antiqua" panose="02040602050305030304" pitchFamily="18" charset="0"/>
              </a:rPr>
              <a:t>Transport and Noninvasive Flow Quantification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10D92-43BD-25BD-FD97-7481EF198680}"/>
              </a:ext>
            </a:extLst>
          </p:cNvPr>
          <p:cNvSpPr txBox="1"/>
          <p:nvPr/>
        </p:nvSpPr>
        <p:spPr>
          <a:xfrm>
            <a:off x="11462197" y="6528339"/>
            <a:ext cx="85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25/40</a:t>
            </a:r>
          </a:p>
        </p:txBody>
      </p:sp>
    </p:spTree>
    <p:extLst>
      <p:ext uri="{BB962C8B-B14F-4D97-AF65-F5344CB8AC3E}">
        <p14:creationId xmlns:p14="http://schemas.microsoft.com/office/powerpoint/2010/main" val="199014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15E27-D20F-33C4-5291-546CD506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296" y="-112968"/>
            <a:ext cx="3215826" cy="1325563"/>
          </a:xfrm>
        </p:spPr>
        <p:txBody>
          <a:bodyPr/>
          <a:lstStyle/>
          <a:p>
            <a:r>
              <a:rPr lang="en-US" dirty="0">
                <a:latin typeface="LM Roman 10"/>
              </a:rPr>
              <a:t>Introduction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FB57A3-843F-73D4-F03C-63244FB6A0E7}"/>
              </a:ext>
            </a:extLst>
          </p:cNvPr>
          <p:cNvSpPr txBox="1"/>
          <p:nvPr/>
        </p:nvSpPr>
        <p:spPr>
          <a:xfrm>
            <a:off x="575187" y="1069937"/>
            <a:ext cx="40351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2400" b="1" u="sng" dirty="0">
                <a:solidFill>
                  <a:prstClr val="black"/>
                </a:solidFill>
                <a:latin typeface="LM Roman 10" pitchFamily="2" charset="77"/>
              </a:rPr>
              <a:t>Cerebrospinal Fluid (CSF)</a:t>
            </a:r>
          </a:p>
          <a:p>
            <a:pPr defTabSz="914377">
              <a:defRPr/>
            </a:pPr>
            <a:r>
              <a:rPr lang="en-US" sz="2400" dirty="0">
                <a:solidFill>
                  <a:prstClr val="black"/>
                </a:solidFill>
                <a:latin typeface="LM Roman 10" pitchFamily="2" charset="77"/>
              </a:rPr>
              <a:t>The entire surface of central nervous system is bathed by a clear, colorless fluid called </a:t>
            </a:r>
            <a:r>
              <a:rPr lang="en-US" sz="2400" dirty="0">
                <a:solidFill>
                  <a:srgbClr val="FF0000"/>
                </a:solidFill>
                <a:latin typeface="LM Roman 10" pitchFamily="2" charset="77"/>
              </a:rPr>
              <a:t>cerebrospinal fluid (CSF).</a:t>
            </a:r>
            <a:endParaRPr lang="en-US" sz="2400" u="sng" dirty="0">
              <a:solidFill>
                <a:prstClr val="black"/>
              </a:solidFill>
              <a:latin typeface="LM Roman 10" pitchFamily="2" charset="77"/>
            </a:endParaRPr>
          </a:p>
        </p:txBody>
      </p:sp>
      <p:pic>
        <p:nvPicPr>
          <p:cNvPr id="9" name="Content Placeholder 8" descr="CDR766316-750.jpg">
            <a:extLst>
              <a:ext uri="{FF2B5EF4-FFF2-40B4-BE49-F238E27FC236}">
                <a16:creationId xmlns:a16="http://schemas.microsoft.com/office/drawing/2014/main" id="{E373945B-8D98-BDFA-7F27-A28AC34B6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743" y="156752"/>
            <a:ext cx="4528482" cy="604334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5341C5-C62A-D3FD-1ADD-BDE8DF13A909}"/>
              </a:ext>
            </a:extLst>
          </p:cNvPr>
          <p:cNvCxnSpPr>
            <a:cxnSpLocks/>
          </p:cNvCxnSpPr>
          <p:nvPr/>
        </p:nvCxnSpPr>
        <p:spPr>
          <a:xfrm flipV="1">
            <a:off x="7532016" y="1536516"/>
            <a:ext cx="1913642" cy="7875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3E195C-6C1F-562B-39EE-F6018B9D200A}"/>
              </a:ext>
            </a:extLst>
          </p:cNvPr>
          <p:cNvCxnSpPr>
            <a:cxnSpLocks/>
          </p:cNvCxnSpPr>
          <p:nvPr/>
        </p:nvCxnSpPr>
        <p:spPr>
          <a:xfrm flipV="1">
            <a:off x="7532016" y="3354310"/>
            <a:ext cx="1984208" cy="746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72F129-197B-AF28-6253-1D1EDA468509}"/>
              </a:ext>
            </a:extLst>
          </p:cNvPr>
          <p:cNvCxnSpPr>
            <a:cxnSpLocks/>
          </p:cNvCxnSpPr>
          <p:nvPr/>
        </p:nvCxnSpPr>
        <p:spPr>
          <a:xfrm>
            <a:off x="7645138" y="4685122"/>
            <a:ext cx="1800520" cy="8748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E98FEAD-764C-17A3-E2B6-AC0722D7E7E2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l="905" t="27579" r="88409" b="50910"/>
          <a:stretch/>
        </p:blipFill>
        <p:spPr>
          <a:xfrm>
            <a:off x="9681013" y="60390"/>
            <a:ext cx="1623432" cy="2169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7478D9-AD93-FF35-C9D0-48EC90B1533B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l="905" t="51272" r="88409" b="27217"/>
          <a:stretch/>
        </p:blipFill>
        <p:spPr>
          <a:xfrm>
            <a:off x="9686869" y="2273520"/>
            <a:ext cx="1617576" cy="21615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C9B9D51-B3B9-53B5-2205-78D01BFFF85E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l="905" t="75069" r="88409" b="3412"/>
          <a:stretch/>
        </p:blipFill>
        <p:spPr>
          <a:xfrm>
            <a:off x="9686869" y="4478825"/>
            <a:ext cx="1617576" cy="21623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0DA5CD9-CE62-F34A-5294-EE5B30C015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4379" y="3354310"/>
                <a:ext cx="5904456" cy="21358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25000" lnSpcReduction="20000"/>
              </a:bodyPr>
              <a:lstStyle>
                <a:lvl1pPr marL="0" indent="0" algn="l" defTabSz="822960" rtl="0" eaLnBrk="1" latinLnBrk="0" hangingPunct="1">
                  <a:lnSpc>
                    <a:spcPct val="90000"/>
                  </a:lnSpc>
                  <a:spcBef>
                    <a:spcPts val="900"/>
                  </a:spcBef>
                  <a:buFont typeface="Arial" panose="020B0604020202020204" pitchFamily="34" charset="0"/>
                  <a:buNone/>
                  <a:defRPr sz="2400" b="0" i="0" kern="1200">
                    <a:solidFill>
                      <a:schemeClr val="tx1"/>
                    </a:solidFill>
                    <a:latin typeface="LM Roman 10" pitchFamily="2" charset="77"/>
                    <a:ea typeface="+mn-ea"/>
                    <a:cs typeface="+mn-cs"/>
                  </a:defRPr>
                </a:lvl1pPr>
                <a:lvl2pPr marL="617220" indent="-205740" algn="l" defTabSz="82296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LM Roman 10" pitchFamily="2" charset="77"/>
                    <a:ea typeface="+mn-ea"/>
                    <a:cs typeface="+mn-cs"/>
                  </a:defRPr>
                </a:lvl2pPr>
                <a:lvl3pPr marL="1028700" indent="-205740" algn="l" defTabSz="82296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LM Roman 10" pitchFamily="2" charset="77"/>
                    <a:ea typeface="+mn-ea"/>
                    <a:cs typeface="+mn-cs"/>
                  </a:defRPr>
                </a:lvl3pPr>
                <a:lvl4pPr marL="1440180" indent="-205740" algn="l" defTabSz="82296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  <a:defRPr sz="1620" kern="1200">
                    <a:solidFill>
                      <a:schemeClr val="tx1"/>
                    </a:solidFill>
                    <a:latin typeface="LM Roman 10" pitchFamily="2" charset="77"/>
                    <a:ea typeface="+mn-ea"/>
                    <a:cs typeface="+mn-cs"/>
                  </a:defRPr>
                </a:lvl4pPr>
                <a:lvl5pPr marL="1851660" indent="-205740" algn="l" defTabSz="82296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  <a:defRPr sz="1620" kern="1200">
                    <a:solidFill>
                      <a:schemeClr val="tx1"/>
                    </a:solidFill>
                    <a:latin typeface="LM Roman 10" pitchFamily="2" charset="77"/>
                    <a:ea typeface="+mn-ea"/>
                    <a:cs typeface="+mn-cs"/>
                  </a:defRPr>
                </a:lvl5pPr>
                <a:lvl6pPr marL="2263140" indent="-205740" algn="l" defTabSz="82296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  <a:defRPr sz="162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674620" indent="-205740" algn="l" defTabSz="82296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  <a:defRPr sz="162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86100" indent="-205740" algn="l" defTabSz="82296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  <a:defRPr sz="162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97580" indent="-205740" algn="l" defTabSz="82296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  <a:defRPr sz="162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2939">
                  <a:buClr>
                    <a:srgbClr val="4472C4"/>
                  </a:buClr>
                  <a:defRPr/>
                </a:pPr>
                <a:r>
                  <a:rPr lang="en-US" sz="9600" b="1" u="sng" dirty="0">
                    <a:latin typeface="LM Roman 10"/>
                  </a:rPr>
                  <a:t>Properties:</a:t>
                </a:r>
              </a:p>
              <a:p>
                <a:pPr marL="171446" indent="-171446" defTabSz="822939">
                  <a:buClr>
                    <a:srgbClr val="4472C4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 sz="9600" dirty="0">
                    <a:solidFill>
                      <a:prstClr val="black"/>
                    </a:solidFill>
                    <a:latin typeface="LM Roman 10"/>
                  </a:rPr>
                  <a:t>CSF is a Newtonian fluid, </a:t>
                </a:r>
              </a:p>
              <a:p>
                <a:pPr marL="171446" indent="-171446" defTabSz="822939">
                  <a:buClr>
                    <a:srgbClr val="4472C4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 sz="9600" dirty="0">
                    <a:solidFill>
                      <a:prstClr val="black"/>
                    </a:solidFill>
                    <a:latin typeface="LM Roman 10"/>
                  </a:rPr>
                  <a:t>Viscosity and density at 37 C° </a:t>
                </a:r>
                <a14:m>
                  <m:oMath xmlns:m="http://schemas.openxmlformats.org/officeDocument/2006/math">
                    <m:r>
                      <a:rPr lang="es-ES" sz="9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≃</m:t>
                    </m:r>
                  </m:oMath>
                </a14:m>
                <a:r>
                  <a:rPr lang="en-US" sz="9600" dirty="0">
                    <a:solidFill>
                      <a:prstClr val="black"/>
                    </a:solidFill>
                    <a:latin typeface="LM Roman 10"/>
                  </a:rPr>
                  <a:t> water</a:t>
                </a:r>
              </a:p>
              <a:p>
                <a:pPr marL="171446" indent="-171446" defTabSz="822939">
                  <a:buClr>
                    <a:srgbClr val="4472C4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 sz="9600" dirty="0">
                    <a:solidFill>
                      <a:prstClr val="black"/>
                    </a:solidFill>
                    <a:latin typeface="LM Roman 10"/>
                  </a:rPr>
                  <a:t>A human adult has about 140-170 ml of CSF: </a:t>
                </a:r>
              </a:p>
              <a:p>
                <a:pPr marL="788651" lvl="1" indent="-171446" defTabSz="822939">
                  <a:spcBef>
                    <a:spcPts val="451"/>
                  </a:spcBef>
                  <a:buClr>
                    <a:srgbClr val="4472C4"/>
                  </a:buClr>
                  <a:defRPr/>
                </a:pPr>
                <a:r>
                  <a:rPr lang="en-US" sz="9600" dirty="0">
                    <a:solidFill>
                      <a:prstClr val="black"/>
                    </a:solidFill>
                    <a:latin typeface="LM Roman 10"/>
                  </a:rPr>
                  <a:t>30 ml are in the ventricles, </a:t>
                </a:r>
              </a:p>
              <a:p>
                <a:pPr marL="788651" lvl="1" indent="-171446" defTabSz="822939">
                  <a:spcBef>
                    <a:spcPts val="451"/>
                  </a:spcBef>
                  <a:buClr>
                    <a:srgbClr val="4472C4"/>
                  </a:buClr>
                  <a:defRPr/>
                </a:pPr>
                <a:r>
                  <a:rPr lang="en-US" sz="9600" dirty="0">
                    <a:solidFill>
                      <a:prstClr val="black"/>
                    </a:solidFill>
                    <a:latin typeface="LM Roman 10"/>
                  </a:rPr>
                  <a:t>70-80 ml in the cerebral SAS</a:t>
                </a:r>
              </a:p>
              <a:p>
                <a:pPr marL="788651" lvl="1" indent="-171446" defTabSz="822939">
                  <a:spcBef>
                    <a:spcPts val="451"/>
                  </a:spcBef>
                  <a:buClr>
                    <a:srgbClr val="4472C4"/>
                  </a:buClr>
                  <a:defRPr/>
                </a:pPr>
                <a:r>
                  <a:rPr lang="en-US" sz="9600" dirty="0">
                    <a:solidFill>
                      <a:srgbClr val="FF0000"/>
                    </a:solidFill>
                    <a:latin typeface="LM Roman 10"/>
                  </a:rPr>
                  <a:t>50 ml in the spinal SAS</a:t>
                </a:r>
                <a:r>
                  <a:rPr lang="en-US" sz="9600" dirty="0">
                    <a:solidFill>
                      <a:prstClr val="black"/>
                    </a:solidFill>
                    <a:latin typeface="LM Roman 10"/>
                  </a:rPr>
                  <a:t>.</a:t>
                </a:r>
              </a:p>
              <a:p>
                <a:pPr defTabSz="822939">
                  <a:buClr>
                    <a:srgbClr val="4472C4"/>
                  </a:buClr>
                  <a:defRPr/>
                </a:pPr>
                <a:endParaRPr lang="en-US" sz="1200" dirty="0">
                  <a:solidFill>
                    <a:prstClr val="black"/>
                  </a:solidFill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0DA5CD9-CE62-F34A-5294-EE5B30C0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79" y="3354310"/>
                <a:ext cx="5904456" cy="2135825"/>
              </a:xfrm>
              <a:prstGeom prst="rect">
                <a:avLst/>
              </a:prstGeom>
              <a:blipFill>
                <a:blip r:embed="rId5"/>
                <a:stretch>
                  <a:fillRect l="-1653" t="-6553" r="-1756" b="-20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AA075BA-04C9-3ABA-4B5A-4EA5FDE03BDE}"/>
              </a:ext>
            </a:extLst>
          </p:cNvPr>
          <p:cNvSpPr txBox="1"/>
          <p:nvPr/>
        </p:nvSpPr>
        <p:spPr>
          <a:xfrm>
            <a:off x="11475089" y="6528339"/>
            <a:ext cx="84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26/40</a:t>
            </a:r>
          </a:p>
        </p:txBody>
      </p:sp>
    </p:spTree>
    <p:extLst>
      <p:ext uri="{BB962C8B-B14F-4D97-AF65-F5344CB8AC3E}">
        <p14:creationId xmlns:p14="http://schemas.microsoft.com/office/powerpoint/2010/main" val="410500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CEDFC3B-10FE-EFA2-53A8-BC9F6678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7" y="1581183"/>
            <a:ext cx="10515600" cy="324534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Book Antiqua" panose="02040602050305030304" pitchFamily="18" charset="0"/>
              </a:rPr>
              <a:t>Chapter 3</a:t>
            </a:r>
            <a:r>
              <a:rPr lang="en-US" sz="5400" dirty="0">
                <a:latin typeface="Book Antiqua" panose="02040602050305030304" pitchFamily="18" charset="0"/>
              </a:rPr>
              <a:t>: Phantom Based Evaluation of Time-SLIP MRI for Measuring Spinal-Canal </a:t>
            </a:r>
            <a:r>
              <a:rPr lang="en-US" sz="5400" dirty="0" err="1">
                <a:latin typeface="Book Antiqua" panose="02040602050305030304" pitchFamily="18" charset="0"/>
              </a:rPr>
              <a:t>Lagrangian</a:t>
            </a:r>
            <a:r>
              <a:rPr lang="en-US" sz="5400" dirty="0">
                <a:latin typeface="Book Antiqua" panose="02040602050305030304" pitchFamily="18" charset="0"/>
              </a:rPr>
              <a:t> Drift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9585D-26E8-D4E7-B03C-9202FF62F0C8}"/>
              </a:ext>
            </a:extLst>
          </p:cNvPr>
          <p:cNvSpPr txBox="1"/>
          <p:nvPr/>
        </p:nvSpPr>
        <p:spPr>
          <a:xfrm>
            <a:off x="11513713" y="6528339"/>
            <a:ext cx="801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27/40</a:t>
            </a:r>
          </a:p>
        </p:txBody>
      </p:sp>
    </p:spTree>
    <p:extLst>
      <p:ext uri="{BB962C8B-B14F-4D97-AF65-F5344CB8AC3E}">
        <p14:creationId xmlns:p14="http://schemas.microsoft.com/office/powerpoint/2010/main" val="2513762640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BBD8-F2B3-ED86-FCA0-E184982E0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0429" y="2277"/>
            <a:ext cx="10515600" cy="1325563"/>
          </a:xfrm>
        </p:spPr>
        <p:txBody>
          <a:bodyPr>
            <a:normAutofit fontScale="90000"/>
          </a:bodyPr>
          <a:lstStyle/>
          <a:p>
            <a:pPr marL="0" marR="0" lvl="0" indent="0" defTabSz="4571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br>
              <a:rPr kumimoji="0" lang="en-US" sz="216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+mn-cs"/>
              </a:rPr>
            </a:br>
            <a:r>
              <a:rPr kumimoji="0" lang="en-US" sz="216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+mn-cs"/>
              </a:rPr>
              <a:t>		</a:t>
            </a:r>
            <a:r>
              <a:rPr lang="en-US" sz="4900" dirty="0">
                <a:latin typeface="LM Roman 10"/>
              </a:rPr>
              <a:t>Intrathecal Drug Delivery</a:t>
            </a:r>
            <a:br>
              <a:rPr kumimoji="0" 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0"/>
                <a:ea typeface="Palatino" pitchFamily="2" charset="77"/>
                <a:cs typeface="+mn-cs"/>
              </a:rPr>
            </a:br>
            <a:endParaRPr lang="en-US" sz="4900" dirty="0">
              <a:latin typeface="LM Roman 1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7017D7-6F74-AA88-D653-D01A3A3B1752}"/>
              </a:ext>
            </a:extLst>
          </p:cNvPr>
          <p:cNvSpPr txBox="1"/>
          <p:nvPr/>
        </p:nvSpPr>
        <p:spPr>
          <a:xfrm>
            <a:off x="21461" y="979885"/>
            <a:ext cx="68928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96"/>
            <a:r>
              <a:rPr lang="en-US" sz="2400" dirty="0">
                <a:solidFill>
                  <a:prstClr val="black"/>
                </a:solidFill>
                <a:latin typeface="LM Roman 10"/>
                <a:ea typeface="Palatino" pitchFamily="2" charset="77"/>
              </a:rPr>
              <a:t>Injection of drugs into the subarachnoid space</a:t>
            </a:r>
          </a:p>
          <a:p>
            <a:pPr defTabSz="457196"/>
            <a:endParaRPr lang="en-US" sz="2400" dirty="0">
              <a:solidFill>
                <a:prstClr val="black"/>
              </a:solidFill>
              <a:latin typeface="LM Roman 10"/>
              <a:ea typeface="Palatino" pitchFamily="2" charset="77"/>
            </a:endParaRPr>
          </a:p>
          <a:p>
            <a:pPr algn="ctr" defTabSz="457196"/>
            <a:r>
              <a:rPr lang="en-US" sz="2400" b="1" u="sng" dirty="0">
                <a:solidFill>
                  <a:prstClr val="black"/>
                </a:solidFill>
                <a:latin typeface="LM Roman 10"/>
                <a:ea typeface="Palatino" pitchFamily="2" charset="77"/>
              </a:rPr>
              <a:t>Injection methods:</a:t>
            </a:r>
          </a:p>
          <a:p>
            <a:pPr marL="285747" indent="-285747" algn="ctr" defTabSz="457196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LM Roman 10"/>
                <a:ea typeface="Palatino" pitchFamily="2" charset="77"/>
              </a:rPr>
              <a:t>Single dose</a:t>
            </a:r>
          </a:p>
          <a:p>
            <a:pPr marL="285747" indent="-285747" algn="ctr" defTabSz="457196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LM Roman 10"/>
                <a:ea typeface="Palatino" pitchFamily="2" charset="77"/>
              </a:rPr>
              <a:t>Continuous infusion</a:t>
            </a:r>
          </a:p>
          <a:p>
            <a:pPr algn="ctr" defTabSz="457196"/>
            <a:endParaRPr lang="en-US" sz="2400" dirty="0">
              <a:solidFill>
                <a:prstClr val="black"/>
              </a:solidFill>
              <a:latin typeface="LM Roman 10"/>
              <a:ea typeface="Palatino" pitchFamily="2" charset="77"/>
            </a:endParaRPr>
          </a:p>
          <a:p>
            <a:pPr algn="ctr" defTabSz="457196"/>
            <a:r>
              <a:rPr lang="en-US" sz="2400" b="1" u="sng" dirty="0">
                <a:solidFill>
                  <a:prstClr val="black"/>
                </a:solidFill>
                <a:latin typeface="LM Roman 10"/>
                <a:ea typeface="Palatino" pitchFamily="2" charset="77"/>
              </a:rPr>
              <a:t>Target locations:</a:t>
            </a:r>
          </a:p>
          <a:p>
            <a:pPr marL="285747" indent="-285747" algn="ctr" defTabSz="457196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LM Roman 10"/>
                <a:ea typeface="Palatino" pitchFamily="2" charset="77"/>
              </a:rPr>
              <a:t>Brain (chemotherapy)</a:t>
            </a:r>
          </a:p>
          <a:p>
            <a:pPr marL="285747" indent="-285747" algn="ctr" defTabSz="457196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LM Roman 10"/>
                <a:ea typeface="Palatino" pitchFamily="2" charset="77"/>
              </a:rPr>
              <a:t>Spine (spinal anesthesia)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EAE62C-908A-AD65-DB55-E180C81EE81B}"/>
                  </a:ext>
                </a:extLst>
              </p:cNvPr>
              <p:cNvSpPr txBox="1"/>
              <p:nvPr/>
            </p:nvSpPr>
            <p:spPr>
              <a:xfrm>
                <a:off x="1200159" y="4664803"/>
                <a:ext cx="4535411" cy="192232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 defTabSz="457196"/>
                <a:r>
                  <a:rPr lang="en-US" sz="1600" dirty="0">
                    <a:solidFill>
                      <a:prstClr val="black"/>
                    </a:solidFill>
                    <a:latin typeface="LM Roman 10"/>
                    <a:ea typeface="Palatino" pitchFamily="2" charset="77"/>
                  </a:rPr>
                  <a:t>Drug diffusivity: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z-Cyrl-AZ" sz="16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κ</m:t>
                    </m:r>
                    <m:r>
                      <a:rPr lang="en-US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5×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−10</m:t>
                        </m:r>
                      </m:sup>
                    </m:sSup>
                    <m:r>
                      <a:rPr 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16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600" dirty="0">
                  <a:solidFill>
                    <a:prstClr val="black"/>
                  </a:solidFill>
                  <a:latin typeface="LM Roman 10"/>
                  <a:ea typeface="Palatino" pitchFamily="2" charset="77"/>
                </a:endParaRPr>
              </a:p>
              <a:p>
                <a:pPr algn="ctr" defTabSz="457196"/>
                <a:endParaRPr lang="en-US" sz="1600" dirty="0">
                  <a:solidFill>
                    <a:prstClr val="black"/>
                  </a:solidFill>
                  <a:latin typeface="LM Roman 10"/>
                  <a:ea typeface="Palatino" pitchFamily="2" charset="77"/>
                </a:endParaRPr>
              </a:p>
              <a:p>
                <a:pPr algn="ctr" defTabSz="457196"/>
                <a:r>
                  <a:rPr lang="en-US" sz="1600" dirty="0">
                    <a:solidFill>
                      <a:prstClr val="black"/>
                    </a:solidFill>
                    <a:latin typeface="LM Roman 10"/>
                    <a:ea typeface="Palatino" pitchFamily="2" charset="77"/>
                  </a:rPr>
                  <a:t>Schmidt number: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Palatino" pitchFamily="2" charset="77"/>
                      </a:rPr>
                      <m:t>𝑆</m:t>
                    </m:r>
                    <m:r>
                      <a:rPr 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Palatino" pitchFamily="2" charset="77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az-Cyrl-AZ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κ</m:t>
                        </m:r>
                      </m:den>
                    </m:f>
                    <m:r>
                      <a:rPr lang="en-US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endParaRPr lang="en-US" sz="1600" dirty="0">
                  <a:solidFill>
                    <a:prstClr val="black"/>
                  </a:solidFill>
                  <a:latin typeface="LM Roman 10"/>
                  <a:ea typeface="Palatino" pitchFamily="2" charset="77"/>
                </a:endParaRPr>
              </a:p>
              <a:p>
                <a:pPr defTabSz="457196"/>
                <a:endParaRPr lang="en-US" sz="1600" dirty="0">
                  <a:solidFill>
                    <a:prstClr val="black"/>
                  </a:solidFill>
                  <a:latin typeface="LM Roman 10"/>
                  <a:ea typeface="Palatino" pitchFamily="2" charset="77"/>
                </a:endParaRPr>
              </a:p>
              <a:p>
                <a:pPr algn="ctr" defTabSz="457196"/>
                <a:r>
                  <a:rPr lang="en-US" sz="1600" dirty="0">
                    <a:solidFill>
                      <a:prstClr val="black"/>
                    </a:solidFill>
                    <a:latin typeface="LM Roman 10"/>
                    <a:ea typeface="Palatino" pitchFamily="2" charset="77"/>
                  </a:rPr>
                  <a:t>Drug density: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Drug</m:t>
                        </m:r>
                      </m:sub>
                    </m:sSub>
                    <m:r>
                      <a:rPr lang="en-US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0.99−1.03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r>
                      <a:rPr 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mL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LM Roman 10"/>
                    <a:ea typeface="Palatino" pitchFamily="2" charset="77"/>
                  </a:rPr>
                  <a:t> </a:t>
                </a:r>
              </a:p>
              <a:p>
                <a:pPr defTabSz="457196"/>
                <a:endParaRPr lang="en-US" sz="1600" dirty="0">
                  <a:solidFill>
                    <a:prstClr val="black"/>
                  </a:solidFill>
                  <a:latin typeface="LM Roman 10"/>
                  <a:ea typeface="Palatino" pitchFamily="2" charset="77"/>
                </a:endParaRPr>
              </a:p>
              <a:p>
                <a:pPr algn="ctr" defTabSz="457196"/>
                <a:r>
                  <a:rPr lang="en-US" sz="1600" dirty="0">
                    <a:solidFill>
                      <a:prstClr val="black"/>
                    </a:solidFill>
                    <a:latin typeface="LM Roman 10"/>
                    <a:ea typeface="Palatino" pitchFamily="2" charset="77"/>
                  </a:rPr>
                  <a:t>CSF Density: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CSF</m:t>
                        </m:r>
                      </m:sub>
                    </m:sSub>
                    <m:r>
                      <a:rPr 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=1.00059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r>
                      <a:rPr 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mL</m:t>
                    </m:r>
                  </m:oMath>
                </a14:m>
                <a:endParaRPr lang="en-US" sz="1600" dirty="0">
                  <a:solidFill>
                    <a:prstClr val="black"/>
                  </a:solidFill>
                  <a:latin typeface="LM Roman 10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EAE62C-908A-AD65-DB55-E180C81EE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159" y="4664803"/>
                <a:ext cx="4535411" cy="1922321"/>
              </a:xfrm>
              <a:prstGeom prst="rect">
                <a:avLst/>
              </a:prstGeom>
              <a:blipFill>
                <a:blip r:embed="rId3"/>
                <a:stretch>
                  <a:fillRect t="-312" b="-2181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24E2C09-2566-2C7B-6527-3E2CFE420832}"/>
              </a:ext>
            </a:extLst>
          </p:cNvPr>
          <p:cNvGrpSpPr/>
          <p:nvPr/>
        </p:nvGrpSpPr>
        <p:grpSpPr>
          <a:xfrm>
            <a:off x="6675514" y="9767"/>
            <a:ext cx="5318096" cy="6845956"/>
            <a:chOff x="1000707" y="1971348"/>
            <a:chExt cx="8860756" cy="1091121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0EDED2D-2AC6-D7F0-0872-906C6F331543}"/>
                </a:ext>
              </a:extLst>
            </p:cNvPr>
            <p:cNvGrpSpPr/>
            <p:nvPr/>
          </p:nvGrpSpPr>
          <p:grpSpPr>
            <a:xfrm>
              <a:off x="1271005" y="1971348"/>
              <a:ext cx="8590458" cy="10911212"/>
              <a:chOff x="1271005" y="1971348"/>
              <a:chExt cx="8590458" cy="10911212"/>
            </a:xfrm>
          </p:grpSpPr>
          <p:pic>
            <p:nvPicPr>
              <p:cNvPr id="7" name="CDR0000584707.jpg" descr="CDR0000584707.jpg">
                <a:extLst>
                  <a:ext uri="{FF2B5EF4-FFF2-40B4-BE49-F238E27FC236}">
                    <a16:creationId xmlns:a16="http://schemas.microsoft.com/office/drawing/2014/main" id="{4A3858F9-11A1-E060-734D-FB00A1630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rcRect t="4637" r="2839"/>
              <a:stretch/>
            </p:blipFill>
            <p:spPr>
              <a:xfrm>
                <a:off x="1271005" y="1971348"/>
                <a:ext cx="8590458" cy="10911212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8" name="Rectangle">
                <a:extLst>
                  <a:ext uri="{FF2B5EF4-FFF2-40B4-BE49-F238E27FC236}">
                    <a16:creationId xmlns:a16="http://schemas.microsoft.com/office/drawing/2014/main" id="{FA6033F6-74BF-9454-E785-C57F574B18A6}"/>
                  </a:ext>
                </a:extLst>
              </p:cNvPr>
              <p:cNvSpPr/>
              <p:nvPr/>
            </p:nvSpPr>
            <p:spPr>
              <a:xfrm>
                <a:off x="1701342" y="1971348"/>
                <a:ext cx="4948008" cy="5786765"/>
              </a:xfrm>
              <a:prstGeom prst="rect">
                <a:avLst/>
              </a:pr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4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dirty="0"/>
              </a:p>
            </p:txBody>
          </p:sp>
        </p:grp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86EEBCCD-6FCB-F5D4-1A9A-D9B0346A973C}"/>
                </a:ext>
              </a:extLst>
            </p:cNvPr>
            <p:cNvSpPr/>
            <p:nvPr/>
          </p:nvSpPr>
          <p:spPr>
            <a:xfrm>
              <a:off x="1000707" y="1971348"/>
              <a:ext cx="5857293" cy="772183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4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4" name="Rectangle">
            <a:extLst>
              <a:ext uri="{FF2B5EF4-FFF2-40B4-BE49-F238E27FC236}">
                <a16:creationId xmlns:a16="http://schemas.microsoft.com/office/drawing/2014/main" id="{FFA9B8CD-DA43-E1FC-2BF7-8D6436F057CD}"/>
              </a:ext>
            </a:extLst>
          </p:cNvPr>
          <p:cNvSpPr/>
          <p:nvPr/>
        </p:nvSpPr>
        <p:spPr>
          <a:xfrm>
            <a:off x="9741305" y="3422303"/>
            <a:ext cx="401163" cy="2087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4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5" name="Image" descr="Image">
            <a:extLst>
              <a:ext uri="{FF2B5EF4-FFF2-40B4-BE49-F238E27FC236}">
                <a16:creationId xmlns:a16="http://schemas.microsoft.com/office/drawing/2014/main" id="{9344A595-C2B6-9278-1450-4BF36B7E325F}"/>
              </a:ext>
            </a:extLst>
          </p:cNvPr>
          <p:cNvPicPr>
            <a:picLocks noChangeAspect="1"/>
          </p:cNvPicPr>
          <p:nvPr/>
        </p:nvPicPr>
        <p:blipFill>
          <a:blip/>
          <a:srcRect r="11086"/>
          <a:stretch>
            <a:fillRect/>
          </a:stretch>
        </p:blipFill>
        <p:spPr>
          <a:xfrm>
            <a:off x="6920110" y="405113"/>
            <a:ext cx="2906855" cy="3225671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Rectangle">
            <a:extLst>
              <a:ext uri="{FF2B5EF4-FFF2-40B4-BE49-F238E27FC236}">
                <a16:creationId xmlns:a16="http://schemas.microsoft.com/office/drawing/2014/main" id="{8EB3025E-C55E-B306-E241-8A8AF862046E}"/>
              </a:ext>
            </a:extLst>
          </p:cNvPr>
          <p:cNvSpPr/>
          <p:nvPr/>
        </p:nvSpPr>
        <p:spPr>
          <a:xfrm>
            <a:off x="10059627" y="122502"/>
            <a:ext cx="601954" cy="4571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4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0A85EF-8FBB-7164-624B-CCB999C753A1}"/>
              </a:ext>
            </a:extLst>
          </p:cNvPr>
          <p:cNvCxnSpPr>
            <a:cxnSpLocks/>
          </p:cNvCxnSpPr>
          <p:nvPr/>
        </p:nvCxnSpPr>
        <p:spPr>
          <a:xfrm>
            <a:off x="10142468" y="3433661"/>
            <a:ext cx="109538" cy="0"/>
          </a:xfrm>
          <a:prstGeom prst="line">
            <a:avLst/>
          </a:prstGeom>
          <a:ln w="12700">
            <a:solidFill>
              <a:srgbClr val="FCF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B1B0C71-B497-6471-599F-E39E02D49A37}"/>
              </a:ext>
            </a:extLst>
          </p:cNvPr>
          <p:cNvCxnSpPr>
            <a:cxnSpLocks/>
          </p:cNvCxnSpPr>
          <p:nvPr/>
        </p:nvCxnSpPr>
        <p:spPr>
          <a:xfrm>
            <a:off x="10360604" y="3432745"/>
            <a:ext cx="84283" cy="0"/>
          </a:xfrm>
          <a:prstGeom prst="line">
            <a:avLst/>
          </a:prstGeom>
          <a:ln w="12700">
            <a:solidFill>
              <a:srgbClr val="FCF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961815B-76C9-A328-79DA-E408D4985C46}"/>
              </a:ext>
            </a:extLst>
          </p:cNvPr>
          <p:cNvCxnSpPr>
            <a:cxnSpLocks/>
          </p:cNvCxnSpPr>
          <p:nvPr/>
        </p:nvCxnSpPr>
        <p:spPr>
          <a:xfrm>
            <a:off x="10252006" y="3436042"/>
            <a:ext cx="108598" cy="0"/>
          </a:xfrm>
          <a:prstGeom prst="line">
            <a:avLst/>
          </a:prstGeom>
          <a:ln w="12700">
            <a:solidFill>
              <a:srgbClr val="FAEB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F9169DE-21F9-2915-02DE-56B92DEDF13C}"/>
              </a:ext>
            </a:extLst>
          </p:cNvPr>
          <p:cNvCxnSpPr>
            <a:cxnSpLocks/>
          </p:cNvCxnSpPr>
          <p:nvPr/>
        </p:nvCxnSpPr>
        <p:spPr>
          <a:xfrm>
            <a:off x="10661581" y="158486"/>
            <a:ext cx="204787" cy="0"/>
          </a:xfrm>
          <a:prstGeom prst="line">
            <a:avLst/>
          </a:prstGeom>
          <a:ln>
            <a:solidFill>
              <a:srgbClr val="FDF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3790ED-69D9-C814-98AD-EDC64BAF1BF7}"/>
              </a:ext>
            </a:extLst>
          </p:cNvPr>
          <p:cNvSpPr txBox="1"/>
          <p:nvPr/>
        </p:nvSpPr>
        <p:spPr>
          <a:xfrm>
            <a:off x="11487955" y="6528339"/>
            <a:ext cx="827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28/40</a:t>
            </a:r>
          </a:p>
        </p:txBody>
      </p:sp>
    </p:spTree>
    <p:extLst>
      <p:ext uri="{BB962C8B-B14F-4D97-AF65-F5344CB8AC3E}">
        <p14:creationId xmlns:p14="http://schemas.microsoft.com/office/powerpoint/2010/main" val="97761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scillatory2">
            <a:hlinkClick r:id="" action="ppaction://media"/>
            <a:extLst>
              <a:ext uri="{FF2B5EF4-FFF2-40B4-BE49-F238E27FC236}">
                <a16:creationId xmlns:a16="http://schemas.microsoft.com/office/drawing/2014/main" id="{0EDF5C1C-6458-5A4A-D950-E2F57298125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1584980" y="705892"/>
            <a:ext cx="2039517" cy="263557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25972E81-476E-491E-68B6-825EDDB0165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4414" y="3069256"/>
            <a:ext cx="4000224" cy="2871955"/>
          </a:xfrm>
          <a:prstGeom prst="rect">
            <a:avLst/>
          </a:prstGeom>
        </p:spPr>
      </p:pic>
      <p:pic>
        <p:nvPicPr>
          <p:cNvPr id="10" name="oscillatory">
            <a:hlinkClick r:id="" action="ppaction://media"/>
            <a:extLst>
              <a:ext uri="{FF2B5EF4-FFF2-40B4-BE49-F238E27FC236}">
                <a16:creationId xmlns:a16="http://schemas.microsoft.com/office/drawing/2014/main" id="{C0FFCF66-AA8C-25DF-69BB-35896A6BC86F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7001940" y="2539476"/>
            <a:ext cx="3259425" cy="4212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3D10BEB-2568-8C8B-5C39-BC0546C0A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23" y="-244274"/>
            <a:ext cx="10515600" cy="1325563"/>
          </a:xfrm>
        </p:spPr>
        <p:txBody>
          <a:bodyPr/>
          <a:lstStyle/>
          <a:p>
            <a:r>
              <a:rPr lang="en-US" dirty="0">
                <a:latin typeface="LM Roman 10"/>
              </a:rPr>
              <a:t>Motion in the Spinal Canal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C21C5F46-BC3C-9354-7417-6A7E1EF40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/>
          <a:stretch>
            <a:fillRect/>
          </a:stretch>
        </p:blipFill>
        <p:spPr>
          <a:xfrm>
            <a:off x="5027589" y="890767"/>
            <a:ext cx="2129281" cy="5050444"/>
          </a:xfr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7DD4B28-FD47-445C-3DD8-1BA4CE035EAB}"/>
              </a:ext>
            </a:extLst>
          </p:cNvPr>
          <p:cNvSpPr/>
          <p:nvPr/>
        </p:nvSpPr>
        <p:spPr>
          <a:xfrm>
            <a:off x="6126530" y="3497146"/>
            <a:ext cx="413359" cy="7139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4"/>
          </a:p>
        </p:txBody>
      </p:sp>
      <p:cxnSp>
        <p:nvCxnSpPr>
          <p:cNvPr id="18" name="Conector angular 17">
            <a:extLst>
              <a:ext uri="{FF2B5EF4-FFF2-40B4-BE49-F238E27FC236}">
                <a16:creationId xmlns:a16="http://schemas.microsoft.com/office/drawing/2014/main" id="{FBD51F1D-8977-9DE8-4A68-54A3C78A50A0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539889" y="3854138"/>
            <a:ext cx="1477457" cy="1042185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3EFE837-D489-0065-641A-6618C4103E40}"/>
              </a:ext>
            </a:extLst>
          </p:cNvPr>
          <p:cNvSpPr txBox="1"/>
          <p:nvPr/>
        </p:nvSpPr>
        <p:spPr>
          <a:xfrm>
            <a:off x="9425047" y="3386266"/>
            <a:ext cx="2580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latin typeface="LM Roman 10" pitchFamily="2" charset="77"/>
              </a:rPr>
              <a:t>Fast oscillatory motion</a:t>
            </a:r>
          </a:p>
        </p:txBody>
      </p:sp>
      <p:pic>
        <p:nvPicPr>
          <p:cNvPr id="26" name="videoplayback.mp4">
            <a:hlinkClick r:id="" action="ppaction://media"/>
            <a:extLst>
              <a:ext uri="{FF2B5EF4-FFF2-40B4-BE49-F238E27FC236}">
                <a16:creationId xmlns:a16="http://schemas.microsoft.com/office/drawing/2014/main" id="{1D356AD3-803F-99ED-3DFD-86A85B9D429C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 rotWithShape="1">
          <a:blip/>
          <a:srcRect l="11771" r="8581"/>
          <a:stretch/>
        </p:blipFill>
        <p:spPr>
          <a:xfrm>
            <a:off x="7284495" y="706036"/>
            <a:ext cx="2862341" cy="2456542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4660552C-FF0A-13C9-644B-C0CB3678C9DD}"/>
              </a:ext>
            </a:extLst>
          </p:cNvPr>
          <p:cNvSpPr txBox="1"/>
          <p:nvPr/>
        </p:nvSpPr>
        <p:spPr>
          <a:xfrm>
            <a:off x="2362050" y="857051"/>
            <a:ext cx="2986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latin typeface="LM Roman 10" pitchFamily="2" charset="77"/>
              </a:rPr>
              <a:t>Slow drift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C0F252F9-2CE5-3212-9602-9F4BEDD3B642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3217883" y="1998961"/>
            <a:ext cx="2908647" cy="185517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9">
            <a:extLst>
              <a:ext uri="{FF2B5EF4-FFF2-40B4-BE49-F238E27FC236}">
                <a16:creationId xmlns:a16="http://schemas.microsoft.com/office/drawing/2014/main" id="{1BD3AFBE-B4E1-63DA-F39E-312B9205967F}"/>
              </a:ext>
            </a:extLst>
          </p:cNvPr>
          <p:cNvSpPr txBox="1"/>
          <p:nvPr/>
        </p:nvSpPr>
        <p:spPr>
          <a:xfrm>
            <a:off x="7443266" y="893851"/>
            <a:ext cx="257171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822960">
              <a:spcBef>
                <a:spcPts val="900"/>
              </a:spcBef>
              <a:buClr>
                <a:srgbClr val="4472C4"/>
              </a:buClr>
              <a:defRPr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M Roman 10" pitchFamily="2" charset="77"/>
                <a:ea typeface="Roboto" panose="02000000000000000000" pitchFamily="2" charset="0"/>
              </a:rPr>
              <a:t>Driven by </a:t>
            </a:r>
            <a:r>
              <a:rPr lang="en-US" sz="1600" dirty="0">
                <a:solidFill>
                  <a:srgbClr val="FF0000"/>
                </a:solidFill>
                <a:latin typeface="LM Roman 10" pitchFamily="2" charset="77"/>
                <a:ea typeface="Roboto" panose="02000000000000000000" pitchFamily="2" charset="0"/>
              </a:rPr>
              <a:t>cardiac</a:t>
            </a:r>
            <a:r>
              <a:rPr lang="en-US" sz="1600" dirty="0">
                <a:solidFill>
                  <a:schemeClr val="bg1"/>
                </a:solidFill>
                <a:latin typeface="LM Roman 10" pitchFamily="2" charset="77"/>
                <a:ea typeface="Roboto" panose="02000000000000000000" pitchFamily="2" charset="0"/>
              </a:rPr>
              <a:t> 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  <a:latin typeface="LM Roman 10" pitchFamily="2" charset="77"/>
                <a:ea typeface="Roboto" panose="02000000000000000000" pitchFamily="2" charset="0"/>
              </a:rPr>
              <a:t>and</a:t>
            </a:r>
            <a:r>
              <a:rPr lang="es-ES" sz="1600" dirty="0">
                <a:latin typeface="LM Roman 10" pitchFamily="2" charset="77"/>
                <a:ea typeface="Roboto" panose="02000000000000000000" pitchFamily="2" charset="0"/>
              </a:rPr>
              <a:t> </a:t>
            </a:r>
            <a:r>
              <a:rPr lang="es-ES" sz="1600" dirty="0" err="1">
                <a:solidFill>
                  <a:srgbClr val="00B0F0"/>
                </a:solidFill>
                <a:latin typeface="LM Roman 10" pitchFamily="2" charset="77"/>
                <a:ea typeface="Roboto" panose="02000000000000000000" pitchFamily="2" charset="0"/>
              </a:rPr>
              <a:t>respiratory</a:t>
            </a:r>
            <a:r>
              <a:rPr lang="es-ES" sz="1600" dirty="0">
                <a:solidFill>
                  <a:schemeClr val="bg1"/>
                </a:solidFill>
                <a:latin typeface="LM Roman 10" pitchFamily="2" charset="77"/>
                <a:ea typeface="Roboto" panose="02000000000000000000" pitchFamily="2" charset="0"/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  <a:latin typeface="LM Roman 10" pitchFamily="2" charset="77"/>
                <a:ea typeface="Roboto" panose="02000000000000000000" pitchFamily="2" charset="0"/>
              </a:rPr>
              <a:t>cycles</a:t>
            </a:r>
            <a:r>
              <a:rPr lang="es-ES" sz="1600" dirty="0">
                <a:latin typeface="LM Roman 10" pitchFamily="2" charset="77"/>
                <a:ea typeface="Roboto" panose="02000000000000000000" pitchFamily="2" charset="0"/>
              </a:rPr>
              <a:t> </a:t>
            </a:r>
            <a:endParaRPr lang="en-US" sz="1600" dirty="0">
              <a:latin typeface="LM Roman 10" pitchFamily="2" charset="77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85608ECE-7DD5-C7A7-BD51-FF3DC9760247}"/>
                  </a:ext>
                </a:extLst>
              </p:cNvPr>
              <p:cNvSpPr/>
              <p:nvPr/>
            </p:nvSpPr>
            <p:spPr>
              <a:xfrm>
                <a:off x="9524803" y="6068286"/>
                <a:ext cx="2359940" cy="659861"/>
              </a:xfrm>
              <a:prstGeom prst="rect">
                <a:avLst/>
              </a:prstGeom>
              <a:solidFill>
                <a:srgbClr val="00B050"/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𝜀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ES" b="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S" b="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ES" b="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𝐶𝑆𝐹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50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s-E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.02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85608ECE-7DD5-C7A7-BD51-FF3DC9760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4803" y="6068286"/>
                <a:ext cx="2359940" cy="65986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Content Placeholder 3" descr="F4.large.jpg">
            <a:extLst>
              <a:ext uri="{FF2B5EF4-FFF2-40B4-BE49-F238E27FC236}">
                <a16:creationId xmlns:a16="http://schemas.microsoft.com/office/drawing/2014/main" id="{48D16C67-62E9-AC25-BFFE-3553DEDC19E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8" t="30961" r="41553" b="40770"/>
          <a:stretch/>
        </p:blipFill>
        <p:spPr>
          <a:xfrm>
            <a:off x="10306923" y="17044"/>
            <a:ext cx="1885077" cy="1658682"/>
          </a:xfrm>
          <a:prstGeom prst="rect">
            <a:avLst/>
          </a:prstGeom>
        </p:spPr>
      </p:pic>
      <p:pic>
        <p:nvPicPr>
          <p:cNvPr id="22" name="Content Placeholder 3" descr="F4.large.jpg">
            <a:extLst>
              <a:ext uri="{FF2B5EF4-FFF2-40B4-BE49-F238E27FC236}">
                <a16:creationId xmlns:a16="http://schemas.microsoft.com/office/drawing/2014/main" id="{2705ABBD-098D-C87F-2C5D-95D2B2BD1E7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2" t="-622" r="46686" b="72353"/>
          <a:stretch/>
        </p:blipFill>
        <p:spPr>
          <a:xfrm>
            <a:off x="10274461" y="1650629"/>
            <a:ext cx="1713010" cy="16642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5DD2304E-DE25-1E98-0220-79893CB70EA1}"/>
                  </a:ext>
                </a:extLst>
              </p:cNvPr>
              <p:cNvSpPr/>
              <p:nvPr/>
            </p:nvSpPr>
            <p:spPr>
              <a:xfrm>
                <a:off x="9886520" y="5446791"/>
                <a:ext cx="167379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ES" b="1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𝑺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s-ES" b="1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𝟏</m:t>
                      </m:r>
                      <m:r>
                        <a:rPr lang="es-ES" b="1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ES" b="1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𝒎𝑳</m:t>
                      </m:r>
                    </m:oMath>
                  </m:oMathPara>
                </a14:m>
                <a:endParaRPr lang="es-ES" b="1" i="1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ES" b="1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ES" b="1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𝑽</m:t>
                        </m:r>
                      </m:e>
                      <m:sub>
                        <m:r>
                          <a:rPr lang="es-ES" b="1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𝑪𝑺𝑭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𝟓𝟎</m:t>
                    </m:r>
                    <m:r>
                      <a:rPr lang="es-ES" b="1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ES" b="1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𝒎𝑳</m:t>
                    </m:r>
                  </m:oMath>
                </a14:m>
                <a:r>
                  <a:rPr lang="en-US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5DD2304E-DE25-1E98-0220-79893CB70E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6520" y="5446791"/>
                <a:ext cx="1673792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12">
            <a:extLst>
              <a:ext uri="{FF2B5EF4-FFF2-40B4-BE49-F238E27FC236}">
                <a16:creationId xmlns:a16="http://schemas.microsoft.com/office/drawing/2014/main" id="{59E37EF5-391A-5CDE-93F8-0FF360B3F82F}"/>
              </a:ext>
            </a:extLst>
          </p:cNvPr>
          <p:cNvSpPr txBox="1"/>
          <p:nvPr/>
        </p:nvSpPr>
        <p:spPr>
          <a:xfrm>
            <a:off x="3200227" y="1279618"/>
            <a:ext cx="1344554" cy="584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Palatino" pitchFamily="2" charset="77"/>
                <a:ea typeface="Palatino" pitchFamily="2" charset="77"/>
              </a:rPr>
              <a:t>~ 2 cm/min</a:t>
            </a:r>
          </a:p>
          <a:p>
            <a:pPr algn="ctr"/>
            <a:r>
              <a:rPr lang="en-US" sz="1600" b="1" dirty="0">
                <a:latin typeface="Palatino" pitchFamily="2" charset="77"/>
                <a:ea typeface="Palatino" pitchFamily="2" charset="77"/>
              </a:rPr>
              <a:t>~ 30 min 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3A60064-A1A0-6AB6-C306-07500014E00F}"/>
              </a:ext>
            </a:extLst>
          </p:cNvPr>
          <p:cNvGrpSpPr/>
          <p:nvPr/>
        </p:nvGrpSpPr>
        <p:grpSpPr>
          <a:xfrm>
            <a:off x="0" y="1081289"/>
            <a:ext cx="1987089" cy="1532371"/>
            <a:chOff x="5505085" y="2638425"/>
            <a:chExt cx="3500433" cy="2322830"/>
          </a:xfrm>
        </p:grpSpPr>
        <p:pic>
          <p:nvPicPr>
            <p:cNvPr id="16" name="Picture 15" descr="x_vs_t.pdf">
              <a:extLst>
                <a:ext uri="{FF2B5EF4-FFF2-40B4-BE49-F238E27FC236}">
                  <a16:creationId xmlns:a16="http://schemas.microsoft.com/office/drawing/2014/main" id="{77224A97-1D4C-D38C-7FCA-631F0B7402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7243" y="2638425"/>
              <a:ext cx="3218275" cy="19875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CE1FEE3-080B-5EC1-A2F7-376411F08276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6658080" y="2638425"/>
              <a:ext cx="469636" cy="225425"/>
            </a:xfrm>
            <a:prstGeom prst="rect">
              <a:avLst/>
            </a:prstGeom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D36C10D-3A2E-E8B7-3470-27A6DD26D787}"/>
                </a:ext>
              </a:extLst>
            </p:cNvPr>
            <p:cNvCxnSpPr/>
            <p:nvPr/>
          </p:nvCxnSpPr>
          <p:spPr>
            <a:xfrm>
              <a:off x="6787726" y="2889250"/>
              <a:ext cx="19217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B2667C8-4F0F-F707-565E-484DACD3FD21}"/>
                </a:ext>
              </a:extLst>
            </p:cNvPr>
            <p:cNvCxnSpPr/>
            <p:nvPr/>
          </p:nvCxnSpPr>
          <p:spPr>
            <a:xfrm>
              <a:off x="7186831" y="3130550"/>
              <a:ext cx="484542" cy="0"/>
            </a:xfrm>
            <a:prstGeom prst="line">
              <a:avLst/>
            </a:prstGeom>
            <a:ln w="31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3861A78-ED17-CD99-6007-85F3A6D93C39}"/>
                </a:ext>
              </a:extLst>
            </p:cNvPr>
            <p:cNvCxnSpPr/>
            <p:nvPr/>
          </p:nvCxnSpPr>
          <p:spPr>
            <a:xfrm>
              <a:off x="7186831" y="3340100"/>
              <a:ext cx="484542" cy="0"/>
            </a:xfrm>
            <a:prstGeom prst="line">
              <a:avLst/>
            </a:prstGeom>
            <a:ln w="31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752ADAD-9A5F-AF2C-83F2-BD222B2D2E58}"/>
                </a:ext>
              </a:extLst>
            </p:cNvPr>
            <p:cNvCxnSpPr/>
            <p:nvPr/>
          </p:nvCxnSpPr>
          <p:spPr>
            <a:xfrm rot="5400000">
              <a:off x="7518137" y="3226636"/>
              <a:ext cx="19217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07E10BF-6A04-BFC1-0B5F-13673FB74486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8610600" y="4625975"/>
              <a:ext cx="304800" cy="33528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54FE8CF-FF94-30AA-3771-151C28552574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5505085" y="2665568"/>
              <a:ext cx="307563" cy="223682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1B39B61-39C3-05E4-21A7-267D8588A804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5606675" y="4460875"/>
              <a:ext cx="180568" cy="22571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7299640-987A-A2DA-4598-2637E5464527}"/>
                  </a:ext>
                </a:extLst>
              </p:cNvPr>
              <p:cNvSpPr txBox="1"/>
              <p:nvPr/>
            </p:nvSpPr>
            <p:spPr>
              <a:xfrm>
                <a:off x="1015765" y="1302797"/>
                <a:ext cx="117327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7299640-987A-A2DA-4598-2637E5464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65" y="1302797"/>
                <a:ext cx="1173275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7D4F0867-6394-D49E-CA27-3E0910EF41A3}"/>
              </a:ext>
            </a:extLst>
          </p:cNvPr>
          <p:cNvSpPr txBox="1"/>
          <p:nvPr/>
        </p:nvSpPr>
        <p:spPr>
          <a:xfrm>
            <a:off x="115661" y="5982717"/>
            <a:ext cx="4199815" cy="830997"/>
          </a:xfrm>
          <a:prstGeom prst="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ighlight>
                  <a:srgbClr val="FFFF00"/>
                </a:highlight>
              </a:rPr>
              <a:t>Need a non-invasive method to measure </a:t>
            </a:r>
            <a:r>
              <a:rPr lang="en-US" sz="2400" dirty="0" err="1">
                <a:highlight>
                  <a:srgbClr val="FFFF00"/>
                </a:highlight>
              </a:rPr>
              <a:t>Lagrangian</a:t>
            </a:r>
            <a:r>
              <a:rPr lang="en-US" sz="2400" dirty="0">
                <a:highlight>
                  <a:srgbClr val="FFFF00"/>
                </a:highlight>
              </a:rPr>
              <a:t> drift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57D36D4-22AE-9F78-4D01-921056AC07B5}"/>
              </a:ext>
            </a:extLst>
          </p:cNvPr>
          <p:cNvGrpSpPr/>
          <p:nvPr/>
        </p:nvGrpSpPr>
        <p:grpSpPr>
          <a:xfrm>
            <a:off x="9524803" y="3799681"/>
            <a:ext cx="2380594" cy="1623780"/>
            <a:chOff x="9681701" y="3792008"/>
            <a:chExt cx="2380594" cy="13903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BB75B5-7B6E-DF7B-B7E3-76AF9DA35169}"/>
                </a:ext>
              </a:extLst>
            </p:cNvPr>
            <p:cNvGrpSpPr/>
            <p:nvPr/>
          </p:nvGrpSpPr>
          <p:grpSpPr>
            <a:xfrm>
              <a:off x="9681701" y="3792009"/>
              <a:ext cx="2380594" cy="1343176"/>
              <a:chOff x="9769795" y="3782611"/>
              <a:chExt cx="2380594" cy="1343176"/>
            </a:xfrm>
          </p:grpSpPr>
          <p:sp>
            <p:nvSpPr>
              <p:cNvPr id="13" name="TextBox 17">
                <a:extLst>
                  <a:ext uri="{FF2B5EF4-FFF2-40B4-BE49-F238E27FC236}">
                    <a16:creationId xmlns:a16="http://schemas.microsoft.com/office/drawing/2014/main" id="{09341DBE-A474-E00C-1DB4-E9909F64C6CF}"/>
                  </a:ext>
                </a:extLst>
              </p:cNvPr>
              <p:cNvSpPr txBox="1"/>
              <p:nvPr/>
            </p:nvSpPr>
            <p:spPr>
              <a:xfrm>
                <a:off x="10506357" y="4541012"/>
                <a:ext cx="1025158" cy="584775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Palatino" pitchFamily="2" charset="77"/>
                    <a:ea typeface="Palatino" pitchFamily="2" charset="77"/>
                  </a:rPr>
                  <a:t>~ 5 cm/s</a:t>
                </a:r>
              </a:p>
              <a:p>
                <a:pPr algn="ctr"/>
                <a:r>
                  <a:rPr lang="en-US" sz="1600" b="1" dirty="0">
                    <a:latin typeface="Palatino" pitchFamily="2" charset="77"/>
                    <a:ea typeface="Palatino" pitchFamily="2" charset="77"/>
                  </a:rPr>
                  <a:t>~ 1 s 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5D0804FE-807A-B8A3-AD08-9A55F5D4A320}"/>
                      </a:ext>
                    </a:extLst>
                  </p:cNvPr>
                  <p:cNvSpPr txBox="1"/>
                  <p:nvPr/>
                </p:nvSpPr>
                <p:spPr>
                  <a:xfrm>
                    <a:off x="9769795" y="3782611"/>
                    <a:ext cx="2380594" cy="41581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∼</m:t>
                        </m:r>
                      </m:oMath>
                    </a14:m>
                    <a:r>
                      <a:rPr lang="en-US" dirty="0">
                        <a:latin typeface="LM Roman 10"/>
                      </a:rPr>
                      <a:t>cm/s</a:t>
                    </a:r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5D0804FE-807A-B8A3-AD08-9A55F5D4A3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69795" y="3782611"/>
                    <a:ext cx="2380594" cy="415816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16C5121-7600-7576-97C9-6F38EBC60B5A}"/>
                </a:ext>
              </a:extLst>
            </p:cNvPr>
            <p:cNvSpPr/>
            <p:nvPr/>
          </p:nvSpPr>
          <p:spPr>
            <a:xfrm>
              <a:off x="9681701" y="3792008"/>
              <a:ext cx="2380594" cy="139030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8E99DAA8-1FFE-DA00-0FB4-2D3F7CFF52A4}"/>
              </a:ext>
            </a:extLst>
          </p:cNvPr>
          <p:cNvSpPr/>
          <p:nvPr/>
        </p:nvSpPr>
        <p:spPr>
          <a:xfrm>
            <a:off x="9428570" y="5460095"/>
            <a:ext cx="2558901" cy="13428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B41FB1-AF30-276E-EE0E-AA8F1C87385D}"/>
              </a:ext>
            </a:extLst>
          </p:cNvPr>
          <p:cNvSpPr txBox="1"/>
          <p:nvPr/>
        </p:nvSpPr>
        <p:spPr>
          <a:xfrm>
            <a:off x="5639305" y="5981336"/>
            <a:ext cx="3262585" cy="830997"/>
          </a:xfrm>
          <a:prstGeom prst="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ighlight>
                  <a:srgbClr val="FFFF00"/>
                </a:highlight>
              </a:rPr>
              <a:t>Patient specific drug dispersion predictions</a:t>
            </a: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95F3A5F3-3F27-B268-E5DC-8402950A5C82}"/>
              </a:ext>
            </a:extLst>
          </p:cNvPr>
          <p:cNvSpPr/>
          <p:nvPr/>
        </p:nvSpPr>
        <p:spPr>
          <a:xfrm>
            <a:off x="4523827" y="6131495"/>
            <a:ext cx="991796" cy="600058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0B14E84-8031-0AC9-1581-CBBFDBEDDF88}"/>
                  </a:ext>
                </a:extLst>
              </p:cNvPr>
              <p:cNvSpPr txBox="1"/>
              <p:nvPr/>
            </p:nvSpPr>
            <p:spPr>
              <a:xfrm>
                <a:off x="9605053" y="4292782"/>
                <a:ext cx="21975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0" dirty="0">
                    <a:solidFill>
                      <a:prstClr val="black"/>
                    </a:solidFill>
                    <a:latin typeface="LM Roman 10"/>
                  </a:rPr>
                  <a:t>T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∼2</m:t>
                    </m:r>
                    <m:r>
                      <a:rPr lang="en-US" sz="1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1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1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∼1</m:t>
                    </m:r>
                  </m:oMath>
                </a14:m>
                <a:r>
                  <a:rPr lang="en-US" sz="1800" dirty="0">
                    <a:latin typeface="LM Roman 10"/>
                  </a:rPr>
                  <a:t> sec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0B14E84-8031-0AC9-1581-CBBFDBEDD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5053" y="4292782"/>
                <a:ext cx="2197513" cy="369332"/>
              </a:xfrm>
              <a:prstGeom prst="rect">
                <a:avLst/>
              </a:prstGeom>
              <a:blipFill>
                <a:blip r:embed="rId2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31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6015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3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6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5" repeatCount="indefinite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video>
              <p:cMediaNode vol="80000">
                <p:cTn id="76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7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9" grpId="0" animBg="1"/>
      <p:bldP spid="25" grpId="0"/>
      <p:bldP spid="27" grpId="0"/>
      <p:bldP spid="12" grpId="0"/>
      <p:bldP spid="20" grpId="0" animBg="1"/>
      <p:bldP spid="30" grpId="0"/>
      <p:bldP spid="8" grpId="0" animBg="1"/>
      <p:bldP spid="42" grpId="0"/>
      <p:bldP spid="43" grpId="0" animBg="1"/>
      <p:bldP spid="53" grpId="0" animBg="1"/>
      <p:bldP spid="54" grpId="0" animBg="1"/>
      <p:bldP spid="57" grpId="0" animBg="1"/>
      <p:bldP spid="5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6874948-6667-2A05-78F9-7A1C01073BF0}"/>
              </a:ext>
            </a:extLst>
          </p:cNvPr>
          <p:cNvSpPr/>
          <p:nvPr/>
        </p:nvSpPr>
        <p:spPr>
          <a:xfrm>
            <a:off x="10522787" y="1324850"/>
            <a:ext cx="579977" cy="688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DD86B49-D3B3-1472-423E-AF96C64A101D}"/>
              </a:ext>
            </a:extLst>
          </p:cNvPr>
          <p:cNvGrpSpPr/>
          <p:nvPr/>
        </p:nvGrpSpPr>
        <p:grpSpPr>
          <a:xfrm>
            <a:off x="74282" y="497961"/>
            <a:ext cx="5774160" cy="6217989"/>
            <a:chOff x="249096" y="1142765"/>
            <a:chExt cx="4839108" cy="50978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B884631-CD85-D8DF-7B67-8A56C9224D27}"/>
                </a:ext>
              </a:extLst>
            </p:cNvPr>
            <p:cNvSpPr/>
            <p:nvPr/>
          </p:nvSpPr>
          <p:spPr>
            <a:xfrm>
              <a:off x="2030090" y="1142765"/>
              <a:ext cx="933769" cy="3348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4" name="Imagen 7">
              <a:extLst>
                <a:ext uri="{FF2B5EF4-FFF2-40B4-BE49-F238E27FC236}">
                  <a16:creationId xmlns:a16="http://schemas.microsoft.com/office/drawing/2014/main" id="{A53F74A6-F2FC-A933-A08B-FF1C5C7DA92F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2371796" y="2422457"/>
              <a:ext cx="2637691" cy="2637691"/>
            </a:xfrm>
            <a:prstGeom prst="rect">
              <a:avLst/>
            </a:prstGeom>
          </p:spPr>
        </p:pic>
        <p:grpSp>
          <p:nvGrpSpPr>
            <p:cNvPr id="25" name="Grupo 26">
              <a:extLst>
                <a:ext uri="{FF2B5EF4-FFF2-40B4-BE49-F238E27FC236}">
                  <a16:creationId xmlns:a16="http://schemas.microsoft.com/office/drawing/2014/main" id="{C3668BB2-824E-F1F0-B2E3-414D80938209}"/>
                </a:ext>
              </a:extLst>
            </p:cNvPr>
            <p:cNvGrpSpPr/>
            <p:nvPr/>
          </p:nvGrpSpPr>
          <p:grpSpPr>
            <a:xfrm>
              <a:off x="249096" y="1389504"/>
              <a:ext cx="2121303" cy="4851099"/>
              <a:chOff x="2286980" y="1527242"/>
              <a:chExt cx="2121303" cy="4851099"/>
            </a:xfrm>
          </p:grpSpPr>
          <p:grpSp>
            <p:nvGrpSpPr>
              <p:cNvPr id="26" name="Grupo 98">
                <a:extLst>
                  <a:ext uri="{FF2B5EF4-FFF2-40B4-BE49-F238E27FC236}">
                    <a16:creationId xmlns:a16="http://schemas.microsoft.com/office/drawing/2014/main" id="{92C437FB-D20D-60CA-4623-5D1144EF71F5}"/>
                  </a:ext>
                </a:extLst>
              </p:cNvPr>
              <p:cNvGrpSpPr/>
              <p:nvPr/>
            </p:nvGrpSpPr>
            <p:grpSpPr>
              <a:xfrm>
                <a:off x="2286980" y="1527242"/>
                <a:ext cx="2121303" cy="4851099"/>
                <a:chOff x="5740358" y="1548409"/>
                <a:chExt cx="2121303" cy="4851099"/>
              </a:xfrm>
            </p:grpSpPr>
            <p:grpSp>
              <p:nvGrpSpPr>
                <p:cNvPr id="29" name="Grupo 99">
                  <a:extLst>
                    <a:ext uri="{FF2B5EF4-FFF2-40B4-BE49-F238E27FC236}">
                      <a16:creationId xmlns:a16="http://schemas.microsoft.com/office/drawing/2014/main" id="{24DC3CBC-5F67-9196-D279-B08D207612CD}"/>
                    </a:ext>
                  </a:extLst>
                </p:cNvPr>
                <p:cNvGrpSpPr/>
                <p:nvPr/>
              </p:nvGrpSpPr>
              <p:grpSpPr>
                <a:xfrm>
                  <a:off x="5740358" y="1633048"/>
                  <a:ext cx="2121303" cy="4766460"/>
                  <a:chOff x="5740358" y="1633048"/>
                  <a:chExt cx="2121303" cy="4766460"/>
                </a:xfrm>
              </p:grpSpPr>
              <p:pic>
                <p:nvPicPr>
                  <p:cNvPr id="31" name="Imagen 101" descr="Diagrama&#10;&#10;Descripción generada automáticamente">
                    <a:extLst>
                      <a:ext uri="{FF2B5EF4-FFF2-40B4-BE49-F238E27FC236}">
                        <a16:creationId xmlns:a16="http://schemas.microsoft.com/office/drawing/2014/main" id="{7E115BB8-89FA-F5FB-90F3-1FD04EDA3A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/>
                  <a:srcRect l="3208"/>
                  <a:stretch/>
                </p:blipFill>
                <p:spPr>
                  <a:xfrm>
                    <a:off x="5740358" y="1633048"/>
                    <a:ext cx="2121303" cy="4766460"/>
                  </a:xfrm>
                  <a:prstGeom prst="rect">
                    <a:avLst/>
                  </a:prstGeom>
                </p:spPr>
              </p:pic>
              <p:sp>
                <p:nvSpPr>
                  <p:cNvPr id="33" name="CuadroTexto 103">
                    <a:extLst>
                      <a:ext uri="{FF2B5EF4-FFF2-40B4-BE49-F238E27FC236}">
                        <a16:creationId xmlns:a16="http://schemas.microsoft.com/office/drawing/2014/main" id="{358B2BB8-E3E7-C439-FD67-420478CA6F9D}"/>
                      </a:ext>
                    </a:extLst>
                  </p:cNvPr>
                  <p:cNvSpPr txBox="1"/>
                  <p:nvPr/>
                </p:nvSpPr>
                <p:spPr>
                  <a:xfrm>
                    <a:off x="7733654" y="1633048"/>
                    <a:ext cx="128007" cy="826016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30" name="CuadroTexto 100">
                  <a:extLst>
                    <a:ext uri="{FF2B5EF4-FFF2-40B4-BE49-F238E27FC236}">
                      <a16:creationId xmlns:a16="http://schemas.microsoft.com/office/drawing/2014/main" id="{6BE0596A-F5EE-55C7-100C-5970CC6F4C91}"/>
                    </a:ext>
                  </a:extLst>
                </p:cNvPr>
                <p:cNvSpPr txBox="1"/>
                <p:nvPr/>
              </p:nvSpPr>
              <p:spPr>
                <a:xfrm>
                  <a:off x="5843416" y="1548409"/>
                  <a:ext cx="366386" cy="1692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 sz="5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uadroTexto 70">
                    <a:extLst>
                      <a:ext uri="{FF2B5EF4-FFF2-40B4-BE49-F238E27FC236}">
                        <a16:creationId xmlns:a16="http://schemas.microsoft.com/office/drawing/2014/main" id="{F0E6D85F-11D0-01CF-5FE3-DF672038B7F4}"/>
                      </a:ext>
                    </a:extLst>
                  </p:cNvPr>
                  <p:cNvSpPr txBox="1"/>
                  <p:nvPr/>
                </p:nvSpPr>
                <p:spPr>
                  <a:xfrm>
                    <a:off x="2615091" y="5987827"/>
                    <a:ext cx="374077" cy="1692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E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lang="en-US" sz="11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CuadroTexto 70">
                    <a:extLst>
                      <a:ext uri="{FF2B5EF4-FFF2-40B4-BE49-F238E27FC236}">
                        <a16:creationId xmlns:a16="http://schemas.microsoft.com/office/drawing/2014/main" id="{FD683FBC-A5E8-6B0B-F117-D12F5A7ECB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15091" y="5987827"/>
                    <a:ext cx="374077" cy="16927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226" r="-6452" b="-714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Conector recto 81">
                <a:extLst>
                  <a:ext uri="{FF2B5EF4-FFF2-40B4-BE49-F238E27FC236}">
                    <a16:creationId xmlns:a16="http://schemas.microsoft.com/office/drawing/2014/main" id="{B8D9127D-3106-9035-CFBC-8575A347B119}"/>
                  </a:ext>
                </a:extLst>
              </p:cNvPr>
              <p:cNvCxnSpPr/>
              <p:nvPr/>
            </p:nvCxnSpPr>
            <p:spPr>
              <a:xfrm>
                <a:off x="2611757" y="6157104"/>
                <a:ext cx="94702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Arrow Connector 13">
              <a:extLst>
                <a:ext uri="{FF2B5EF4-FFF2-40B4-BE49-F238E27FC236}">
                  <a16:creationId xmlns:a16="http://schemas.microsoft.com/office/drawing/2014/main" id="{F0E963C7-7F4C-1B11-DF60-2E78D7E74D56}"/>
                </a:ext>
              </a:extLst>
            </p:cNvPr>
            <p:cNvCxnSpPr>
              <a:cxnSpLocks/>
            </p:cNvCxnSpPr>
            <p:nvPr/>
          </p:nvCxnSpPr>
          <p:spPr>
            <a:xfrm>
              <a:off x="3035064" y="3274223"/>
              <a:ext cx="237714" cy="13433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19">
                  <a:extLst>
                    <a:ext uri="{FF2B5EF4-FFF2-40B4-BE49-F238E27FC236}">
                      <a16:creationId xmlns:a16="http://schemas.microsoft.com/office/drawing/2014/main" id="{0D52D8CF-2E86-895B-A73E-2CC6D4DFBE72}"/>
                    </a:ext>
                  </a:extLst>
                </p:cNvPr>
                <p:cNvSpPr txBox="1"/>
                <p:nvPr/>
              </p:nvSpPr>
              <p:spPr>
                <a:xfrm>
                  <a:off x="2057801" y="2042466"/>
                  <a:ext cx="1389591" cy="47943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US" sz="1600" dirty="0">
                      <a:latin typeface="LM Roman 10"/>
                      <a:ea typeface="Palatino" pitchFamily="2" charset="77"/>
                    </a:rPr>
                    <a:t> 0.2 cm</a:t>
                  </a:r>
                </a:p>
                <a:p>
                  <a:pPr algn="ctr"/>
                  <a:r>
                    <a:rPr lang="en-US" sz="1600" dirty="0">
                      <a:solidFill>
                        <a:schemeClr val="bg1">
                          <a:lumMod val="75000"/>
                        </a:schemeClr>
                      </a:solidFill>
                      <a:latin typeface="LM Roman 10"/>
                      <a:ea typeface="Palatino" pitchFamily="2" charset="77"/>
                    </a:rPr>
                    <a:t>(canal width)</a:t>
                  </a:r>
                </a:p>
              </p:txBody>
            </p:sp>
          </mc:Choice>
          <mc:Fallback xmlns="">
            <p:sp>
              <p:nvSpPr>
                <p:cNvPr id="35" name="TextBox 19">
                  <a:extLst>
                    <a:ext uri="{FF2B5EF4-FFF2-40B4-BE49-F238E27FC236}">
                      <a16:creationId xmlns:a16="http://schemas.microsoft.com/office/drawing/2014/main" id="{0D52D8CF-2E86-895B-A73E-2CC6D4DFB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801" y="2042466"/>
                  <a:ext cx="1389591" cy="479430"/>
                </a:xfrm>
                <a:prstGeom prst="rect">
                  <a:avLst/>
                </a:prstGeom>
                <a:blipFill>
                  <a:blip r:embed="rId14"/>
                  <a:stretch>
                    <a:fillRect t="-2020" b="-10101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20">
                  <a:extLst>
                    <a:ext uri="{FF2B5EF4-FFF2-40B4-BE49-F238E27FC236}">
                      <a16:creationId xmlns:a16="http://schemas.microsoft.com/office/drawing/2014/main" id="{C9F981F8-EB43-A9BF-0240-018FA8194A8C}"/>
                    </a:ext>
                  </a:extLst>
                </p:cNvPr>
                <p:cNvSpPr txBox="1"/>
                <p:nvPr/>
              </p:nvSpPr>
              <p:spPr>
                <a:xfrm>
                  <a:off x="3523067" y="1680218"/>
                  <a:ext cx="1565137" cy="68129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r>
                    <a:rPr lang="en-US" sz="1600" dirty="0">
                      <a:latin typeface="Palatino" pitchFamily="2" charset="77"/>
                      <a:ea typeface="Palatino" pitchFamily="2" charset="77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US" sz="1600" dirty="0">
                      <a:latin typeface="Palatino" pitchFamily="2" charset="77"/>
                      <a:ea typeface="Palatino" pitchFamily="2" charset="77"/>
                    </a:rPr>
                    <a:t> 3 cm</a:t>
                  </a:r>
                </a:p>
                <a:p>
                  <a:pPr algn="ctr"/>
                  <a:r>
                    <a:rPr lang="en-US" sz="1600" dirty="0">
                      <a:solidFill>
                        <a:schemeClr val="bg1">
                          <a:lumMod val="75000"/>
                        </a:schemeClr>
                      </a:solidFill>
                      <a:latin typeface="Palatino" pitchFamily="2" charset="77"/>
                      <a:ea typeface="Palatino" pitchFamily="2" charset="77"/>
                    </a:rPr>
                    <a:t>(spinal cord perimeter)</a:t>
                  </a:r>
                </a:p>
              </p:txBody>
            </p:sp>
          </mc:Choice>
          <mc:Fallback xmlns="">
            <p:sp>
              <p:nvSpPr>
                <p:cNvPr id="36" name="TextBox 20">
                  <a:extLst>
                    <a:ext uri="{FF2B5EF4-FFF2-40B4-BE49-F238E27FC236}">
                      <a16:creationId xmlns:a16="http://schemas.microsoft.com/office/drawing/2014/main" id="{C9F981F8-EB43-A9BF-0240-018FA8194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067" y="1680218"/>
                  <a:ext cx="1565137" cy="681296"/>
                </a:xfrm>
                <a:prstGeom prst="rect">
                  <a:avLst/>
                </a:prstGeom>
                <a:blipFill>
                  <a:blip r:embed="rId15"/>
                  <a:stretch>
                    <a:fillRect t="-1429" b="-6429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Curved Connector 54">
              <a:extLst>
                <a:ext uri="{FF2B5EF4-FFF2-40B4-BE49-F238E27FC236}">
                  <a16:creationId xmlns:a16="http://schemas.microsoft.com/office/drawing/2014/main" id="{381CEE23-F2BA-4483-491C-143BA5E6E0F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624312" y="2815340"/>
              <a:ext cx="821503" cy="243038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urved Connector 56">
              <a:extLst>
                <a:ext uri="{FF2B5EF4-FFF2-40B4-BE49-F238E27FC236}">
                  <a16:creationId xmlns:a16="http://schemas.microsoft.com/office/drawing/2014/main" id="{33EBCFEE-1BDA-279C-1143-962310851D9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592860" y="2506857"/>
              <a:ext cx="749722" cy="459039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upo 58">
              <a:extLst>
                <a:ext uri="{FF2B5EF4-FFF2-40B4-BE49-F238E27FC236}">
                  <a16:creationId xmlns:a16="http://schemas.microsoft.com/office/drawing/2014/main" id="{247B3858-5D8C-153B-4D8F-6336162CBAE8}"/>
                </a:ext>
              </a:extLst>
            </p:cNvPr>
            <p:cNvGrpSpPr/>
            <p:nvPr/>
          </p:nvGrpSpPr>
          <p:grpSpPr>
            <a:xfrm>
              <a:off x="1639715" y="3695472"/>
              <a:ext cx="1175185" cy="926712"/>
              <a:chOff x="1648047" y="3068923"/>
              <a:chExt cx="1175185" cy="926712"/>
            </a:xfrm>
          </p:grpSpPr>
          <p:cxnSp>
            <p:nvCxnSpPr>
              <p:cNvPr id="40" name="Conector recto 45">
                <a:extLst>
                  <a:ext uri="{FF2B5EF4-FFF2-40B4-BE49-F238E27FC236}">
                    <a16:creationId xmlns:a16="http://schemas.microsoft.com/office/drawing/2014/main" id="{4C611FFC-5927-08E8-ADA4-31FD5C236E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8047" y="3995635"/>
                <a:ext cx="224653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Conector recto 47">
                <a:extLst>
                  <a:ext uri="{FF2B5EF4-FFF2-40B4-BE49-F238E27FC236}">
                    <a16:creationId xmlns:a16="http://schemas.microsoft.com/office/drawing/2014/main" id="{FA0BE572-2031-9529-C291-AD3A8DB820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7138" y="3068923"/>
                <a:ext cx="481596" cy="926712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de flecha 57">
                <a:extLst>
                  <a:ext uri="{FF2B5EF4-FFF2-40B4-BE49-F238E27FC236}">
                    <a16:creationId xmlns:a16="http://schemas.microsoft.com/office/drawing/2014/main" id="{7B9FF52E-8BC8-1EC9-E009-8FF9A768CE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1078" y="3068923"/>
                <a:ext cx="48215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19">
                  <a:extLst>
                    <a:ext uri="{FF2B5EF4-FFF2-40B4-BE49-F238E27FC236}">
                      <a16:creationId xmlns:a16="http://schemas.microsoft.com/office/drawing/2014/main" id="{9CA4705B-B73C-9019-50A3-DE4EE503D296}"/>
                    </a:ext>
                  </a:extLst>
                </p:cNvPr>
                <p:cNvSpPr txBox="1"/>
                <p:nvPr/>
              </p:nvSpPr>
              <p:spPr>
                <a:xfrm>
                  <a:off x="3116231" y="4813926"/>
                  <a:ext cx="1288814" cy="24622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≪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≪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3" name="CuadroTexto 19">
                  <a:extLst>
                    <a:ext uri="{FF2B5EF4-FFF2-40B4-BE49-F238E27FC236}">
                      <a16:creationId xmlns:a16="http://schemas.microsoft.com/office/drawing/2014/main" id="{9CA4705B-B73C-9019-50A3-DE4EE503D2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231" y="4813926"/>
                  <a:ext cx="1288814" cy="24622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E106CEF2-6819-EA39-D56E-40A88CB310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8853685" y="3675202"/>
            <a:ext cx="5780409" cy="463303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B8961156-A9E3-948A-0BDC-0FDF91D6B44B}"/>
              </a:ext>
            </a:extLst>
          </p:cNvPr>
          <p:cNvSpPr/>
          <p:nvPr/>
        </p:nvSpPr>
        <p:spPr>
          <a:xfrm>
            <a:off x="11403420" y="4782813"/>
            <a:ext cx="686571" cy="18427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7C55FD0-A7D4-4A0A-95F5-10947BCC4383}"/>
              </a:ext>
            </a:extLst>
          </p:cNvPr>
          <p:cNvCxnSpPr>
            <a:cxnSpLocks/>
            <a:stCxn id="47" idx="1"/>
          </p:cNvCxnSpPr>
          <p:nvPr/>
        </p:nvCxnSpPr>
        <p:spPr>
          <a:xfrm flipH="1" flipV="1">
            <a:off x="10933315" y="5128181"/>
            <a:ext cx="470105" cy="5759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itle 1">
            <a:extLst>
              <a:ext uri="{FF2B5EF4-FFF2-40B4-BE49-F238E27FC236}">
                <a16:creationId xmlns:a16="http://schemas.microsoft.com/office/drawing/2014/main" id="{7D5EF692-FD0F-05CC-E37E-05140A2BD444}"/>
              </a:ext>
            </a:extLst>
          </p:cNvPr>
          <p:cNvSpPr txBox="1">
            <a:spLocks/>
          </p:cNvSpPr>
          <p:nvPr/>
        </p:nvSpPr>
        <p:spPr>
          <a:xfrm>
            <a:off x="1345827" y="-212065"/>
            <a:ext cx="62715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Book Antiqua" panose="02040602050305030304" pitchFamily="18" charset="0"/>
              </a:rPr>
              <a:t>Spinal Canal Phantom </a:t>
            </a:r>
          </a:p>
        </p:txBody>
      </p:sp>
      <p:pic>
        <p:nvPicPr>
          <p:cNvPr id="11" name="Picture 10" descr="A pixelated image of a rectangular object&#10;&#10;Description automatically generated">
            <a:extLst>
              <a:ext uri="{FF2B5EF4-FFF2-40B4-BE49-F238E27FC236}">
                <a16:creationId xmlns:a16="http://schemas.microsoft.com/office/drawing/2014/main" id="{8FF029E6-9F80-A5D8-F8BA-F7900EF73C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31143" y="366661"/>
            <a:ext cx="1063390" cy="6217989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DC7717F1-9999-4B40-CB4E-AE0BB0C33745}"/>
              </a:ext>
            </a:extLst>
          </p:cNvPr>
          <p:cNvSpPr/>
          <p:nvPr/>
        </p:nvSpPr>
        <p:spPr>
          <a:xfrm>
            <a:off x="5534877" y="3051282"/>
            <a:ext cx="1321760" cy="1110612"/>
          </a:xfrm>
          <a:prstGeom prst="rightArrow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9" name="Picture 18" descr="A drawing of a circle&#10;&#10;Description automatically generated">
            <a:extLst>
              <a:ext uri="{FF2B5EF4-FFF2-40B4-BE49-F238E27FC236}">
                <a16:creationId xmlns:a16="http://schemas.microsoft.com/office/drawing/2014/main" id="{042F3CEE-BE3E-8605-33F8-EA8D2CA39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6" r="2716" b="2356"/>
          <a:stretch/>
        </p:blipFill>
        <p:spPr>
          <a:xfrm flipH="1">
            <a:off x="7059290" y="2283886"/>
            <a:ext cx="2456605" cy="2556110"/>
          </a:xfrm>
          <a:prstGeom prst="rect">
            <a:avLst/>
          </a:prstGeom>
        </p:spPr>
      </p:pic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3339DC7A-866A-60CC-BFAF-DFCE993D4F11}"/>
              </a:ext>
            </a:extLst>
          </p:cNvPr>
          <p:cNvSpPr/>
          <p:nvPr/>
        </p:nvSpPr>
        <p:spPr>
          <a:xfrm>
            <a:off x="11618742" y="385173"/>
            <a:ext cx="265549" cy="631476"/>
          </a:xfrm>
          <a:prstGeom prst="upDownArrow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01220D-526C-F55A-D1EA-C0A3AC2AD83B}"/>
              </a:ext>
            </a:extLst>
          </p:cNvPr>
          <p:cNvSpPr txBox="1"/>
          <p:nvPr/>
        </p:nvSpPr>
        <p:spPr>
          <a:xfrm>
            <a:off x="11434635" y="28107"/>
            <a:ext cx="633762" cy="338554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2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2">
                  <a:lumMod val="10000"/>
                  <a:lumOff val="9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Flow</a:t>
            </a:r>
            <a:endParaRPr lang="en-US" sz="2000" dirty="0"/>
          </a:p>
        </p:txBody>
      </p:sp>
      <p:cxnSp>
        <p:nvCxnSpPr>
          <p:cNvPr id="63" name="Curved Connector 56">
            <a:extLst>
              <a:ext uri="{FF2B5EF4-FFF2-40B4-BE49-F238E27FC236}">
                <a16:creationId xmlns:a16="http://schemas.microsoft.com/office/drawing/2014/main" id="{24E6590A-98A4-803D-367B-6C0DA6A9BAD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47862" y="4210295"/>
            <a:ext cx="1404066" cy="797181"/>
          </a:xfrm>
          <a:prstGeom prst="curvedConnector3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012B924-54D3-50CB-196A-F0A2EAA2A9A9}"/>
              </a:ext>
            </a:extLst>
          </p:cNvPr>
          <p:cNvSpPr txBox="1"/>
          <p:nvPr/>
        </p:nvSpPr>
        <p:spPr>
          <a:xfrm>
            <a:off x="6301457" y="841632"/>
            <a:ext cx="3324949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u="sng" dirty="0">
                <a:latin typeface="LM Roman 10"/>
              </a:rPr>
              <a:t>Compliant Exterior</a:t>
            </a:r>
          </a:p>
          <a:p>
            <a:pPr algn="ctr"/>
            <a:r>
              <a:rPr lang="en-US" sz="2400" dirty="0">
                <a:latin typeface="LM Roman 10"/>
              </a:rPr>
              <a:t>Thickness 8mm</a:t>
            </a:r>
          </a:p>
          <a:p>
            <a:pPr algn="ctr"/>
            <a:r>
              <a:rPr lang="en-US" sz="2400" dirty="0">
                <a:latin typeface="LM Roman 10"/>
              </a:rPr>
              <a:t>Interior Diameter 2.1 cm 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16350CA-52DF-F170-4888-3CFF68169D82}"/>
              </a:ext>
            </a:extLst>
          </p:cNvPr>
          <p:cNvCxnSpPr>
            <a:cxnSpLocks/>
          </p:cNvCxnSpPr>
          <p:nvPr/>
        </p:nvCxnSpPr>
        <p:spPr>
          <a:xfrm flipV="1">
            <a:off x="8350831" y="2058840"/>
            <a:ext cx="67248" cy="5781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F609CBDD-B691-0B69-205D-C78719368F2A}"/>
              </a:ext>
            </a:extLst>
          </p:cNvPr>
          <p:cNvSpPr txBox="1"/>
          <p:nvPr/>
        </p:nvSpPr>
        <p:spPr>
          <a:xfrm>
            <a:off x="6311590" y="5323977"/>
            <a:ext cx="2412647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u="sng" dirty="0">
                <a:latin typeface="LM Roman 10"/>
              </a:rPr>
              <a:t>Rigid Rod </a:t>
            </a:r>
          </a:p>
          <a:p>
            <a:pPr algn="ctr"/>
            <a:r>
              <a:rPr lang="en-US" sz="2400" dirty="0">
                <a:latin typeface="LM Roman 10"/>
              </a:rPr>
              <a:t>Diameter of 1 cm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F8A40-4B1A-A532-5B2A-92CC7C540967}"/>
              </a:ext>
            </a:extLst>
          </p:cNvPr>
          <p:cNvSpPr txBox="1"/>
          <p:nvPr/>
        </p:nvSpPr>
        <p:spPr>
          <a:xfrm>
            <a:off x="9649031" y="46577"/>
            <a:ext cx="1361919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Entrance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2A1E9-E213-C389-DECD-3318922E860A}"/>
              </a:ext>
            </a:extLst>
          </p:cNvPr>
          <p:cNvSpPr txBox="1"/>
          <p:nvPr/>
        </p:nvSpPr>
        <p:spPr>
          <a:xfrm>
            <a:off x="9618277" y="6215318"/>
            <a:ext cx="139267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Closed End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90B8F-FE5D-EB6D-CF74-89C395052392}"/>
              </a:ext>
            </a:extLst>
          </p:cNvPr>
          <p:cNvSpPr txBox="1"/>
          <p:nvPr/>
        </p:nvSpPr>
        <p:spPr>
          <a:xfrm>
            <a:off x="-28363" y="6553090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30/40</a:t>
            </a:r>
          </a:p>
        </p:txBody>
      </p:sp>
    </p:spTree>
    <p:extLst>
      <p:ext uri="{BB962C8B-B14F-4D97-AF65-F5344CB8AC3E}">
        <p14:creationId xmlns:p14="http://schemas.microsoft.com/office/powerpoint/2010/main" val="373065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17" grpId="0" animBg="1"/>
      <p:bldP spid="21" grpId="0" animBg="1"/>
      <p:bldP spid="23" grpId="0" animBg="1"/>
      <p:bldP spid="72" grpId="0" animBg="1"/>
      <p:bldP spid="86" grpId="0" animBg="1"/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ítulo 1">
            <a:extLst>
              <a:ext uri="{FF2B5EF4-FFF2-40B4-BE49-F238E27FC236}">
                <a16:creationId xmlns:a16="http://schemas.microsoft.com/office/drawing/2014/main" id="{30091289-1D96-9EB3-DEF2-D7EE30676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48" y="30405"/>
            <a:ext cx="439762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Theoretical CSF Motion Model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EB8EEA-5CEB-5042-8763-56F977166FBA}"/>
              </a:ext>
            </a:extLst>
          </p:cNvPr>
          <p:cNvGrpSpPr/>
          <p:nvPr/>
        </p:nvGrpSpPr>
        <p:grpSpPr>
          <a:xfrm>
            <a:off x="503948" y="5499649"/>
            <a:ext cx="4284670" cy="1007920"/>
            <a:chOff x="503948" y="5499649"/>
            <a:chExt cx="4284670" cy="10079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ángulo 21">
                  <a:extLst>
                    <a:ext uri="{FF2B5EF4-FFF2-40B4-BE49-F238E27FC236}">
                      <a16:creationId xmlns:a16="http://schemas.microsoft.com/office/drawing/2014/main" id="{A05A9D3A-5B99-CB93-2637-0E9847D51C27}"/>
                    </a:ext>
                  </a:extLst>
                </p:cNvPr>
                <p:cNvSpPr/>
                <p:nvPr/>
              </p:nvSpPr>
              <p:spPr>
                <a:xfrm>
                  <a:off x="1127596" y="5640989"/>
                  <a:ext cx="3342133" cy="3416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822960">
                    <a:lnSpc>
                      <a:spcPct val="90000"/>
                    </a:lnSpc>
                    <a:spcBef>
                      <a:spcPts val="900"/>
                    </a:spcBef>
                  </a:pPr>
                  <a:r>
                    <a:rPr lang="en-US" dirty="0">
                      <a:latin typeface="LM Roman 10" pitchFamily="2" charset="77"/>
                      <a:ea typeface="Palatino" pitchFamily="2" charset="77"/>
                    </a:rPr>
                    <a:t>Asymptotic expansions for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Palatino" pitchFamily="2" charset="77"/>
                        </a:rPr>
                        <m:t>𝜀</m:t>
                      </m:r>
                      <m:r>
                        <a:rPr lang="en-US" i="1">
                          <a:latin typeface="Cambria Math" panose="02040503050406030204" pitchFamily="18" charset="0"/>
                          <a:ea typeface="Palatino" pitchFamily="2" charset="77"/>
                        </a:rPr>
                        <m:t>≪1</m:t>
                      </m:r>
                    </m:oMath>
                  </a14:m>
                  <a:r>
                    <a:rPr lang="en-US" dirty="0">
                      <a:latin typeface="LM Roman 10" pitchFamily="2" charset="77"/>
                      <a:ea typeface="Palatino" pitchFamily="2" charset="77"/>
                    </a:rPr>
                    <a:t>:</a:t>
                  </a:r>
                </a:p>
              </p:txBody>
            </p:sp>
          </mc:Choice>
          <mc:Fallback xmlns="">
            <p:sp>
              <p:nvSpPr>
                <p:cNvPr id="53" name="Rectángulo 21">
                  <a:extLst>
                    <a:ext uri="{FF2B5EF4-FFF2-40B4-BE49-F238E27FC236}">
                      <a16:creationId xmlns:a16="http://schemas.microsoft.com/office/drawing/2014/main" id="{A05A9D3A-5B99-CB93-2637-0E9847D51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596" y="5640989"/>
                  <a:ext cx="3342133" cy="341632"/>
                </a:xfrm>
                <a:prstGeom prst="rect">
                  <a:avLst/>
                </a:prstGeom>
                <a:blipFill>
                  <a:blip r:embed="rId9"/>
                  <a:stretch>
                    <a:fillRect l="-1642" t="-16071" r="-365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4" name="Picture 1">
              <a:extLst>
                <a:ext uri="{FF2B5EF4-FFF2-40B4-BE49-F238E27FC236}">
                  <a16:creationId xmlns:a16="http://schemas.microsoft.com/office/drawing/2014/main" id="{7779F08D-D40A-AA83-5E30-7A7AD47EF266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13481" y="6102640"/>
              <a:ext cx="1644879" cy="165763"/>
            </a:xfrm>
            <a:prstGeom prst="rect">
              <a:avLst/>
            </a:prstGeom>
          </p:spPr>
        </p:pic>
        <p:pic>
          <p:nvPicPr>
            <p:cNvPr id="55" name="Picture 2">
              <a:extLst>
                <a:ext uri="{FF2B5EF4-FFF2-40B4-BE49-F238E27FC236}">
                  <a16:creationId xmlns:a16="http://schemas.microsoft.com/office/drawing/2014/main" id="{F6F2FE21-C7D2-B105-023A-95FEF4D39C99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2771071" y="6085980"/>
              <a:ext cx="1593877" cy="165763"/>
            </a:xfrm>
            <a:prstGeom prst="rect">
              <a:avLst/>
            </a:prstGeom>
          </p:spPr>
        </p:pic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BE8DF9B-71C2-8818-4E38-16FD01BD4E1C}"/>
                </a:ext>
              </a:extLst>
            </p:cNvPr>
            <p:cNvSpPr/>
            <p:nvPr/>
          </p:nvSpPr>
          <p:spPr>
            <a:xfrm>
              <a:off x="503948" y="5499649"/>
              <a:ext cx="4284670" cy="10079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CB7D9D7-0619-B42E-8A2B-16ABA08BD0B3}"/>
              </a:ext>
            </a:extLst>
          </p:cNvPr>
          <p:cNvGrpSpPr/>
          <p:nvPr/>
        </p:nvGrpSpPr>
        <p:grpSpPr>
          <a:xfrm>
            <a:off x="5328597" y="103587"/>
            <a:ext cx="6661223" cy="2373202"/>
            <a:chOff x="5026829" y="2507858"/>
            <a:chExt cx="6661223" cy="2373202"/>
          </a:xfrm>
        </p:grpSpPr>
        <p:sp>
          <p:nvSpPr>
            <p:cNvPr id="56" name="Rectángulo 21">
              <a:extLst>
                <a:ext uri="{FF2B5EF4-FFF2-40B4-BE49-F238E27FC236}">
                  <a16:creationId xmlns:a16="http://schemas.microsoft.com/office/drawing/2014/main" id="{33B2828A-49A0-B049-3226-FAF7B364483D}"/>
                </a:ext>
              </a:extLst>
            </p:cNvPr>
            <p:cNvSpPr/>
            <p:nvPr/>
          </p:nvSpPr>
          <p:spPr>
            <a:xfrm>
              <a:off x="5026829" y="2572158"/>
              <a:ext cx="2361609" cy="3416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822960">
                <a:lnSpc>
                  <a:spcPct val="90000"/>
                </a:lnSpc>
                <a:spcBef>
                  <a:spcPts val="900"/>
                </a:spcBef>
              </a:pPr>
              <a:r>
                <a:rPr lang="en-US" dirty="0">
                  <a:latin typeface="LM Roman 10" pitchFamily="2" charset="77"/>
                  <a:ea typeface="Palatino" pitchFamily="2" charset="77"/>
                </a:rPr>
                <a:t>Leading-order solution</a:t>
              </a:r>
              <a:r>
                <a:rPr lang="en-US" sz="1400" dirty="0">
                  <a:latin typeface="LM Roman 10" pitchFamily="2" charset="77"/>
                  <a:ea typeface="Palatino" pitchFamily="2" charset="77"/>
                </a:rPr>
                <a:t>: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804A876-2D55-4068-E1D8-24227F556F74}"/>
                </a:ext>
              </a:extLst>
            </p:cNvPr>
            <p:cNvSpPr txBox="1"/>
            <p:nvPr/>
          </p:nvSpPr>
          <p:spPr>
            <a:xfrm>
              <a:off x="5068507" y="3718824"/>
              <a:ext cx="23373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LM Roman 10" pitchFamily="2" charset="77"/>
                  <a:ea typeface="Palatino" pitchFamily="2" charset="77"/>
                </a:rPr>
                <a:t>First-order corrections:</a:t>
              </a:r>
            </a:p>
          </p:txBody>
        </p:sp>
        <p:sp>
          <p:nvSpPr>
            <p:cNvPr id="58" name="Flecha derecha 65">
              <a:extLst>
                <a:ext uri="{FF2B5EF4-FFF2-40B4-BE49-F238E27FC236}">
                  <a16:creationId xmlns:a16="http://schemas.microsoft.com/office/drawing/2014/main" id="{6C07A1BF-57B9-3338-DC9D-0F60ED0BA75B}"/>
                </a:ext>
              </a:extLst>
            </p:cNvPr>
            <p:cNvSpPr/>
            <p:nvPr/>
          </p:nvSpPr>
          <p:spPr>
            <a:xfrm>
              <a:off x="8299126" y="4295814"/>
              <a:ext cx="381705" cy="19036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lecha derecha 65">
              <a:extLst>
                <a:ext uri="{FF2B5EF4-FFF2-40B4-BE49-F238E27FC236}">
                  <a16:creationId xmlns:a16="http://schemas.microsoft.com/office/drawing/2014/main" id="{573A4961-B28D-7D48-BFF0-B6A18F5A03F8}"/>
                </a:ext>
              </a:extLst>
            </p:cNvPr>
            <p:cNvSpPr/>
            <p:nvPr/>
          </p:nvSpPr>
          <p:spPr>
            <a:xfrm>
              <a:off x="8337842" y="3117495"/>
              <a:ext cx="381705" cy="19036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ABD4277-BC20-7EA2-B143-996738342BBB}"/>
                    </a:ext>
                  </a:extLst>
                </p:cNvPr>
                <p:cNvSpPr txBox="1"/>
                <p:nvPr/>
              </p:nvSpPr>
              <p:spPr>
                <a:xfrm>
                  <a:off x="8528695" y="2752210"/>
                  <a:ext cx="2863842" cy="8329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𝐯</m:t>
                                </m:r>
                              </m:e>
                              <m:sub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nary>
                          <m:naryPr>
                            <m:limLoc m:val="undOvr"/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1600" b="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𝐯</m:t>
                                </m:r>
                              </m:e>
                              <m:sub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ABD4277-BC20-7EA2-B143-996738342B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8695" y="2752210"/>
                  <a:ext cx="2863842" cy="83298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1A48286-80D8-484B-4454-81A981953111}"/>
                    </a:ext>
                  </a:extLst>
                </p:cNvPr>
                <p:cNvSpPr txBox="1"/>
                <p:nvPr/>
              </p:nvSpPr>
              <p:spPr>
                <a:xfrm>
                  <a:off x="8804850" y="3974501"/>
                  <a:ext cx="2883202" cy="8329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𝐯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𝒔𝒔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nary>
                          <m:naryPr>
                            <m:limLoc m:val="undOvr"/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1600" b="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𝐯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US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1A48286-80D8-484B-4454-81A981953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4850" y="3974501"/>
                  <a:ext cx="2883202" cy="83298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459FC5D-F6F8-00F0-211D-E53A0B4C7073}"/>
                    </a:ext>
                  </a:extLst>
                </p:cNvPr>
                <p:cNvSpPr txBox="1"/>
                <p:nvPr/>
              </p:nvSpPr>
              <p:spPr>
                <a:xfrm>
                  <a:off x="5185473" y="4143965"/>
                  <a:ext cx="2947409" cy="5363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𝐯</m:t>
                                </m:r>
                              </m:e>
                              <m:sub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𝐯</m:t>
                                </m:r>
                              </m:e>
                              <m:sub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459FC5D-F6F8-00F0-211D-E53A0B4C70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5473" y="4143965"/>
                  <a:ext cx="2947409" cy="5363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F323DC5-1811-E004-8F48-EEF1F5F6FDC3}"/>
                    </a:ext>
                  </a:extLst>
                </p:cNvPr>
                <p:cNvSpPr txBox="1"/>
                <p:nvPr/>
              </p:nvSpPr>
              <p:spPr>
                <a:xfrm>
                  <a:off x="6072838" y="2975867"/>
                  <a:ext cx="2033827" cy="5363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𝐯</m:t>
                                </m:r>
                              </m:e>
                              <m:sub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𝐯</m:t>
                                </m:r>
                              </m:e>
                              <m:sub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F323DC5-1811-E004-8F48-EEF1F5F6FD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2838" y="2975867"/>
                  <a:ext cx="2033827" cy="5363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210BAE9-12BD-7116-C550-E1362F065087}"/>
                </a:ext>
              </a:extLst>
            </p:cNvPr>
            <p:cNvSpPr/>
            <p:nvPr/>
          </p:nvSpPr>
          <p:spPr>
            <a:xfrm>
              <a:off x="5026829" y="2507858"/>
              <a:ext cx="6553484" cy="23732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0" name="oscillatory4">
            <a:hlinkClick r:id="" action="ppaction://media"/>
            <a:extLst>
              <a:ext uri="{FF2B5EF4-FFF2-40B4-BE49-F238E27FC236}">
                <a16:creationId xmlns:a16="http://schemas.microsoft.com/office/drawing/2014/main" id="{FAACDE34-7EC1-9F34-6057-63600E5EBEC8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10113077" y="2594153"/>
            <a:ext cx="1769004" cy="2286000"/>
          </a:xfrm>
          <a:prstGeom prst="rect">
            <a:avLst/>
          </a:prstGeom>
        </p:spPr>
      </p:pic>
      <p:pic>
        <p:nvPicPr>
          <p:cNvPr id="71" name="oscillatory3">
            <a:hlinkClick r:id="" action="ppaction://media"/>
            <a:extLst>
              <a:ext uri="{FF2B5EF4-FFF2-40B4-BE49-F238E27FC236}">
                <a16:creationId xmlns:a16="http://schemas.microsoft.com/office/drawing/2014/main" id="{73268EDA-67DF-F5AA-4DAF-8C12E3161CE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rcRect/>
          <a:stretch/>
        </p:blipFill>
        <p:spPr>
          <a:xfrm>
            <a:off x="7659649" y="2610914"/>
            <a:ext cx="1769004" cy="2286000"/>
          </a:xfrm>
          <a:prstGeom prst="rect">
            <a:avLst/>
          </a:prstGeom>
        </p:spPr>
      </p:pic>
      <p:pic>
        <p:nvPicPr>
          <p:cNvPr id="72" name="oscillatory2">
            <a:hlinkClick r:id="" action="ppaction://media"/>
            <a:extLst>
              <a:ext uri="{FF2B5EF4-FFF2-40B4-BE49-F238E27FC236}">
                <a16:creationId xmlns:a16="http://schemas.microsoft.com/office/drawing/2014/main" id="{93CBE41F-0F9F-7820-A614-3854BC2DB55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5095595" y="2595965"/>
            <a:ext cx="1767600" cy="2284188"/>
          </a:xfrm>
          <a:prstGeom prst="rect">
            <a:avLst/>
          </a:prstGeom>
        </p:spPr>
      </p:pic>
      <p:sp>
        <p:nvSpPr>
          <p:cNvPr id="73" name="Igual 11">
            <a:extLst>
              <a:ext uri="{FF2B5EF4-FFF2-40B4-BE49-F238E27FC236}">
                <a16:creationId xmlns:a16="http://schemas.microsoft.com/office/drawing/2014/main" id="{DB03C732-BDE0-5F49-29CF-7C3BBA6C6EA6}"/>
              </a:ext>
            </a:extLst>
          </p:cNvPr>
          <p:cNvSpPr/>
          <p:nvPr/>
        </p:nvSpPr>
        <p:spPr>
          <a:xfrm>
            <a:off x="6884515" y="3591698"/>
            <a:ext cx="575309" cy="360235"/>
          </a:xfrm>
          <a:prstGeom prst="mathEqual">
            <a:avLst>
              <a:gd name="adj1" fmla="val 13648"/>
              <a:gd name="adj2" fmla="val 286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4" name="Más 12">
            <a:extLst>
              <a:ext uri="{FF2B5EF4-FFF2-40B4-BE49-F238E27FC236}">
                <a16:creationId xmlns:a16="http://schemas.microsoft.com/office/drawing/2014/main" id="{A83646FD-9AAC-0AC8-E2EE-89CCD4664C8B}"/>
              </a:ext>
            </a:extLst>
          </p:cNvPr>
          <p:cNvSpPr/>
          <p:nvPr/>
        </p:nvSpPr>
        <p:spPr>
          <a:xfrm>
            <a:off x="9398863" y="3468100"/>
            <a:ext cx="541521" cy="607429"/>
          </a:xfrm>
          <a:prstGeom prst="mathPlus">
            <a:avLst>
              <a:gd name="adj1" fmla="val 103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uadroTexto 14">
                <a:extLst>
                  <a:ext uri="{FF2B5EF4-FFF2-40B4-BE49-F238E27FC236}">
                    <a16:creationId xmlns:a16="http://schemas.microsoft.com/office/drawing/2014/main" id="{114FEB6B-C29A-6F1A-955C-D26BD6CF559E}"/>
                  </a:ext>
                </a:extLst>
              </p:cNvPr>
              <p:cNvSpPr txBox="1"/>
              <p:nvPr/>
            </p:nvSpPr>
            <p:spPr>
              <a:xfrm>
                <a:off x="7386480" y="4688696"/>
                <a:ext cx="21321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prstClr val="black"/>
                    </a:solidFill>
                    <a:latin typeface="LM Roman 10" pitchFamily="2" charset="77"/>
                  </a:rPr>
                  <a:t>Oscillation time: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1400" dirty="0"/>
                  <a:t> 1 s</a:t>
                </a:r>
              </a:p>
            </p:txBody>
          </p:sp>
        </mc:Choice>
        <mc:Fallback xmlns="">
          <p:sp>
            <p:nvSpPr>
              <p:cNvPr id="75" name="CuadroTexto 14">
                <a:extLst>
                  <a:ext uri="{FF2B5EF4-FFF2-40B4-BE49-F238E27FC236}">
                    <a16:creationId xmlns:a16="http://schemas.microsoft.com/office/drawing/2014/main" id="{114FEB6B-C29A-6F1A-955C-D26BD6CF5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6480" y="4688696"/>
                <a:ext cx="2132152" cy="523220"/>
              </a:xfrm>
              <a:prstGeom prst="rect">
                <a:avLst/>
              </a:prstGeom>
              <a:blipFill>
                <a:blip r:embed="rId23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uadroTexto 17">
                <a:extLst>
                  <a:ext uri="{FF2B5EF4-FFF2-40B4-BE49-F238E27FC236}">
                    <a16:creationId xmlns:a16="http://schemas.microsoft.com/office/drawing/2014/main" id="{914A7502-5BB0-FAAA-F9C7-7C19720B8600}"/>
                  </a:ext>
                </a:extLst>
              </p:cNvPr>
              <p:cNvSpPr txBox="1"/>
              <p:nvPr/>
            </p:nvSpPr>
            <p:spPr>
              <a:xfrm>
                <a:off x="10009443" y="4624220"/>
                <a:ext cx="18866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LM Roman 10" pitchFamily="2" charset="77"/>
                  </a:rPr>
                  <a:t>Mean </a:t>
                </a:r>
                <a:r>
                  <a:rPr lang="en-US" sz="1400" dirty="0" err="1">
                    <a:latin typeface="LM Roman 10" pitchFamily="2" charset="77"/>
                  </a:rPr>
                  <a:t>Lagrangian</a:t>
                </a:r>
                <a:r>
                  <a:rPr lang="en-US" sz="1400" dirty="0">
                    <a:latin typeface="LM Roman 10" pitchFamily="2" charset="77"/>
                  </a:rPr>
                  <a:t> drift: </a:t>
                </a:r>
                <a:endParaRPr lang="es-ES" sz="1400" b="0" i="1" dirty="0">
                  <a:solidFill>
                    <a:prstClr val="black"/>
                  </a:solidFill>
                  <a:latin typeface="LM Roman 10" pitchFamily="2" charset="77"/>
                </a:endParaRP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sSup>
                      <m:sSupPr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400" dirty="0">
                    <a:latin typeface="LM Roman 10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1400" dirty="0"/>
                  <a:t> 30 min</a:t>
                </a:r>
                <a:endParaRPr lang="en-US" sz="1400" dirty="0">
                  <a:latin typeface="LM Roman 10" pitchFamily="2" charset="77"/>
                </a:endParaRPr>
              </a:p>
            </p:txBody>
          </p:sp>
        </mc:Choice>
        <mc:Fallback xmlns="">
          <p:sp>
            <p:nvSpPr>
              <p:cNvPr id="76" name="CuadroTexto 17">
                <a:extLst>
                  <a:ext uri="{FF2B5EF4-FFF2-40B4-BE49-F238E27FC236}">
                    <a16:creationId xmlns:a16="http://schemas.microsoft.com/office/drawing/2014/main" id="{914A7502-5BB0-FAAA-F9C7-7C19720B8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9443" y="4624220"/>
                <a:ext cx="1886607" cy="523220"/>
              </a:xfrm>
              <a:prstGeom prst="rect">
                <a:avLst/>
              </a:prstGeom>
              <a:blipFill>
                <a:blip r:embed="rId24"/>
                <a:stretch>
                  <a:fillRect l="-971" t="-2353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ángulo 110">
            <a:extLst>
              <a:ext uri="{FF2B5EF4-FFF2-40B4-BE49-F238E27FC236}">
                <a16:creationId xmlns:a16="http://schemas.microsoft.com/office/drawing/2014/main" id="{06456980-2C4A-5FC2-595F-8A84D4D14068}"/>
              </a:ext>
            </a:extLst>
          </p:cNvPr>
          <p:cNvSpPr/>
          <p:nvPr/>
        </p:nvSpPr>
        <p:spPr>
          <a:xfrm>
            <a:off x="5284224" y="5389958"/>
            <a:ext cx="2794678" cy="1097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3F56051-F108-0F3A-B846-86FA0D9234A6}"/>
              </a:ext>
            </a:extLst>
          </p:cNvPr>
          <p:cNvSpPr txBox="1"/>
          <p:nvPr/>
        </p:nvSpPr>
        <p:spPr>
          <a:xfrm>
            <a:off x="5383066" y="5530197"/>
            <a:ext cx="2596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M Roman 10" pitchFamily="2" charset="77"/>
                <a:ea typeface="Palatino" pitchFamily="2" charset="77"/>
              </a:rPr>
              <a:t>Mean </a:t>
            </a:r>
            <a:r>
              <a:rPr lang="en-US" dirty="0" err="1">
                <a:latin typeface="LM Roman 10" pitchFamily="2" charset="77"/>
                <a:ea typeface="Palatino" pitchFamily="2" charset="77"/>
              </a:rPr>
              <a:t>Lagrangian</a:t>
            </a:r>
            <a:r>
              <a:rPr lang="en-US" dirty="0">
                <a:latin typeface="LM Roman 10" pitchFamily="2" charset="77"/>
                <a:ea typeface="Palatino" pitchFamily="2" charset="77"/>
              </a:rPr>
              <a:t> Velocity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D136268-749A-F9B0-1833-764EE20E7BD2}"/>
                  </a:ext>
                </a:extLst>
              </p:cNvPr>
              <p:cNvSpPr txBox="1"/>
              <p:nvPr/>
            </p:nvSpPr>
            <p:spPr>
              <a:xfrm>
                <a:off x="5430752" y="5988550"/>
                <a:ext cx="20386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𝑺𝑺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  + 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𝑺𝑫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D136268-749A-F9B0-1833-764EE20E7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752" y="5988550"/>
                <a:ext cx="2038617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CuadroTexto 86">
            <a:extLst>
              <a:ext uri="{FF2B5EF4-FFF2-40B4-BE49-F238E27FC236}">
                <a16:creationId xmlns:a16="http://schemas.microsoft.com/office/drawing/2014/main" id="{048EA134-EAA5-AD3B-4E8C-FAF1D56745F6}"/>
              </a:ext>
            </a:extLst>
          </p:cNvPr>
          <p:cNvSpPr txBox="1"/>
          <p:nvPr/>
        </p:nvSpPr>
        <p:spPr>
          <a:xfrm>
            <a:off x="8255703" y="5209574"/>
            <a:ext cx="1669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Steady Streaming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73497F2-65C2-D00C-5A15-EC40C53DC8A6}"/>
                  </a:ext>
                </a:extLst>
              </p:cNvPr>
              <p:cNvSpPr txBox="1"/>
              <p:nvPr/>
            </p:nvSpPr>
            <p:spPr>
              <a:xfrm>
                <a:off x="9987449" y="5323385"/>
                <a:ext cx="13214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𝑺𝑺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73497F2-65C2-D00C-5A15-EC40C53DC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449" y="5323385"/>
                <a:ext cx="1321497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CuadroTexto 90">
            <a:extLst>
              <a:ext uri="{FF2B5EF4-FFF2-40B4-BE49-F238E27FC236}">
                <a16:creationId xmlns:a16="http://schemas.microsoft.com/office/drawing/2014/main" id="{8A527C81-D121-ACF4-8385-E4342EE03808}"/>
              </a:ext>
            </a:extLst>
          </p:cNvPr>
          <p:cNvSpPr txBox="1"/>
          <p:nvPr/>
        </p:nvSpPr>
        <p:spPr>
          <a:xfrm>
            <a:off x="8425472" y="5976015"/>
            <a:ext cx="11557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solidFill>
                  <a:schemeClr val="accent1"/>
                </a:solidFill>
              </a:rPr>
              <a:t>Lagrangian</a:t>
            </a:r>
            <a:endParaRPr lang="en-US" sz="1600" dirty="0">
              <a:solidFill>
                <a:schemeClr val="accent1"/>
              </a:solidFill>
            </a:endParaRP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Drift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088225C-BEAD-7DF2-86C1-ECC2EC073161}"/>
                  </a:ext>
                </a:extLst>
              </p:cNvPr>
              <p:cNvSpPr txBox="1"/>
              <p:nvPr/>
            </p:nvSpPr>
            <p:spPr>
              <a:xfrm>
                <a:off x="9236872" y="5839885"/>
                <a:ext cx="2433310" cy="985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𝑺𝑫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>
                                      <a:latin typeface="Cambria Math" panose="02040503050406030204" pitchFamily="18" charset="0"/>
                                    </a:rPr>
                                    <m:t>𝐯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𝛁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>
                                      <a:latin typeface="Cambria Math" panose="02040503050406030204" pitchFamily="18" charset="0"/>
                                    </a:rPr>
                                    <m:t>𝐯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088225C-BEAD-7DF2-86C1-ECC2EC073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872" y="5839885"/>
                <a:ext cx="2433310" cy="98591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ángulo 110">
            <a:extLst>
              <a:ext uri="{FF2B5EF4-FFF2-40B4-BE49-F238E27FC236}">
                <a16:creationId xmlns:a16="http://schemas.microsoft.com/office/drawing/2014/main" id="{E40F8A90-74C1-1808-4200-27265C003839}"/>
              </a:ext>
            </a:extLst>
          </p:cNvPr>
          <p:cNvSpPr/>
          <p:nvPr/>
        </p:nvSpPr>
        <p:spPr>
          <a:xfrm>
            <a:off x="10009443" y="2579817"/>
            <a:ext cx="1886607" cy="2551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11112B1-48C2-0033-C1AC-65BE0FEB96CB}"/>
              </a:ext>
            </a:extLst>
          </p:cNvPr>
          <p:cNvSpPr/>
          <p:nvPr/>
        </p:nvSpPr>
        <p:spPr>
          <a:xfrm>
            <a:off x="8612104" y="5225533"/>
            <a:ext cx="2794678" cy="58477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0DD2782-078E-A905-8E2B-920EAC528F14}"/>
              </a:ext>
            </a:extLst>
          </p:cNvPr>
          <p:cNvSpPr/>
          <p:nvPr/>
        </p:nvSpPr>
        <p:spPr>
          <a:xfrm>
            <a:off x="6126297" y="6036631"/>
            <a:ext cx="423797" cy="32631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629B0E7-6150-15D6-447A-2228DB0F9AEA}"/>
              </a:ext>
            </a:extLst>
          </p:cNvPr>
          <p:cNvSpPr/>
          <p:nvPr/>
        </p:nvSpPr>
        <p:spPr>
          <a:xfrm>
            <a:off x="8425472" y="5861325"/>
            <a:ext cx="3085639" cy="953816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553B198-CAC1-FE86-0C8D-500711E95571}"/>
              </a:ext>
            </a:extLst>
          </p:cNvPr>
          <p:cNvSpPr/>
          <p:nvPr/>
        </p:nvSpPr>
        <p:spPr>
          <a:xfrm>
            <a:off x="6896664" y="6031571"/>
            <a:ext cx="423797" cy="32631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1390591-E111-75E6-884F-EC7A94619C17}"/>
              </a:ext>
            </a:extLst>
          </p:cNvPr>
          <p:cNvGrpSpPr/>
          <p:nvPr/>
        </p:nvGrpSpPr>
        <p:grpSpPr>
          <a:xfrm>
            <a:off x="439492" y="1402915"/>
            <a:ext cx="4349126" cy="3987043"/>
            <a:chOff x="439492" y="1402915"/>
            <a:chExt cx="4349126" cy="3987043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4134C88-30F5-1196-059A-FE8B71AC4748}"/>
                </a:ext>
              </a:extLst>
            </p:cNvPr>
            <p:cNvGrpSpPr/>
            <p:nvPr/>
          </p:nvGrpSpPr>
          <p:grpSpPr>
            <a:xfrm>
              <a:off x="439492" y="1454083"/>
              <a:ext cx="4317744" cy="3426977"/>
              <a:chOff x="374259" y="1407860"/>
              <a:chExt cx="4364692" cy="34269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CuadroTexto 20">
                    <a:extLst>
                      <a:ext uri="{FF2B5EF4-FFF2-40B4-BE49-F238E27FC236}">
                        <a16:creationId xmlns:a16="http://schemas.microsoft.com/office/drawing/2014/main" id="{B4531350-6702-D659-C7C3-0B63BBEEB9F3}"/>
                      </a:ext>
                    </a:extLst>
                  </p:cNvPr>
                  <p:cNvSpPr txBox="1"/>
                  <p:nvPr/>
                </p:nvSpPr>
                <p:spPr>
                  <a:xfrm>
                    <a:off x="475327" y="4465505"/>
                    <a:ext cx="421727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s-ES" dirty="0">
                        <a:latin typeface="LM Roman 10"/>
                      </a:rPr>
                      <a:t>neglected</a:t>
                    </a:r>
                    <a14:m>
                      <m:oMath xmlns:m="http://schemas.openxmlformats.org/officeDocument/2006/math">
                        <m:r>
                          <a:rPr lang="es-E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i="0">
                            <a:latin typeface="Cambria Math" panose="02040503050406030204" pitchFamily="18" charset="0"/>
                          </a:rPr>
                          <m:t>O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a14:m>
                    <a:r>
                      <a:rPr lang="en-US" dirty="0">
                        <a:latin typeface="LM Roman 10"/>
                      </a:rPr>
                      <a:t> and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s-ES" i="0">
                            <a:latin typeface="Cambria Math" panose="02040503050406030204" pitchFamily="18" charset="0"/>
                          </a:rPr>
                          <m:t>O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Sup>
                              <m:sSub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oMath>
                    </a14:m>
                    <a:r>
                      <a:rPr lang="en-US" dirty="0">
                        <a:latin typeface="LM Roman 10"/>
                      </a:rPr>
                      <a:t> terms</a:t>
                    </a:r>
                  </a:p>
                </p:txBody>
              </p:sp>
            </mc:Choice>
            <mc:Fallback xmlns="">
              <p:sp>
                <p:nvSpPr>
                  <p:cNvPr id="40" name="CuadroTexto 20">
                    <a:extLst>
                      <a:ext uri="{FF2B5EF4-FFF2-40B4-BE49-F238E27FC236}">
                        <a16:creationId xmlns:a16="http://schemas.microsoft.com/office/drawing/2014/main" id="{B4531350-6702-D659-C7C3-0B63BBEEB9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327" y="4465505"/>
                    <a:ext cx="4217275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D160451-C51D-2039-A7A4-5DC59B0C8E4E}"/>
                      </a:ext>
                    </a:extLst>
                  </p:cNvPr>
                  <p:cNvSpPr txBox="1"/>
                  <p:nvPr/>
                </p:nvSpPr>
                <p:spPr>
                  <a:xfrm>
                    <a:off x="1122603" y="1946372"/>
                    <a:ext cx="2922723" cy="60337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𝐯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D160451-C51D-2039-A7A4-5DC59B0C8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2603" y="1946372"/>
                    <a:ext cx="2922723" cy="603370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70712E37-F3CA-7099-74D3-ED59B39B0EC8}"/>
                      </a:ext>
                    </a:extLst>
                  </p:cNvPr>
                  <p:cNvSpPr txBox="1"/>
                  <p:nvPr/>
                </p:nvSpPr>
                <p:spPr>
                  <a:xfrm>
                    <a:off x="1244301" y="2752210"/>
                    <a:ext cx="2622577" cy="57676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O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v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∇v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≫1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70712E37-F3CA-7099-74D3-ED59B39B0E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4301" y="2752210"/>
                    <a:ext cx="2622577" cy="576761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4304718-AA4D-4CF7-97B9-A8069AFD7DFB}"/>
                  </a:ext>
                </a:extLst>
              </p:cNvPr>
              <p:cNvSpPr txBox="1"/>
              <p:nvPr/>
            </p:nvSpPr>
            <p:spPr>
              <a:xfrm>
                <a:off x="1457717" y="1407860"/>
                <a:ext cx="2558495" cy="400110"/>
              </a:xfrm>
              <a:prstGeom prst="rect">
                <a:avLst/>
              </a:prstGeom>
              <a:noFill/>
              <a:ln w="285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0" dirty="0">
                    <a:latin typeface="LM Roman 10"/>
                  </a:rPr>
                  <a:t>Momentum balance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E30CE707-600D-C00C-2CC5-63E27AA7D4CB}"/>
                      </a:ext>
                    </a:extLst>
                  </p:cNvPr>
                  <p:cNvSpPr txBox="1"/>
                  <p:nvPr/>
                </p:nvSpPr>
                <p:spPr>
                  <a:xfrm>
                    <a:off x="374259" y="3494465"/>
                    <a:ext cx="4364692" cy="67704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O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v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Roboto" panose="02000000000000000000" pitchFamily="2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c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Roboto" panose="02000000000000000000" pitchFamily="2" charset="0"/>
                                        </a:rPr>
                                        <m:t>v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Roboto" panose="02000000000000000000" pitchFamily="2" charset="0"/>
                                        </a:rPr>
                                        <m:t>/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E30CE707-600D-C00C-2CC5-63E27AA7D4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4259" y="3494465"/>
                    <a:ext cx="4364692" cy="67704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A567C25-4EA9-6A80-1705-47CA569A78D1}"/>
                </a:ext>
              </a:extLst>
            </p:cNvPr>
            <p:cNvSpPr/>
            <p:nvPr/>
          </p:nvSpPr>
          <p:spPr>
            <a:xfrm>
              <a:off x="503948" y="1402915"/>
              <a:ext cx="4284670" cy="398704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CuadroTexto 19">
                  <a:extLst>
                    <a:ext uri="{FF2B5EF4-FFF2-40B4-BE49-F238E27FC236}">
                      <a16:creationId xmlns:a16="http://schemas.microsoft.com/office/drawing/2014/main" id="{9E016DC4-F866-5A8F-1804-8D36231D7F73}"/>
                    </a:ext>
                  </a:extLst>
                </p:cNvPr>
                <p:cNvSpPr txBox="1"/>
                <p:nvPr/>
              </p:nvSpPr>
              <p:spPr>
                <a:xfrm>
                  <a:off x="1878285" y="4995421"/>
                  <a:ext cx="1486108" cy="2881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≪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≪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9" name="CuadroTexto 19">
                  <a:extLst>
                    <a:ext uri="{FF2B5EF4-FFF2-40B4-BE49-F238E27FC236}">
                      <a16:creationId xmlns:a16="http://schemas.microsoft.com/office/drawing/2014/main" id="{9E016DC4-F866-5A8F-1804-8D36231D7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8285" y="4995421"/>
                  <a:ext cx="1486108" cy="288106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5C8EE51-89D8-222C-2434-5A5EEEABBD2F}"/>
              </a:ext>
            </a:extLst>
          </p:cNvPr>
          <p:cNvSpPr/>
          <p:nvPr/>
        </p:nvSpPr>
        <p:spPr>
          <a:xfrm>
            <a:off x="2658360" y="2798433"/>
            <a:ext cx="471339" cy="576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68DEC5-17DB-4198-99BC-47D555BE725E}"/>
              </a:ext>
            </a:extLst>
          </p:cNvPr>
          <p:cNvSpPr/>
          <p:nvPr/>
        </p:nvSpPr>
        <p:spPr>
          <a:xfrm>
            <a:off x="2013843" y="3623113"/>
            <a:ext cx="471339" cy="576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F3C09-C24D-4654-73FA-D0E41DB3F37E}"/>
              </a:ext>
            </a:extLst>
          </p:cNvPr>
          <p:cNvSpPr txBox="1"/>
          <p:nvPr/>
        </p:nvSpPr>
        <p:spPr>
          <a:xfrm>
            <a:off x="789754" y="6556848"/>
            <a:ext cx="6098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J. J. Lawrence, et al, J. Fluid Mech., 861 679-720 (2019)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2E40E9-5DA3-E7C1-AA5F-E65125699C01}"/>
              </a:ext>
            </a:extLst>
          </p:cNvPr>
          <p:cNvSpPr txBox="1"/>
          <p:nvPr/>
        </p:nvSpPr>
        <p:spPr>
          <a:xfrm>
            <a:off x="11511111" y="6528339"/>
            <a:ext cx="80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31/40</a:t>
            </a:r>
          </a:p>
        </p:txBody>
      </p:sp>
    </p:spTree>
    <p:extLst>
      <p:ext uri="{BB962C8B-B14F-4D97-AF65-F5344CB8AC3E}">
        <p14:creationId xmlns:p14="http://schemas.microsoft.com/office/powerpoint/2010/main" val="292033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67" repeatCount="indefinite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video>
              <p:cMediaNode vol="80000">
                <p:cTn id="68" repeatCount="indefinite" fill="hold" display="0">
                  <p:stCondLst>
                    <p:cond delay="indefinite"/>
                  </p:stCondLst>
                </p:cTn>
                <p:tgtEl>
                  <p:spTgt spid="71"/>
                </p:tgtEl>
              </p:cMediaNode>
            </p:video>
            <p:video>
              <p:cMediaNode vol="80000">
                <p:cTn id="69" repeatCount="indefinite" fill="hold" display="0">
                  <p:stCondLst>
                    <p:cond delay="indefinite"/>
                  </p:stCondLst>
                </p:cTn>
                <p:tgtEl>
                  <p:spTgt spid="70"/>
                </p:tgtEl>
              </p:cMediaNode>
            </p:video>
          </p:childTnLst>
        </p:cTn>
      </p:par>
    </p:tnLst>
    <p:bldLst>
      <p:bldP spid="73" grpId="0" animBg="1"/>
      <p:bldP spid="74" grpId="0" animBg="1"/>
      <p:bldP spid="75" grpId="0"/>
      <p:bldP spid="76" grpId="0"/>
      <p:bldP spid="77" grpId="0" animBg="1"/>
      <p:bldP spid="78" grpId="0"/>
      <p:bldP spid="79" grpId="0"/>
      <p:bldP spid="80" grpId="0"/>
      <p:bldP spid="81" grpId="0"/>
      <p:bldP spid="82" grpId="0"/>
      <p:bldP spid="83" grpId="0"/>
      <p:bldP spid="84" grpId="0" animBg="1"/>
      <p:bldP spid="85" grpId="0" animBg="1"/>
      <p:bldP spid="86" grpId="0" animBg="1"/>
      <p:bldP spid="87" grpId="0" animBg="1"/>
      <p:bldP spid="88" grpId="0" animBg="1"/>
      <p:bldP spid="4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4584F5-EA1C-E47E-B523-D622DC1D751F}"/>
              </a:ext>
            </a:extLst>
          </p:cNvPr>
          <p:cNvSpPr txBox="1"/>
          <p:nvPr/>
        </p:nvSpPr>
        <p:spPr>
          <a:xfrm>
            <a:off x="519124" y="287398"/>
            <a:ext cx="55768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LM Roman 10"/>
              </a:rPr>
              <a:t>Theoretical Predictions: Slow Drift</a:t>
            </a:r>
          </a:p>
        </p:txBody>
      </p:sp>
      <p:pic>
        <p:nvPicPr>
          <p:cNvPr id="4" name="Picture 3" descr="A close-up of a circle&#10;&#10;Description automatically generated">
            <a:extLst>
              <a:ext uri="{FF2B5EF4-FFF2-40B4-BE49-F238E27FC236}">
                <a16:creationId xmlns:a16="http://schemas.microsoft.com/office/drawing/2014/main" id="{85C7F6BD-B137-6B8C-6FE6-91B343157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590" r="33187"/>
          <a:stretch/>
        </p:blipFill>
        <p:spPr>
          <a:xfrm>
            <a:off x="8761179" y="24322"/>
            <a:ext cx="1945403" cy="6653733"/>
          </a:xfrm>
          <a:prstGeom prst="rect">
            <a:avLst/>
          </a:prstGeom>
        </p:spPr>
      </p:pic>
      <p:pic>
        <p:nvPicPr>
          <p:cNvPr id="7" name="Picture 6" descr="A diagram of a pipe&#10;&#10;Description automatically generated">
            <a:extLst>
              <a:ext uri="{FF2B5EF4-FFF2-40B4-BE49-F238E27FC236}">
                <a16:creationId xmlns:a16="http://schemas.microsoft.com/office/drawing/2014/main" id="{B5871699-3DBC-BBE4-C3F7-44A6968883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9" b="1364"/>
          <a:stretch/>
        </p:blipFill>
        <p:spPr>
          <a:xfrm>
            <a:off x="6261745" y="37168"/>
            <a:ext cx="2152921" cy="66408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51093A-C7C7-A8DB-7D9A-5E49DACA93BD}"/>
                  </a:ext>
                </a:extLst>
              </p:cNvPr>
              <p:cNvSpPr txBox="1"/>
              <p:nvPr/>
            </p:nvSpPr>
            <p:spPr>
              <a:xfrm>
                <a:off x="997626" y="3942700"/>
                <a:ext cx="4595203" cy="107721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latin typeface="LM Roman 10"/>
                  </a:rPr>
                  <a:t>Phantom has constant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 </m:t>
                    </m:r>
                  </m:oMath>
                </a14:m>
                <a:r>
                  <a:rPr lang="en-US" sz="3200" dirty="0">
                    <a:latin typeface="LM Roman 1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=18</m:t>
                    </m:r>
                  </m:oMath>
                </a14:m>
                <a:r>
                  <a:rPr lang="en-US" sz="3200" dirty="0">
                    <a:latin typeface="LM Roman 10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51093A-C7C7-A8DB-7D9A-5E49DACA9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26" y="3942700"/>
                <a:ext cx="4595203" cy="1077218"/>
              </a:xfrm>
              <a:prstGeom prst="rect">
                <a:avLst/>
              </a:prstGeom>
              <a:blipFill>
                <a:blip r:embed="rId5"/>
                <a:stretch>
                  <a:fillRect t="-5682" b="-1477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2898F2-CEC9-6D5D-3E30-53D625AED8DD}"/>
                  </a:ext>
                </a:extLst>
              </p:cNvPr>
              <p:cNvSpPr txBox="1"/>
              <p:nvPr/>
            </p:nvSpPr>
            <p:spPr>
              <a:xfrm>
                <a:off x="184982" y="1970673"/>
                <a:ext cx="6076763" cy="156966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>
                    <a:latin typeface="LM Roman 10"/>
                  </a:rPr>
                  <a:t>Predictions are dependent on the eccentricity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>
                    <a:latin typeface="LM Roman 10"/>
                  </a:rPr>
                  <a:t> and Womersley Number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n-US" sz="3200" b="0" dirty="0">
                  <a:latin typeface="LM Roman 1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2898F2-CEC9-6D5D-3E30-53D625AED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82" y="1970673"/>
                <a:ext cx="6076763" cy="1569660"/>
              </a:xfrm>
              <a:prstGeom prst="rect">
                <a:avLst/>
              </a:prstGeom>
              <a:blipFill>
                <a:blip r:embed="rId6"/>
                <a:stretch>
                  <a:fillRect t="-3788" r="-897" b="-10606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 descr="A red and black bar&#10;&#10;Description automatically generated with medium confidence">
            <a:extLst>
              <a:ext uri="{FF2B5EF4-FFF2-40B4-BE49-F238E27FC236}">
                <a16:creationId xmlns:a16="http://schemas.microsoft.com/office/drawing/2014/main" id="{48CEE228-FBDD-6DAC-7C1D-E35237E82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822" y="2480688"/>
            <a:ext cx="1284194" cy="41011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C8FDB1-4ECF-2095-4DD0-DFCB086D74AB}"/>
              </a:ext>
            </a:extLst>
          </p:cNvPr>
          <p:cNvSpPr txBox="1"/>
          <p:nvPr/>
        </p:nvSpPr>
        <p:spPr>
          <a:xfrm>
            <a:off x="7948455" y="6581826"/>
            <a:ext cx="2758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Javier Alaminos-Quesada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C2F70-91B3-A103-7346-9C780588B725}"/>
              </a:ext>
            </a:extLst>
          </p:cNvPr>
          <p:cNvSpPr txBox="1"/>
          <p:nvPr/>
        </p:nvSpPr>
        <p:spPr>
          <a:xfrm>
            <a:off x="11449318" y="6528339"/>
            <a:ext cx="86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32/40</a:t>
            </a:r>
          </a:p>
        </p:txBody>
      </p:sp>
    </p:spTree>
    <p:extLst>
      <p:ext uri="{BB962C8B-B14F-4D97-AF65-F5344CB8AC3E}">
        <p14:creationId xmlns:p14="http://schemas.microsoft.com/office/powerpoint/2010/main" val="425900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Diagram of a machine with different components&#10;&#10;Description automatically generated with medium confidence">
            <a:extLst>
              <a:ext uri="{FF2B5EF4-FFF2-40B4-BE49-F238E27FC236}">
                <a16:creationId xmlns:a16="http://schemas.microsoft.com/office/drawing/2014/main" id="{1BFC82B4-A2F3-AC4F-BA0A-331E24187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9" t="54079" r="-20432" b="-649"/>
          <a:stretch/>
        </p:blipFill>
        <p:spPr>
          <a:xfrm>
            <a:off x="665656" y="818444"/>
            <a:ext cx="10930963" cy="586705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A390B4-534F-3C89-CC76-47959CFF7718}"/>
              </a:ext>
            </a:extLst>
          </p:cNvPr>
          <p:cNvSpPr/>
          <p:nvPr/>
        </p:nvSpPr>
        <p:spPr>
          <a:xfrm>
            <a:off x="366964" y="645938"/>
            <a:ext cx="933769" cy="3348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082DF6-69CC-4AF2-80E1-365BEA4ABA70}"/>
              </a:ext>
            </a:extLst>
          </p:cNvPr>
          <p:cNvSpPr/>
          <p:nvPr/>
        </p:nvSpPr>
        <p:spPr>
          <a:xfrm>
            <a:off x="171938" y="5985997"/>
            <a:ext cx="693736" cy="3348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AAB03E9-CDA3-E4AA-6B60-C930C14CDCFE}"/>
              </a:ext>
            </a:extLst>
          </p:cNvPr>
          <p:cNvSpPr txBox="1">
            <a:spLocks/>
          </p:cNvSpPr>
          <p:nvPr/>
        </p:nvSpPr>
        <p:spPr>
          <a:xfrm>
            <a:off x="595381" y="-2747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LM Roman 10"/>
              </a:rPr>
              <a:t>Non-Invasive Measurements: Setup</a:t>
            </a:r>
          </a:p>
        </p:txBody>
      </p:sp>
      <p:pic>
        <p:nvPicPr>
          <p:cNvPr id="12" name="Picture 11" descr="A graph of a function&#10;&#10;Description automatically generated">
            <a:extLst>
              <a:ext uri="{FF2B5EF4-FFF2-40B4-BE49-F238E27FC236}">
                <a16:creationId xmlns:a16="http://schemas.microsoft.com/office/drawing/2014/main" id="{8D435658-C925-BDBC-2B8C-190ED37750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941" y="3712711"/>
            <a:ext cx="4193719" cy="31452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79268F5-3D97-BB80-6943-AB795D2EEA8A}"/>
              </a:ext>
            </a:extLst>
          </p:cNvPr>
          <p:cNvSpPr/>
          <p:nvPr/>
        </p:nvSpPr>
        <p:spPr>
          <a:xfrm>
            <a:off x="7127647" y="2842157"/>
            <a:ext cx="2095018" cy="462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3CD980-F37E-9E74-5203-480B7A17A1D8}"/>
              </a:ext>
            </a:extLst>
          </p:cNvPr>
          <p:cNvSpPr txBox="1"/>
          <p:nvPr/>
        </p:nvSpPr>
        <p:spPr>
          <a:xfrm>
            <a:off x="9482977" y="1312988"/>
            <a:ext cx="18721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LM Roman 10"/>
              </a:rPr>
              <a:t>Piston Pump </a:t>
            </a:r>
          </a:p>
          <a:p>
            <a:pPr algn="ctr"/>
            <a:r>
              <a:rPr lang="en-US" sz="2400" dirty="0">
                <a:latin typeface="LM Roman 10"/>
              </a:rPr>
              <a:t>(</a:t>
            </a:r>
            <a:r>
              <a:rPr lang="en-US" sz="2400" dirty="0" err="1">
                <a:latin typeface="LM Roman 10"/>
              </a:rPr>
              <a:t>Vivitro</a:t>
            </a:r>
            <a:r>
              <a:rPr lang="en-US" sz="2400" dirty="0">
                <a:latin typeface="LM Roman 10"/>
              </a:rPr>
              <a:t> Labs)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5BF4BA-54C7-739A-9AEF-5DBC0AAF66FA}"/>
              </a:ext>
            </a:extLst>
          </p:cNvPr>
          <p:cNvSpPr txBox="1"/>
          <p:nvPr/>
        </p:nvSpPr>
        <p:spPr>
          <a:xfrm>
            <a:off x="6947863" y="3107967"/>
            <a:ext cx="1646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u="sng" dirty="0">
                <a:latin typeface="LM Roman 10"/>
              </a:rPr>
              <a:t>Pump Input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89A66-C932-AE41-749F-0C5579AAA462}"/>
              </a:ext>
            </a:extLst>
          </p:cNvPr>
          <p:cNvSpPr txBox="1"/>
          <p:nvPr/>
        </p:nvSpPr>
        <p:spPr>
          <a:xfrm>
            <a:off x="3956588" y="5885500"/>
            <a:ext cx="1249060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MRI Room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D07C0-EECF-CB1E-0412-5A5AD963DDE6}"/>
              </a:ext>
            </a:extLst>
          </p:cNvPr>
          <p:cNvSpPr txBox="1"/>
          <p:nvPr/>
        </p:nvSpPr>
        <p:spPr>
          <a:xfrm>
            <a:off x="11355157" y="6528339"/>
            <a:ext cx="836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33/40</a:t>
            </a:r>
          </a:p>
        </p:txBody>
      </p:sp>
    </p:spTree>
    <p:extLst>
      <p:ext uri="{BB962C8B-B14F-4D97-AF65-F5344CB8AC3E}">
        <p14:creationId xmlns:p14="http://schemas.microsoft.com/office/powerpoint/2010/main" val="31250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53321-90E6-1D96-F354-79A419F3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219BF1B-30D4-A690-530D-D06D5D396EA2}"/>
              </a:ext>
            </a:extLst>
          </p:cNvPr>
          <p:cNvSpPr txBox="1">
            <a:spLocks/>
          </p:cNvSpPr>
          <p:nvPr/>
        </p:nvSpPr>
        <p:spPr>
          <a:xfrm>
            <a:off x="227774" y="0"/>
            <a:ext cx="6152883" cy="1357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LM Roman 10"/>
              </a:rPr>
              <a:t>Phase Contrast to capture slow drift ? </a:t>
            </a:r>
          </a:p>
        </p:txBody>
      </p:sp>
      <p:pic>
        <p:nvPicPr>
          <p:cNvPr id="22" name="U_sas_T8.mp4" descr="U_sas_T8.mp4">
            <a:extLst>
              <a:ext uri="{FF2B5EF4-FFF2-40B4-BE49-F238E27FC236}">
                <a16:creationId xmlns:a16="http://schemas.microsoft.com/office/drawing/2014/main" id="{FCFF08E7-303A-CC4B-7ECF-CEFCF22B2CA7}"/>
              </a:ext>
            </a:extLst>
          </p:cNvPr>
          <p:cNvPicPr>
            <a:picLocks/>
          </p:cNvPicPr>
          <p:nvPr>
            <a:videoFile r:link="rId1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rcRect l="8565" t="4306" r="11720"/>
          <a:stretch/>
        </p:blipFill>
        <p:spPr>
          <a:xfrm>
            <a:off x="203385" y="1282045"/>
            <a:ext cx="6008879" cy="5320405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8203172-7CDD-B618-7E3A-1475C511294C}"/>
              </a:ext>
            </a:extLst>
          </p:cNvPr>
          <p:cNvSpPr/>
          <p:nvPr/>
        </p:nvSpPr>
        <p:spPr>
          <a:xfrm>
            <a:off x="3343729" y="2871234"/>
            <a:ext cx="99843" cy="100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F6A6B0-8774-0ED4-6D00-E981B99C75EA}"/>
              </a:ext>
            </a:extLst>
          </p:cNvPr>
          <p:cNvSpPr/>
          <p:nvPr/>
        </p:nvSpPr>
        <p:spPr>
          <a:xfrm>
            <a:off x="3304779" y="4594339"/>
            <a:ext cx="99843" cy="100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799C40-A2B3-1307-C458-2E84C9527DFD}"/>
              </a:ext>
            </a:extLst>
          </p:cNvPr>
          <p:cNvCxnSpPr>
            <a:cxnSpLocks/>
          </p:cNvCxnSpPr>
          <p:nvPr/>
        </p:nvCxnSpPr>
        <p:spPr>
          <a:xfrm flipH="1" flipV="1">
            <a:off x="3555195" y="4686583"/>
            <a:ext cx="3458347" cy="27191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F1E1498-63D0-825E-4A0E-BE17A5AB08E9}"/>
              </a:ext>
            </a:extLst>
          </p:cNvPr>
          <p:cNvCxnSpPr>
            <a:cxnSpLocks/>
          </p:cNvCxnSpPr>
          <p:nvPr/>
        </p:nvCxnSpPr>
        <p:spPr>
          <a:xfrm flipH="1">
            <a:off x="3573098" y="2171417"/>
            <a:ext cx="3195347" cy="6998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E7B1507D-91C0-0E1E-87AF-C1A0A4834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225" y="0"/>
            <a:ext cx="4155281" cy="3890777"/>
          </a:xfrm>
          <a:prstGeom prst="rect">
            <a:avLst/>
          </a:prstGeom>
        </p:spPr>
      </p:pic>
      <p:pic>
        <p:nvPicPr>
          <p:cNvPr id="7" name="Picture 6" descr="A graph of a graph of average&#10;&#10;Description automatically generated">
            <a:extLst>
              <a:ext uri="{FF2B5EF4-FFF2-40B4-BE49-F238E27FC236}">
                <a16:creationId xmlns:a16="http://schemas.microsoft.com/office/drawing/2014/main" id="{0435CAA1-D85D-6DB8-2FC5-C100547137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223" y="3069536"/>
            <a:ext cx="3921550" cy="37414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3D5304-FD2B-9DFB-1A04-B6B3C1A2D38C}"/>
              </a:ext>
            </a:extLst>
          </p:cNvPr>
          <p:cNvSpPr txBox="1"/>
          <p:nvPr/>
        </p:nvSpPr>
        <p:spPr>
          <a:xfrm>
            <a:off x="11449318" y="6528339"/>
            <a:ext cx="86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34/40</a:t>
            </a:r>
          </a:p>
        </p:txBody>
      </p:sp>
    </p:spTree>
    <p:extLst>
      <p:ext uri="{BB962C8B-B14F-4D97-AF65-F5344CB8AC3E}">
        <p14:creationId xmlns:p14="http://schemas.microsoft.com/office/powerpoint/2010/main" val="163738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  <p:bldLst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B85676-C1DF-DA90-208B-BB08FF1C8178}"/>
              </a:ext>
            </a:extLst>
          </p:cNvPr>
          <p:cNvPicPr>
            <a:picLocks noChangeAspect="1"/>
          </p:cNvPicPr>
          <p:nvPr/>
        </p:nvPicPr>
        <p:blipFill>
          <a:blip/>
          <a:srcRect l="-1619" t="3596" r="54699" b="74647"/>
          <a:stretch>
            <a:fillRect/>
          </a:stretch>
        </p:blipFill>
        <p:spPr>
          <a:xfrm>
            <a:off x="-180199" y="604684"/>
            <a:ext cx="7710491" cy="28243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C3349F-80E1-934D-68F5-F6D1FB5F7E14}"/>
              </a:ext>
            </a:extLst>
          </p:cNvPr>
          <p:cNvPicPr>
            <a:picLocks noChangeAspect="1"/>
          </p:cNvPicPr>
          <p:nvPr/>
        </p:nvPicPr>
        <p:blipFill>
          <a:blip/>
          <a:srcRect l="48368" r="30501" b="-314"/>
          <a:stretch>
            <a:fillRect/>
          </a:stretch>
        </p:blipFill>
        <p:spPr>
          <a:xfrm>
            <a:off x="7468807" y="21464"/>
            <a:ext cx="182879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E85781-73A4-8025-A93F-A46EF6B47AA8}"/>
              </a:ext>
            </a:extLst>
          </p:cNvPr>
          <p:cNvSpPr/>
          <p:nvPr/>
        </p:nvSpPr>
        <p:spPr>
          <a:xfrm>
            <a:off x="103238" y="427703"/>
            <a:ext cx="1961535" cy="61353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1AD591-9B71-69C1-E566-E763061ADB3A}"/>
              </a:ext>
            </a:extLst>
          </p:cNvPr>
          <p:cNvPicPr>
            <a:picLocks noChangeAspect="1"/>
          </p:cNvPicPr>
          <p:nvPr/>
        </p:nvPicPr>
        <p:blipFill>
          <a:blip/>
          <a:srcRect l="85177"/>
          <a:stretch>
            <a:fillRect/>
          </a:stretch>
        </p:blipFill>
        <p:spPr>
          <a:xfrm>
            <a:off x="10654460" y="-21464"/>
            <a:ext cx="1282900" cy="68365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8C8BAA-477E-BC2E-377D-3FA81F642E37}"/>
              </a:ext>
            </a:extLst>
          </p:cNvPr>
          <p:cNvPicPr>
            <a:picLocks noChangeAspect="1"/>
          </p:cNvPicPr>
          <p:nvPr/>
        </p:nvPicPr>
        <p:blipFill>
          <a:blip/>
          <a:srcRect l="69499" r="14823" b="-314"/>
          <a:stretch>
            <a:fillRect/>
          </a:stretch>
        </p:blipFill>
        <p:spPr>
          <a:xfrm>
            <a:off x="9297606" y="0"/>
            <a:ext cx="1356854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32FF18E-3EA2-5012-026F-5D7866BB8894}"/>
              </a:ext>
            </a:extLst>
          </p:cNvPr>
          <p:cNvSpPr/>
          <p:nvPr/>
        </p:nvSpPr>
        <p:spPr>
          <a:xfrm>
            <a:off x="1976283" y="604684"/>
            <a:ext cx="176979" cy="59583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695310-BA1C-835E-0C3E-E30B2005E9CD}"/>
              </a:ext>
            </a:extLst>
          </p:cNvPr>
          <p:cNvPicPr>
            <a:picLocks noChangeAspect="1"/>
          </p:cNvPicPr>
          <p:nvPr/>
        </p:nvPicPr>
        <p:blipFill>
          <a:blip/>
          <a:srcRect l="-1619" t="25353" r="54699" b="50504"/>
          <a:stretch>
            <a:fillRect/>
          </a:stretch>
        </p:blipFill>
        <p:spPr>
          <a:xfrm>
            <a:off x="-180199" y="3429000"/>
            <a:ext cx="7710491" cy="31340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C5149F-9581-34F0-ED89-54DE8C84A226}"/>
              </a:ext>
            </a:extLst>
          </p:cNvPr>
          <p:cNvPicPr>
            <a:picLocks noChangeAspect="1"/>
          </p:cNvPicPr>
          <p:nvPr/>
        </p:nvPicPr>
        <p:blipFill>
          <a:blip/>
          <a:srcRect t="49843" r="55335" b="26593"/>
          <a:stretch>
            <a:fillRect/>
          </a:stretch>
        </p:blipFill>
        <p:spPr>
          <a:xfrm>
            <a:off x="0" y="3439732"/>
            <a:ext cx="7468807" cy="311256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04B21FC-E1FB-EFDD-35AB-C336E6D0798C}"/>
              </a:ext>
            </a:extLst>
          </p:cNvPr>
          <p:cNvSpPr/>
          <p:nvPr/>
        </p:nvSpPr>
        <p:spPr>
          <a:xfrm>
            <a:off x="2859939" y="626807"/>
            <a:ext cx="176979" cy="59583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9EE485-2282-D23B-6933-E59372A31315}"/>
              </a:ext>
            </a:extLst>
          </p:cNvPr>
          <p:cNvSpPr txBox="1"/>
          <p:nvPr/>
        </p:nvSpPr>
        <p:spPr>
          <a:xfrm>
            <a:off x="-2477729" y="-18140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C1ECDB-09E5-1E80-E1EF-08C2B5890E04}"/>
              </a:ext>
            </a:extLst>
          </p:cNvPr>
          <p:cNvSpPr txBox="1"/>
          <p:nvPr/>
        </p:nvSpPr>
        <p:spPr>
          <a:xfrm>
            <a:off x="11487955" y="6528339"/>
            <a:ext cx="827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35/40</a:t>
            </a:r>
          </a:p>
        </p:txBody>
      </p:sp>
    </p:spTree>
    <p:extLst>
      <p:ext uri="{BB962C8B-B14F-4D97-AF65-F5344CB8AC3E}">
        <p14:creationId xmlns:p14="http://schemas.microsoft.com/office/powerpoint/2010/main" val="107733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1" grpId="0" animBg="1"/>
      <p:bldP spid="11" grpId="1" animBg="1"/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C083F0-6E78-756E-4FC1-33E824B28315}"/>
              </a:ext>
            </a:extLst>
          </p:cNvPr>
          <p:cNvPicPr>
            <a:picLocks noChangeAspect="1"/>
          </p:cNvPicPr>
          <p:nvPr/>
        </p:nvPicPr>
        <p:blipFill>
          <a:blip/>
          <a:srcRect r="77998"/>
          <a:stretch>
            <a:fillRect/>
          </a:stretch>
        </p:blipFill>
        <p:spPr>
          <a:xfrm>
            <a:off x="194977" y="673100"/>
            <a:ext cx="1865643" cy="6184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CDEF09-E4E7-3E0B-5E2A-70816BC7E9FB}"/>
              </a:ext>
            </a:extLst>
          </p:cNvPr>
          <p:cNvPicPr>
            <a:picLocks noChangeAspect="1"/>
          </p:cNvPicPr>
          <p:nvPr/>
        </p:nvPicPr>
        <p:blipFill>
          <a:blip/>
          <a:srcRect l="22610" r="58556"/>
          <a:stretch>
            <a:fillRect/>
          </a:stretch>
        </p:blipFill>
        <p:spPr>
          <a:xfrm>
            <a:off x="2921710" y="673100"/>
            <a:ext cx="1596980" cy="6184900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E1814F1F-5244-39E2-6B3E-C70D8AA8276E}"/>
              </a:ext>
            </a:extLst>
          </p:cNvPr>
          <p:cNvSpPr/>
          <p:nvPr/>
        </p:nvSpPr>
        <p:spPr>
          <a:xfrm>
            <a:off x="2117678" y="3429000"/>
            <a:ext cx="746974" cy="336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19C60DDD-35DA-CF48-E5E0-2D06503D623B}"/>
              </a:ext>
            </a:extLst>
          </p:cNvPr>
          <p:cNvSpPr/>
          <p:nvPr/>
        </p:nvSpPr>
        <p:spPr>
          <a:xfrm>
            <a:off x="4632806" y="3429000"/>
            <a:ext cx="746974" cy="336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D6250655-461D-1394-6CA3-5343AA5CCAA0}"/>
              </a:ext>
            </a:extLst>
          </p:cNvPr>
          <p:cNvSpPr/>
          <p:nvPr/>
        </p:nvSpPr>
        <p:spPr>
          <a:xfrm>
            <a:off x="7485669" y="3369525"/>
            <a:ext cx="746974" cy="336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0C40ED1-8621-EDB7-DE57-F3839508CC90}"/>
              </a:ext>
            </a:extLst>
          </p:cNvPr>
          <p:cNvGrpSpPr/>
          <p:nvPr/>
        </p:nvGrpSpPr>
        <p:grpSpPr>
          <a:xfrm>
            <a:off x="5379780" y="566670"/>
            <a:ext cx="1896784" cy="6291330"/>
            <a:chOff x="5379780" y="566670"/>
            <a:chExt cx="1896784" cy="629133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0D3E25-4D76-24CB-B57F-B34EC18CA2FF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l="41553" r="36077"/>
            <a:stretch>
              <a:fillRect/>
            </a:stretch>
          </p:blipFill>
          <p:spPr>
            <a:xfrm>
              <a:off x="5379780" y="673100"/>
              <a:ext cx="1896784" cy="61849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4949C0-AE18-AC20-564C-261DF843EE95}"/>
                </a:ext>
              </a:extLst>
            </p:cNvPr>
            <p:cNvSpPr/>
            <p:nvPr/>
          </p:nvSpPr>
          <p:spPr>
            <a:xfrm>
              <a:off x="6915955" y="566670"/>
              <a:ext cx="360609" cy="3090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454E13-3B52-476D-DA9F-81571D0D5668}"/>
              </a:ext>
            </a:extLst>
          </p:cNvPr>
          <p:cNvGrpSpPr/>
          <p:nvPr/>
        </p:nvGrpSpPr>
        <p:grpSpPr>
          <a:xfrm>
            <a:off x="8441748" y="673100"/>
            <a:ext cx="3265148" cy="6184900"/>
            <a:chOff x="8441748" y="673100"/>
            <a:chExt cx="3265148" cy="61849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C5CA13A-F166-D6A4-C017-F68B3CC2A62A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l="59083" t="-80" r="2410" b="80"/>
            <a:stretch>
              <a:fillRect/>
            </a:stretch>
          </p:blipFill>
          <p:spPr>
            <a:xfrm>
              <a:off x="8441748" y="673100"/>
              <a:ext cx="3265148" cy="61849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B1A1CC-FEA8-7480-FDA8-9562E9129C01}"/>
                </a:ext>
              </a:extLst>
            </p:cNvPr>
            <p:cNvSpPr/>
            <p:nvPr/>
          </p:nvSpPr>
          <p:spPr>
            <a:xfrm>
              <a:off x="8441748" y="1131194"/>
              <a:ext cx="418917" cy="50537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3531A9-8141-BA55-2E33-D4192086B035}"/>
                </a:ext>
              </a:extLst>
            </p:cNvPr>
            <p:cNvSpPr/>
            <p:nvPr/>
          </p:nvSpPr>
          <p:spPr>
            <a:xfrm>
              <a:off x="8441748" y="1589288"/>
              <a:ext cx="303007" cy="50537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F25A8B3-7BB9-EFBE-6844-DF0875B67AC2}"/>
              </a:ext>
            </a:extLst>
          </p:cNvPr>
          <p:cNvSpPr txBox="1"/>
          <p:nvPr/>
        </p:nvSpPr>
        <p:spPr>
          <a:xfrm>
            <a:off x="4632806" y="128789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384C671-C668-5F4A-EA3A-2569A18150A4}"/>
              </a:ext>
            </a:extLst>
          </p:cNvPr>
          <p:cNvSpPr txBox="1">
            <a:spLocks/>
          </p:cNvSpPr>
          <p:nvPr/>
        </p:nvSpPr>
        <p:spPr>
          <a:xfrm>
            <a:off x="2707782" y="-342275"/>
            <a:ext cx="6152883" cy="1357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LM Roman 10"/>
              </a:rPr>
              <a:t>How Do We Get a Profile?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835F3-7149-557F-6C85-EDDA75808D87}"/>
              </a:ext>
            </a:extLst>
          </p:cNvPr>
          <p:cNvSpPr txBox="1"/>
          <p:nvPr/>
        </p:nvSpPr>
        <p:spPr>
          <a:xfrm>
            <a:off x="11372045" y="6528339"/>
            <a:ext cx="81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36/40</a:t>
            </a:r>
          </a:p>
        </p:txBody>
      </p:sp>
    </p:spTree>
    <p:extLst>
      <p:ext uri="{BB962C8B-B14F-4D97-AF65-F5344CB8AC3E}">
        <p14:creationId xmlns:p14="http://schemas.microsoft.com/office/powerpoint/2010/main" val="153280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1A0BD8-AAF9-CDA7-599F-3801432CF00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97031" y="175410"/>
            <a:ext cx="11619965" cy="650718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B2B2E51-A389-2BA7-6ED3-8228549526D0}"/>
              </a:ext>
            </a:extLst>
          </p:cNvPr>
          <p:cNvSpPr txBox="1">
            <a:spLocks/>
          </p:cNvSpPr>
          <p:nvPr/>
        </p:nvSpPr>
        <p:spPr>
          <a:xfrm>
            <a:off x="2707782" y="-342275"/>
            <a:ext cx="6152883" cy="1357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LM Roman 10"/>
              </a:rPr>
              <a:t>Qualitative Results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D33E32-2787-EA92-7114-04A376D61CB7}"/>
              </a:ext>
            </a:extLst>
          </p:cNvPr>
          <p:cNvCxnSpPr/>
          <p:nvPr/>
        </p:nvCxnSpPr>
        <p:spPr>
          <a:xfrm>
            <a:off x="1993900" y="2870200"/>
            <a:ext cx="18415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>
            <a:extLst>
              <a:ext uri="{FF2B5EF4-FFF2-40B4-BE49-F238E27FC236}">
                <a16:creationId xmlns:a16="http://schemas.microsoft.com/office/drawing/2014/main" id="{34084FBE-E6A0-FF0E-DF3C-DFB46F687CE4}"/>
              </a:ext>
            </a:extLst>
          </p:cNvPr>
          <p:cNvSpPr/>
          <p:nvPr/>
        </p:nvSpPr>
        <p:spPr>
          <a:xfrm>
            <a:off x="3969421" y="2774963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E71A0B0-0DCB-C764-8613-FF324C0BDB80}"/>
              </a:ext>
            </a:extLst>
          </p:cNvPr>
          <p:cNvSpPr/>
          <p:nvPr/>
        </p:nvSpPr>
        <p:spPr>
          <a:xfrm>
            <a:off x="3426496" y="2697122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1265836-5E4D-5528-1F40-D9C775D30876}"/>
              </a:ext>
            </a:extLst>
          </p:cNvPr>
          <p:cNvSpPr/>
          <p:nvPr/>
        </p:nvSpPr>
        <p:spPr>
          <a:xfrm>
            <a:off x="5363246" y="2652684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5E51D8A-D5BE-E4B3-317C-10C25D1B1130}"/>
              </a:ext>
            </a:extLst>
          </p:cNvPr>
          <p:cNvSpPr/>
          <p:nvPr/>
        </p:nvSpPr>
        <p:spPr>
          <a:xfrm>
            <a:off x="4820321" y="2578006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2AA50FA-E7DD-07B6-6297-2495EEDB9E1B}"/>
              </a:ext>
            </a:extLst>
          </p:cNvPr>
          <p:cNvSpPr/>
          <p:nvPr/>
        </p:nvSpPr>
        <p:spPr>
          <a:xfrm>
            <a:off x="6210864" y="2424940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F1643F07-2C73-A922-0851-46BDACAE3165}"/>
              </a:ext>
            </a:extLst>
          </p:cNvPr>
          <p:cNvSpPr/>
          <p:nvPr/>
        </p:nvSpPr>
        <p:spPr>
          <a:xfrm>
            <a:off x="6757071" y="2542547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DDE8611-F905-E365-6CAA-A469DE117FDD}"/>
              </a:ext>
            </a:extLst>
          </p:cNvPr>
          <p:cNvSpPr/>
          <p:nvPr/>
        </p:nvSpPr>
        <p:spPr>
          <a:xfrm>
            <a:off x="7610893" y="2366136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A819845B-4112-4A69-07A2-140A68CAB106}"/>
              </a:ext>
            </a:extLst>
          </p:cNvPr>
          <p:cNvSpPr/>
          <p:nvPr/>
        </p:nvSpPr>
        <p:spPr>
          <a:xfrm>
            <a:off x="8152156" y="2416313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B2872BA-F73B-C413-4BB1-204D9BDB9BCF}"/>
              </a:ext>
            </a:extLst>
          </p:cNvPr>
          <p:cNvSpPr/>
          <p:nvPr/>
        </p:nvSpPr>
        <p:spPr>
          <a:xfrm>
            <a:off x="9010922" y="2200962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6CE2E257-EA74-0FD1-7C99-707B033481A6}"/>
              </a:ext>
            </a:extLst>
          </p:cNvPr>
          <p:cNvSpPr/>
          <p:nvPr/>
        </p:nvSpPr>
        <p:spPr>
          <a:xfrm>
            <a:off x="9552185" y="2251139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B1A21EED-BBF8-5566-A30D-D1336C248BD1}"/>
              </a:ext>
            </a:extLst>
          </p:cNvPr>
          <p:cNvSpPr/>
          <p:nvPr/>
        </p:nvSpPr>
        <p:spPr>
          <a:xfrm>
            <a:off x="10405595" y="2091981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8EE291FA-EA0E-A7BD-0E07-4DC94D184E18}"/>
              </a:ext>
            </a:extLst>
          </p:cNvPr>
          <p:cNvSpPr/>
          <p:nvPr/>
        </p:nvSpPr>
        <p:spPr>
          <a:xfrm>
            <a:off x="10946858" y="2142158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C2B6885-5903-59AD-9C9B-2BE5FBBDDA34}"/>
              </a:ext>
            </a:extLst>
          </p:cNvPr>
          <p:cNvCxnSpPr/>
          <p:nvPr/>
        </p:nvCxnSpPr>
        <p:spPr>
          <a:xfrm>
            <a:off x="2523632" y="2876468"/>
            <a:ext cx="18415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62BEE0-13E8-787E-2EC2-6B64D8D2A1AC}"/>
              </a:ext>
            </a:extLst>
          </p:cNvPr>
          <p:cNvCxnSpPr/>
          <p:nvPr/>
        </p:nvCxnSpPr>
        <p:spPr>
          <a:xfrm>
            <a:off x="2303242" y="3150454"/>
            <a:ext cx="1646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>
            <a:extLst>
              <a:ext uri="{FF2B5EF4-FFF2-40B4-BE49-F238E27FC236}">
                <a16:creationId xmlns:a16="http://schemas.microsoft.com/office/drawing/2014/main" id="{70EA8378-603C-F0F9-5882-7DD5D9C96FF5}"/>
              </a:ext>
            </a:extLst>
          </p:cNvPr>
          <p:cNvSpPr/>
          <p:nvPr/>
        </p:nvSpPr>
        <p:spPr>
          <a:xfrm rot="10800000">
            <a:off x="3735013" y="3150454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3216B03D-2024-A6AF-ADC9-3540C818F0B3}"/>
              </a:ext>
            </a:extLst>
          </p:cNvPr>
          <p:cNvSpPr/>
          <p:nvPr/>
        </p:nvSpPr>
        <p:spPr>
          <a:xfrm rot="10800000">
            <a:off x="4266551" y="3072018"/>
            <a:ext cx="92077" cy="156871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03E45E5F-5833-4532-860C-47B76578A5CC}"/>
              </a:ext>
            </a:extLst>
          </p:cNvPr>
          <p:cNvSpPr/>
          <p:nvPr/>
        </p:nvSpPr>
        <p:spPr>
          <a:xfrm rot="10800000">
            <a:off x="5142210" y="3268062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423CA498-EF77-09CA-073B-85385A3BA430}"/>
              </a:ext>
            </a:extLst>
          </p:cNvPr>
          <p:cNvSpPr/>
          <p:nvPr/>
        </p:nvSpPr>
        <p:spPr>
          <a:xfrm rot="10800000">
            <a:off x="5673748" y="3189626"/>
            <a:ext cx="92077" cy="156871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D6DFF358-45D5-5170-133E-D861F396085B}"/>
              </a:ext>
            </a:extLst>
          </p:cNvPr>
          <p:cNvSpPr/>
          <p:nvPr/>
        </p:nvSpPr>
        <p:spPr>
          <a:xfrm rot="10800000">
            <a:off x="7939522" y="3449035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F9194C28-D960-8B72-8DB1-584D81696E60}"/>
              </a:ext>
            </a:extLst>
          </p:cNvPr>
          <p:cNvSpPr/>
          <p:nvPr/>
        </p:nvSpPr>
        <p:spPr>
          <a:xfrm rot="10800000">
            <a:off x="8471062" y="3346496"/>
            <a:ext cx="92074" cy="176009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B2FCB88-0030-AA98-ACEA-76A82B349F2A}"/>
              </a:ext>
            </a:extLst>
          </p:cNvPr>
          <p:cNvSpPr/>
          <p:nvPr/>
        </p:nvSpPr>
        <p:spPr>
          <a:xfrm rot="10800000">
            <a:off x="6535681" y="3441488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C84EAA2B-E35D-D2BB-3ACA-D1FC27B063BD}"/>
              </a:ext>
            </a:extLst>
          </p:cNvPr>
          <p:cNvSpPr/>
          <p:nvPr/>
        </p:nvSpPr>
        <p:spPr>
          <a:xfrm rot="10800000">
            <a:off x="7067221" y="3284617"/>
            <a:ext cx="92077" cy="156871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3026D948-3AA3-F443-A4DD-74C5B09A8A0A}"/>
              </a:ext>
            </a:extLst>
          </p:cNvPr>
          <p:cNvSpPr/>
          <p:nvPr/>
        </p:nvSpPr>
        <p:spPr>
          <a:xfrm rot="10800000">
            <a:off x="9320802" y="3531539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22C7FC6F-B2AE-1BBB-DA84-B80F53AEE6DC}"/>
              </a:ext>
            </a:extLst>
          </p:cNvPr>
          <p:cNvSpPr/>
          <p:nvPr/>
        </p:nvSpPr>
        <p:spPr>
          <a:xfrm rot="10800000">
            <a:off x="9852342" y="3429000"/>
            <a:ext cx="92074" cy="176009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8" name="Freeform 77">
            <a:extLst>
              <a:ext uri="{FF2B5EF4-FFF2-40B4-BE49-F238E27FC236}">
                <a16:creationId xmlns:a16="http://schemas.microsoft.com/office/drawing/2014/main" id="{DCFC7805-FE28-E31D-872B-BBCEAE250954}"/>
              </a:ext>
            </a:extLst>
          </p:cNvPr>
          <p:cNvSpPr/>
          <p:nvPr/>
        </p:nvSpPr>
        <p:spPr>
          <a:xfrm rot="10800000">
            <a:off x="10734443" y="3645572"/>
            <a:ext cx="92075" cy="117607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47A0F462-5BE9-BC5A-AA89-76A531C6E85B}"/>
              </a:ext>
            </a:extLst>
          </p:cNvPr>
          <p:cNvSpPr/>
          <p:nvPr/>
        </p:nvSpPr>
        <p:spPr>
          <a:xfrm rot="10800000">
            <a:off x="11265983" y="3543033"/>
            <a:ext cx="92074" cy="176009"/>
          </a:xfrm>
          <a:custGeom>
            <a:avLst/>
            <a:gdLst>
              <a:gd name="csX0" fmla="*/ 0 w 177800"/>
              <a:gd name="csY0" fmla="*/ 82716 h 101766"/>
              <a:gd name="csX1" fmla="*/ 95250 w 177800"/>
              <a:gd name="csY1" fmla="*/ 166 h 101766"/>
              <a:gd name="csX2" fmla="*/ 177800 w 177800"/>
              <a:gd name="csY2" fmla="*/ 101766 h 101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101766">
                <a:moveTo>
                  <a:pt x="0" y="82716"/>
                </a:moveTo>
                <a:cubicBezTo>
                  <a:pt x="32808" y="39853"/>
                  <a:pt x="65617" y="-3009"/>
                  <a:pt x="95250" y="166"/>
                </a:cubicBezTo>
                <a:cubicBezTo>
                  <a:pt x="124883" y="3341"/>
                  <a:pt x="157692" y="83774"/>
                  <a:pt x="177800" y="10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0195D3A-52FF-D524-DA63-9C40AAB74D7F}"/>
              </a:ext>
            </a:extLst>
          </p:cNvPr>
          <p:cNvCxnSpPr>
            <a:cxnSpLocks/>
          </p:cNvCxnSpPr>
          <p:nvPr/>
        </p:nvCxnSpPr>
        <p:spPr>
          <a:xfrm>
            <a:off x="2896351" y="3113668"/>
            <a:ext cx="10229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3009C60C-2D25-132F-35BF-2B6DC424EC8D}"/>
              </a:ext>
            </a:extLst>
          </p:cNvPr>
          <p:cNvSpPr/>
          <p:nvPr/>
        </p:nvSpPr>
        <p:spPr>
          <a:xfrm>
            <a:off x="1761067" y="3872089"/>
            <a:ext cx="10055929" cy="28105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7A1E4-3A50-441B-C8B5-436458D5F74A}"/>
              </a:ext>
            </a:extLst>
          </p:cNvPr>
          <p:cNvSpPr txBox="1"/>
          <p:nvPr/>
        </p:nvSpPr>
        <p:spPr>
          <a:xfrm>
            <a:off x="11358057" y="6528339"/>
            <a:ext cx="957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37/40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DDD3501-7355-D374-6BB7-B9D4A3726F62}"/>
              </a:ext>
            </a:extLst>
          </p:cNvPr>
          <p:cNvSpPr/>
          <p:nvPr/>
        </p:nvSpPr>
        <p:spPr>
          <a:xfrm>
            <a:off x="3333173" y="2608323"/>
            <a:ext cx="840055" cy="3379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iped Right Arrow 7">
            <a:extLst>
              <a:ext uri="{FF2B5EF4-FFF2-40B4-BE49-F238E27FC236}">
                <a16:creationId xmlns:a16="http://schemas.microsoft.com/office/drawing/2014/main" id="{2474CA7A-F882-3F6D-1639-869D509570F9}"/>
              </a:ext>
            </a:extLst>
          </p:cNvPr>
          <p:cNvSpPr/>
          <p:nvPr/>
        </p:nvSpPr>
        <p:spPr>
          <a:xfrm>
            <a:off x="2385559" y="6293224"/>
            <a:ext cx="8394921" cy="23511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7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29" grpId="0" animBg="1"/>
      <p:bldP spid="45" grpId="0" animBg="1"/>
      <p:bldP spid="46" grpId="0" animBg="1"/>
      <p:bldP spid="51" grpId="0" animBg="1"/>
      <p:bldP spid="52" grpId="0" animBg="1"/>
      <p:bldP spid="53" grpId="0" animBg="1"/>
      <p:bldP spid="54" grpId="0" animBg="1"/>
      <p:bldP spid="71" grpId="0" animBg="1"/>
      <p:bldP spid="72" grpId="0" animBg="1"/>
      <p:bldP spid="78" grpId="0" animBg="1"/>
      <p:bldP spid="79" grpId="0" animBg="1"/>
      <p:bldP spid="83" grpId="0" animBg="1"/>
      <p:bldP spid="6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5EA23-5044-D2CA-F037-813F3FB2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297238-A097-62A5-F54C-0349D6DC7CBF}"/>
              </a:ext>
            </a:extLst>
          </p:cNvPr>
          <p:cNvPicPr>
            <a:picLocks noChangeAspect="1"/>
          </p:cNvPicPr>
          <p:nvPr/>
        </p:nvPicPr>
        <p:blipFill>
          <a:blip/>
          <a:srcRect r="70287"/>
          <a:stretch>
            <a:fillRect/>
          </a:stretch>
        </p:blipFill>
        <p:spPr>
          <a:xfrm>
            <a:off x="0" y="927279"/>
            <a:ext cx="3583858" cy="476518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5A04817-0BDF-A529-52EA-42C2E202BB77}"/>
              </a:ext>
            </a:extLst>
          </p:cNvPr>
          <p:cNvSpPr txBox="1">
            <a:spLocks/>
          </p:cNvSpPr>
          <p:nvPr/>
        </p:nvSpPr>
        <p:spPr>
          <a:xfrm>
            <a:off x="2707782" y="-342275"/>
            <a:ext cx="6152883" cy="1357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LM Roman 10"/>
              </a:rPr>
              <a:t>Displacement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4FFF19-3AEA-C1E4-3855-564987C893EE}"/>
              </a:ext>
            </a:extLst>
          </p:cNvPr>
          <p:cNvPicPr>
            <a:picLocks noChangeAspect="1"/>
          </p:cNvPicPr>
          <p:nvPr/>
        </p:nvPicPr>
        <p:blipFill>
          <a:blip/>
          <a:srcRect l="29713" r="43875"/>
          <a:stretch>
            <a:fillRect/>
          </a:stretch>
        </p:blipFill>
        <p:spPr>
          <a:xfrm>
            <a:off x="3583858" y="927279"/>
            <a:ext cx="3185652" cy="4765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2E0ED0-B406-07F4-E6F0-413D7814849E}"/>
              </a:ext>
            </a:extLst>
          </p:cNvPr>
          <p:cNvPicPr>
            <a:picLocks noChangeAspect="1"/>
          </p:cNvPicPr>
          <p:nvPr/>
        </p:nvPicPr>
        <p:blipFill>
          <a:blip/>
          <a:srcRect l="56125" r="16486"/>
          <a:stretch>
            <a:fillRect/>
          </a:stretch>
        </p:blipFill>
        <p:spPr>
          <a:xfrm>
            <a:off x="6769510" y="927279"/>
            <a:ext cx="3303638" cy="47651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C1CE55-A961-F8A3-A1FD-3358AAC2498E}"/>
              </a:ext>
            </a:extLst>
          </p:cNvPr>
          <p:cNvPicPr>
            <a:picLocks noChangeAspect="1"/>
          </p:cNvPicPr>
          <p:nvPr/>
        </p:nvPicPr>
        <p:blipFill>
          <a:blip/>
          <a:srcRect l="83515"/>
          <a:stretch>
            <a:fillRect/>
          </a:stretch>
        </p:blipFill>
        <p:spPr>
          <a:xfrm>
            <a:off x="10073148" y="927279"/>
            <a:ext cx="1988442" cy="47651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6D778B-D0C6-3EFC-A71F-C1E95B2FA8C1}"/>
              </a:ext>
            </a:extLst>
          </p:cNvPr>
          <p:cNvSpPr txBox="1"/>
          <p:nvPr/>
        </p:nvSpPr>
        <p:spPr>
          <a:xfrm>
            <a:off x="11487955" y="6528339"/>
            <a:ext cx="827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38/40</a:t>
            </a:r>
          </a:p>
        </p:txBody>
      </p:sp>
    </p:spTree>
    <p:extLst>
      <p:ext uri="{BB962C8B-B14F-4D97-AF65-F5344CB8AC3E}">
        <p14:creationId xmlns:p14="http://schemas.microsoft.com/office/powerpoint/2010/main" val="369545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173F-9113-EEEF-8453-54A2F904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9FAB8-547A-751B-819B-FFA0DD502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55" y="1690688"/>
            <a:ext cx="320285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/>
              <a:t>Committee </a:t>
            </a:r>
          </a:p>
          <a:p>
            <a:pPr marL="457200" lvl="1" indent="0">
              <a:buNone/>
            </a:pPr>
            <a:r>
              <a:rPr lang="en-US" sz="2000" dirty="0"/>
              <a:t>Dr. Geno Pawlak, </a:t>
            </a:r>
          </a:p>
          <a:p>
            <a:pPr marL="457200" lvl="1" indent="0">
              <a:buNone/>
            </a:pPr>
            <a:r>
              <a:rPr lang="en-US" sz="2000" dirty="0"/>
              <a:t>Dr. Antonio Sanchez</a:t>
            </a:r>
          </a:p>
          <a:p>
            <a:pPr marL="457200" lvl="1" indent="0">
              <a:buNone/>
            </a:pPr>
            <a:r>
              <a:rPr lang="en-US" sz="2000" dirty="0"/>
              <a:t>Dr. Stephanie Lindsey</a:t>
            </a:r>
          </a:p>
          <a:p>
            <a:pPr marL="457200" lvl="1" indent="0">
              <a:buNone/>
            </a:pPr>
            <a:r>
              <a:rPr lang="en-US" sz="2000" dirty="0"/>
              <a:t> Dr. Mitsue Miyazaki</a:t>
            </a:r>
          </a:p>
          <a:p>
            <a:pPr marL="457200" lvl="1" indent="0">
              <a:buNone/>
            </a:pPr>
            <a:r>
              <a:rPr lang="en-US" sz="2000" dirty="0"/>
              <a:t>Dr. David </a:t>
            </a:r>
            <a:r>
              <a:rPr lang="en-US" sz="2000" dirty="0" err="1"/>
              <a:t>Saintillian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400" u="sng" dirty="0"/>
              <a:t>Family</a:t>
            </a:r>
          </a:p>
          <a:p>
            <a:pPr marL="457200" lvl="1" indent="0">
              <a:buNone/>
            </a:pPr>
            <a:r>
              <a:rPr lang="en-US" sz="2000" dirty="0"/>
              <a:t>Angel Flores</a:t>
            </a:r>
          </a:p>
          <a:p>
            <a:pPr marL="457200" lvl="1" indent="0">
              <a:buNone/>
            </a:pPr>
            <a:r>
              <a:rPr lang="en-US" sz="2000" dirty="0"/>
              <a:t>Esther Campos</a:t>
            </a:r>
          </a:p>
          <a:p>
            <a:pPr marL="457200" lvl="1" indent="0">
              <a:buNone/>
            </a:pPr>
            <a:r>
              <a:rPr lang="en-US" sz="2000" dirty="0"/>
              <a:t>Eva Campos</a:t>
            </a:r>
          </a:p>
          <a:p>
            <a:pPr marL="457200" lvl="1" indent="0">
              <a:buNone/>
            </a:pPr>
            <a:r>
              <a:rPr lang="en-US" sz="2000" dirty="0"/>
              <a:t>Mario Flores</a:t>
            </a:r>
          </a:p>
          <a:p>
            <a:pPr marL="457200" lvl="1" indent="0">
              <a:buNone/>
            </a:pPr>
            <a:r>
              <a:rPr lang="en-US" sz="2000" dirty="0"/>
              <a:t>Eli Alfaro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CB2F2F-231C-845F-38BE-1ABC90109D3D}"/>
              </a:ext>
            </a:extLst>
          </p:cNvPr>
          <p:cNvSpPr txBox="1">
            <a:spLocks/>
          </p:cNvSpPr>
          <p:nvPr/>
        </p:nvSpPr>
        <p:spPr>
          <a:xfrm>
            <a:off x="7324421" y="1692968"/>
            <a:ext cx="36723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/>
              <a:t>Facilities and Staff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MAE Machine Shop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MAE Design Studio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Thomas Chalfant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Steve </a:t>
            </a:r>
            <a:r>
              <a:rPr lang="en-US" sz="2000" dirty="0" err="1"/>
              <a:t>Mercask</a:t>
            </a:r>
            <a:endParaRPr lang="en-US" sz="2000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Akemi Alpaslan 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Chris Cassidy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FF7DF-A8E6-AD3A-6A82-2BB8418F985F}"/>
              </a:ext>
            </a:extLst>
          </p:cNvPr>
          <p:cNvSpPr txBox="1"/>
          <p:nvPr/>
        </p:nvSpPr>
        <p:spPr>
          <a:xfrm>
            <a:off x="3743943" y="1690688"/>
            <a:ext cx="367234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/>
              <a:t>Collaborators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Pawlak Lab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Sanchez Lab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Lindsey Lab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Wilfred Conen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Stephanie </a:t>
            </a:r>
            <a:r>
              <a:rPr lang="en-US" sz="2000" dirty="0" err="1"/>
              <a:t>Sincomb</a:t>
            </a:r>
            <a:endParaRPr lang="en-US" sz="2000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Javier Alaminos Quesada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Vadim Malis </a:t>
            </a:r>
            <a:br>
              <a:rPr lang="en-US" sz="2000" dirty="0"/>
            </a:br>
            <a:r>
              <a:rPr lang="en-US" sz="2000" dirty="0"/>
              <a:t>Candido Gutierrez Montes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Carlos Martinez Bazan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000" dirty="0"/>
              <a:t>Amy Shwartz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20DD7-873C-6867-EDD4-69218166176A}"/>
              </a:ext>
            </a:extLst>
          </p:cNvPr>
          <p:cNvSpPr txBox="1"/>
          <p:nvPr/>
        </p:nvSpPr>
        <p:spPr>
          <a:xfrm>
            <a:off x="11475076" y="6528339"/>
            <a:ext cx="84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39/40</a:t>
            </a:r>
          </a:p>
        </p:txBody>
      </p:sp>
    </p:spTree>
    <p:extLst>
      <p:ext uri="{BB962C8B-B14F-4D97-AF65-F5344CB8AC3E}">
        <p14:creationId xmlns:p14="http://schemas.microsoft.com/office/powerpoint/2010/main" val="29435211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CEDFC3B-10FE-EFA2-53A8-BC9F6678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7" y="1581183"/>
            <a:ext cx="10515600" cy="3245341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Book Antiqua" panose="02040602050305030304" pitchFamily="18" charset="0"/>
              </a:rPr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C73A8-06FD-A283-28A0-622452D14EB6}"/>
              </a:ext>
            </a:extLst>
          </p:cNvPr>
          <p:cNvSpPr txBox="1"/>
          <p:nvPr/>
        </p:nvSpPr>
        <p:spPr>
          <a:xfrm>
            <a:off x="11500834" y="6528339"/>
            <a:ext cx="814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40/40</a:t>
            </a:r>
          </a:p>
        </p:txBody>
      </p:sp>
    </p:spTree>
    <p:extLst>
      <p:ext uri="{BB962C8B-B14F-4D97-AF65-F5344CB8AC3E}">
        <p14:creationId xmlns:p14="http://schemas.microsoft.com/office/powerpoint/2010/main" val="2447881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48273</TotalTime>
  <Words>1778</Words>
  <Application>Microsoft Macintosh PowerPoint</Application>
  <PresentationFormat>Widescreen</PresentationFormat>
  <Paragraphs>434</Paragraphs>
  <Slides>42</Slides>
  <Notes>35</Notes>
  <HiddenSlides>0</HiddenSlides>
  <MMClips>12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8" baseType="lpstr">
      <vt:lpstr>Adobe Arabic</vt:lpstr>
      <vt:lpstr>Adobe Hebrew</vt:lpstr>
      <vt:lpstr>Aptos</vt:lpstr>
      <vt:lpstr>Aptos Display</vt:lpstr>
      <vt:lpstr>Arial</vt:lpstr>
      <vt:lpstr>Book Antiqua</vt:lpstr>
      <vt:lpstr>Calibri</vt:lpstr>
      <vt:lpstr>Cambria Math</vt:lpstr>
      <vt:lpstr>LM Roman 10</vt:lpstr>
      <vt:lpstr>Open Sans</vt:lpstr>
      <vt:lpstr>Palatino</vt:lpstr>
      <vt:lpstr>Roboto</vt:lpstr>
      <vt:lpstr>Symbol</vt:lpstr>
      <vt:lpstr>Times New Roman</vt:lpstr>
      <vt:lpstr>Wingdings</vt:lpstr>
      <vt:lpstr>Office Theme</vt:lpstr>
      <vt:lpstr>Theoretical Modeling and Experimental Validation of Physiologically Relevant Flows and Their Applications</vt:lpstr>
      <vt:lpstr>Outline</vt:lpstr>
      <vt:lpstr>PowerPoint Presentation</vt:lpstr>
      <vt:lpstr> Part 1: Engineering Physiologically Relevant Flow Environments for Pulmonary Arterial Endothelial Studies</vt:lpstr>
      <vt:lpstr>Background </vt:lpstr>
      <vt:lpstr>Why Do We Care About MPA and PAECs?</vt:lpstr>
      <vt:lpstr> Chapter 1: A Multi-Chamber Pulsating-Flow Device with Optimized Spatial Shear Stress and Pressure for Endothelial-Cell Testing</vt:lpstr>
      <vt:lpstr>Our Focus</vt:lpstr>
      <vt:lpstr>Theoretical Model</vt:lpstr>
      <vt:lpstr>PowerPoint Presentation</vt:lpstr>
      <vt:lpstr>PowerPoint Presentation</vt:lpstr>
      <vt:lpstr>PowerPoint Presentation</vt:lpstr>
      <vt:lpstr>PowerPoint Presentation</vt:lpstr>
      <vt:lpstr>MCS </vt:lpstr>
      <vt:lpstr>Experimental Setup for Particle Tracking Velocimetry (PTV)</vt:lpstr>
      <vt:lpstr>Flow with Tracer Particles</vt:lpstr>
      <vt:lpstr>Streamlines</vt:lpstr>
      <vt:lpstr>Pressure Measurements </vt:lpstr>
      <vt:lpstr>Chapter 2: Poiseuille Flow with a Stretching Bottom Wall</vt:lpstr>
      <vt:lpstr>Background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2: Cerebrospinal Fluid (CSF) Transport and Noninvasive Flow Quantification </vt:lpstr>
      <vt:lpstr>Introduction</vt:lpstr>
      <vt:lpstr>Chapter 3: Phantom Based Evaluation of Time-SLIP MRI for Measuring Spinal-Canal Lagrangian Drift </vt:lpstr>
      <vt:lpstr>   Intrathecal Drug Delivery </vt:lpstr>
      <vt:lpstr>Motion in the Spinal Canal</vt:lpstr>
      <vt:lpstr>PowerPoint Presentation</vt:lpstr>
      <vt:lpstr>Theoretical CSF Motion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Acknowledgements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Campos, Obed</dc:creator>
  <cp:lastModifiedBy>Campos, Obed</cp:lastModifiedBy>
  <cp:revision>9</cp:revision>
  <cp:lastPrinted>2026-06-06T17:34:26Z</cp:lastPrinted>
  <dcterms:created xsi:type="dcterms:W3CDTF">2026-05-06T18:10:42Z</dcterms:created>
  <dcterms:modified xsi:type="dcterms:W3CDTF">2026-06-10T00:36:37Z</dcterms:modified>
</cp:coreProperties>
</file>